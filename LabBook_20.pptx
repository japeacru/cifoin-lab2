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6"/>
  </p:notesMasterIdLst>
  <p:handoutMasterIdLst>
    <p:handoutMasterId r:id="rId27"/>
  </p:handoutMasterIdLst>
  <p:sldIdLst>
    <p:sldId id="256" r:id="rId2"/>
    <p:sldId id="289" r:id="rId3"/>
    <p:sldId id="295" r:id="rId4"/>
    <p:sldId id="304" r:id="rId5"/>
    <p:sldId id="305" r:id="rId6"/>
    <p:sldId id="306" r:id="rId7"/>
    <p:sldId id="302" r:id="rId8"/>
    <p:sldId id="303" r:id="rId9"/>
    <p:sldId id="307" r:id="rId10"/>
    <p:sldId id="308" r:id="rId11"/>
    <p:sldId id="291" r:id="rId12"/>
    <p:sldId id="296" r:id="rId13"/>
    <p:sldId id="293" r:id="rId14"/>
    <p:sldId id="309" r:id="rId15"/>
    <p:sldId id="310" r:id="rId16"/>
    <p:sldId id="294" r:id="rId17"/>
    <p:sldId id="299" r:id="rId18"/>
    <p:sldId id="300" r:id="rId19"/>
    <p:sldId id="301" r:id="rId20"/>
    <p:sldId id="290" r:id="rId21"/>
    <p:sldId id="297" r:id="rId22"/>
    <p:sldId id="292" r:id="rId23"/>
    <p:sldId id="298" r:id="rId24"/>
    <p:sldId id="288" r:id="rId2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49" d="100"/>
          <a:sy n="49" d="100"/>
        </p:scale>
        <p:origin x="1090" y="45"/>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30/04/2026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30/04/2026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B45BD-C169-38C7-AB6A-DB08951CB9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DBCB549-56A2-4EF8-2E44-1F150E68FE1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75C1BBE-EA93-BCAF-26E6-2C5E24CF640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C8216B-F176-A0CF-CA95-072CEAEF03F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987479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ADE44-D640-BE01-78A6-5C5D2165D2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DB2BF37-4B8D-F03B-3C15-436D47CBC4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B13EBB1-DAFB-CED2-A82D-4113A46E9DE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A6D332-6E5A-66AE-53B7-D5ABE7AC5662}"/>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3163255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44EC2-E276-813B-A2B8-50981116D78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00B0DAD-8ED9-C31E-DF46-016EA80A080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D32E1B8-3604-AC6E-AFB1-F7D04299C34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2FA8A3-0EAC-BBD9-8E6C-CEB3D97F67A7}"/>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31442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8A979-2B98-79DB-AB84-50A4E943F5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EA510CD-4C26-AEF1-F663-A7F4E94308E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C36655E-470F-191D-5C45-F0B1D8FAD52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2C671B2-73F3-853A-1A96-64A8F7E0895C}"/>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09312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166F1-205C-5D31-E621-5BA91B01F8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82C0A2-C30B-9DDE-68E2-A4E60094FBF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19BC008-BE2D-9069-F55B-C6845FE4376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051A2A4-5119-BA15-FDA7-8096099A2B36}"/>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8496093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764C4-4FD2-1A8B-448F-1FF8C2A21C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96BFCD0-B352-C32A-B44C-5B8F7E634E8A}"/>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A2BE434-3325-69BE-2A77-4B2A549E9E1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F6555B-C51E-6342-E42A-25FBFA6C0F3B}"/>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36288795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sv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pt-BR" spc="165" dirty="0" err="1">
                <a:latin typeface="Arial"/>
                <a:cs typeface="Arial"/>
              </a:rPr>
              <a:t>Student</a:t>
            </a:r>
            <a:r>
              <a:rPr lang="pt-BR" spc="165" dirty="0">
                <a:latin typeface="Arial"/>
                <a:cs typeface="Arial"/>
              </a:rPr>
              <a:t>: José Alberto Peña Cruz, Pablo de Manuel Vicente</a:t>
            </a:r>
          </a:p>
          <a:p>
            <a:pPr marL="12700">
              <a:lnSpc>
                <a:spcPct val="100000"/>
              </a:lnSpc>
              <a:spcBef>
                <a:spcPts val="100"/>
              </a:spcBef>
            </a:pPr>
            <a:r>
              <a:rPr lang="pt-BR" spc="165" dirty="0" err="1">
                <a:latin typeface="Arial"/>
                <a:cs typeface="Arial"/>
              </a:rPr>
              <a:t>Group</a:t>
            </a:r>
            <a:r>
              <a:rPr lang="pt-BR" spc="165" dirty="0">
                <a:latin typeface="Arial"/>
                <a:cs typeface="Arial"/>
              </a:rPr>
              <a:t>: B1 </a:t>
            </a:r>
            <a:endParaRPr lang="pt-BR"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583019" y="43434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Se propagan los 4 primeros modos</a:t>
            </a:r>
            <a:r>
              <a:rPr lang="es-ES" sz="1200" dirty="0">
                <a:latin typeface="Arial" panose="020B0604020202020204" pitchFamily="34" charset="0"/>
                <a:cs typeface="Arial" panose="020B0604020202020204" pitchFamily="34" charset="0"/>
              </a:rPr>
              <a:t>. S</a:t>
            </a:r>
            <a:r>
              <a:rPr lang="es-ES" sz="1200" noProof="0" dirty="0">
                <a:latin typeface="Arial" panose="020B0604020202020204" pitchFamily="34" charset="0"/>
                <a:cs typeface="Arial" panose="020B0604020202020204" pitchFamily="34" charset="0"/>
              </a:rPr>
              <a:t>e transmiten en parejas, es decir, los modos TE0 y TE1 van emparejados</a:t>
            </a:r>
            <a:r>
              <a:rPr lang="es-ES" sz="1200" dirty="0">
                <a:latin typeface="Arial" panose="020B0604020202020204" pitchFamily="34" charset="0"/>
                <a:cs typeface="Arial" panose="020B0604020202020204" pitchFamily="34" charset="0"/>
              </a:rPr>
              <a:t>.</a:t>
            </a:r>
            <a:r>
              <a:rPr lang="es-ES" sz="1200" noProof="0" dirty="0">
                <a:latin typeface="Arial" panose="020B0604020202020204" pitchFamily="34" charset="0"/>
                <a:cs typeface="Arial" panose="020B0604020202020204" pitchFamily="34" charset="0"/>
              </a:rPr>
              <a:t> </a:t>
            </a:r>
            <a:r>
              <a:rPr lang="es-ES" sz="1200" dirty="0">
                <a:latin typeface="Arial" panose="020B0604020202020204" pitchFamily="34" charset="0"/>
                <a:cs typeface="Arial" panose="020B0604020202020204" pitchFamily="34" charset="0"/>
              </a:rPr>
              <a:t>L</a:t>
            </a:r>
            <a:r>
              <a:rPr lang="es-ES" sz="1200" noProof="0" dirty="0">
                <a:latin typeface="Arial" panose="020B0604020202020204" pitchFamily="34" charset="0"/>
                <a:cs typeface="Arial" panose="020B0604020202020204" pitchFamily="34" charset="0"/>
              </a:rPr>
              <a:t>o mismo pasa con los modos TM. Estos modos se parecen mucho a los modos fundamentales de la guía cuando se simula por sí sola.</a:t>
            </a:r>
          </a:p>
          <a:p>
            <a:pPr algn="just"/>
            <a:r>
              <a:rPr lang="es-ES" sz="1200" noProof="0" dirty="0">
                <a:latin typeface="Arial" panose="020B0604020202020204" pitchFamily="34" charset="0"/>
                <a:cs typeface="Arial" panose="020B0604020202020204" pitchFamily="34" charset="0"/>
              </a:rPr>
              <a:t>Modos 1 y 2 son modos fundamentales TE con la particularidad de que el modo 2 es antisimétrico (tiene un lóbulo positivo y uno negativo). Este mismo resultado se repite para los modos T</a:t>
            </a:r>
            <a:r>
              <a:rPr lang="es-ES" sz="1200" dirty="0">
                <a:latin typeface="Arial" panose="020B0604020202020204" pitchFamily="34" charset="0"/>
                <a:cs typeface="Arial" panose="020B0604020202020204" pitchFamily="34" charset="0"/>
              </a:rPr>
              <a:t>M </a:t>
            </a:r>
            <a:r>
              <a:rPr lang="es-ES" sz="1200" noProof="0" dirty="0">
                <a:latin typeface="Arial" panose="020B0604020202020204" pitchFamily="34" charset="0"/>
                <a:cs typeface="Arial" panose="020B0604020202020204" pitchFamily="34" charset="0"/>
              </a:rPr>
              <a:t>correspondientes a los modos 3 y 4.</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6088-184A-D69C-F2D6-55F667381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030DBB6-691F-24B3-9B0D-29B2928ABE20}"/>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C31961FE-396D-EDEE-9728-0C54CEC17E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AF4B2D2-F6EA-1D67-6F6D-3E85A0661C74}"/>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E762673-F4BB-D95D-DA8E-8FA8801711E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57273D3-370B-5FB7-7A83-22FAC3F10BE9}"/>
              </a:ext>
            </a:extLst>
          </p:cNvPr>
          <p:cNvSpPr txBox="1"/>
          <p:nvPr/>
        </p:nvSpPr>
        <p:spPr>
          <a:xfrm>
            <a:off x="581722" y="3735510"/>
            <a:ext cx="11199971" cy="243143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generado la sección transversal del acoplador direccional con dos guías próximas. Al resolver los modos aparecen </a:t>
            </a:r>
            <a:r>
              <a:rPr lang="es-ES" sz="1600" dirty="0" err="1"/>
              <a:t>supermodos</a:t>
            </a:r>
            <a:r>
              <a:rPr lang="es-ES" sz="1600" dirty="0"/>
              <a:t> pares e impares debido al acoplamiento entre ambas guías.</a:t>
            </a:r>
          </a:p>
          <a:p>
            <a:pPr marL="171450" indent="-171450">
              <a:buFont typeface="Arial" panose="020B0604020202020204" pitchFamily="34" charset="0"/>
              <a:buChar char="•"/>
            </a:pPr>
            <a:r>
              <a:rPr lang="es-ES" sz="1600" dirty="0"/>
              <a:t>En las simulaciones se observa un modo TE simétrico y un modo TE antisimétrico. Sus índices efectivos son aprox. neff0 = 1.61794 y neff1 = 1.61018. </a:t>
            </a:r>
          </a:p>
          <a:p>
            <a:pPr marL="171450" indent="-171450">
              <a:buFont typeface="Arial" panose="020B0604020202020204" pitchFamily="34" charset="0"/>
              <a:buChar char="•"/>
            </a:pPr>
            <a:r>
              <a:rPr lang="es-ES" sz="1600" dirty="0"/>
              <a:t>También aparecen modos TM, con </a:t>
            </a:r>
            <a:r>
              <a:rPr lang="es-ES" sz="1600" dirty="0" err="1"/>
              <a:t>neff</a:t>
            </a:r>
            <a:r>
              <a:rPr lang="es-ES" sz="1600" dirty="0"/>
              <a:t> menores, por lo que están menos confinados.</a:t>
            </a:r>
          </a:p>
          <a:p>
            <a:pPr marL="171450" indent="-171450">
              <a:buFont typeface="Arial" panose="020B0604020202020204" pitchFamily="34" charset="0"/>
              <a:buChar char="•"/>
            </a:pPr>
            <a:r>
              <a:rPr lang="es-ES" sz="1600" dirty="0"/>
              <a:t>Esto muestra que el acoplador no se comporta igual para TE y para TM, y que el intercambio de potencia entre las guías está relacionado con la diferencia entre el modo simétrico y el antisimétrico.</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AEA63084-A04B-3C9C-C0EE-1AFC8AC82C51}"/>
              </a:ext>
            </a:extLst>
          </p:cNvPr>
          <p:cNvPicPr>
            <a:picLocks noChangeAspect="1"/>
          </p:cNvPicPr>
          <p:nvPr/>
        </p:nvPicPr>
        <p:blipFill>
          <a:blip r:embed="rId4"/>
          <a:stretch>
            <a:fillRect/>
          </a:stretch>
        </p:blipFill>
        <p:spPr>
          <a:xfrm>
            <a:off x="511790" y="950879"/>
            <a:ext cx="3398075" cy="2386013"/>
          </a:xfrm>
          <a:prstGeom prst="rect">
            <a:avLst/>
          </a:prstGeom>
        </p:spPr>
      </p:pic>
      <p:pic>
        <p:nvPicPr>
          <p:cNvPr id="8" name="Imagen 7">
            <a:extLst>
              <a:ext uri="{FF2B5EF4-FFF2-40B4-BE49-F238E27FC236}">
                <a16:creationId xmlns:a16="http://schemas.microsoft.com/office/drawing/2014/main" id="{88A04F20-47CE-3B49-19EA-D5AEA1893AB0}"/>
              </a:ext>
            </a:extLst>
          </p:cNvPr>
          <p:cNvPicPr>
            <a:picLocks noChangeAspect="1"/>
          </p:cNvPicPr>
          <p:nvPr/>
        </p:nvPicPr>
        <p:blipFill>
          <a:blip r:embed="rId5"/>
          <a:stretch>
            <a:fillRect/>
          </a:stretch>
        </p:blipFill>
        <p:spPr>
          <a:xfrm>
            <a:off x="4534131" y="961644"/>
            <a:ext cx="3490080" cy="2386013"/>
          </a:xfrm>
          <a:prstGeom prst="rect">
            <a:avLst/>
          </a:prstGeom>
        </p:spPr>
      </p:pic>
      <p:pic>
        <p:nvPicPr>
          <p:cNvPr id="10" name="Imagen 9">
            <a:extLst>
              <a:ext uri="{FF2B5EF4-FFF2-40B4-BE49-F238E27FC236}">
                <a16:creationId xmlns:a16="http://schemas.microsoft.com/office/drawing/2014/main" id="{D13B8ABA-0372-F21C-39DB-8D10A853E31E}"/>
              </a:ext>
            </a:extLst>
          </p:cNvPr>
          <p:cNvPicPr>
            <a:picLocks noChangeAspect="1"/>
          </p:cNvPicPr>
          <p:nvPr/>
        </p:nvPicPr>
        <p:blipFill>
          <a:blip r:embed="rId6"/>
          <a:stretch>
            <a:fillRect/>
          </a:stretch>
        </p:blipFill>
        <p:spPr>
          <a:xfrm>
            <a:off x="8190129" y="975519"/>
            <a:ext cx="3490081" cy="2336732"/>
          </a:xfrm>
          <a:prstGeom prst="rect">
            <a:avLst/>
          </a:prstGeom>
        </p:spPr>
      </p:pic>
    </p:spTree>
    <p:extLst>
      <p:ext uri="{BB962C8B-B14F-4D97-AF65-F5344CB8AC3E}">
        <p14:creationId xmlns:p14="http://schemas.microsoft.com/office/powerpoint/2010/main" val="4094986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103D0-36EE-579B-7DD6-27A817B418C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FC6B005-9231-2505-0C8C-54B3C325A5D4}"/>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863AB8-D0CD-6746-3D3D-C3EC9CA2285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AB618A-7625-434E-D6EA-37D7731F5455}"/>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67F1AFF-3BCD-511F-1A25-69FC83A83EA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7735BFB-5787-C44D-E82B-9533E5297595}"/>
              </a:ext>
            </a:extLst>
          </p:cNvPr>
          <p:cNvSpPr txBox="1"/>
          <p:nvPr/>
        </p:nvSpPr>
        <p:spPr>
          <a:xfrm>
            <a:off x="496014" y="4156023"/>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600" dirty="0"/>
              <a:t>Estas dos imágenes muestran los modos TM del acoplador, representados mediante el campo </a:t>
            </a:r>
            <a:r>
              <a:rPr lang="es-ES" sz="1600" dirty="0" err="1"/>
              <a:t>Ey</a:t>
            </a:r>
            <a:r>
              <a:rPr lang="es-ES" sz="1600" dirty="0"/>
              <a:t>. Igual que ocurría con los TE, aparecen dos </a:t>
            </a:r>
            <a:r>
              <a:rPr lang="es-ES" sz="1600" dirty="0" err="1"/>
              <a:t>supermodos</a:t>
            </a:r>
            <a:r>
              <a:rPr lang="es-ES" sz="1600" dirty="0"/>
              <a:t> (uno simétrico con los dos lóbulos en fase y otro antisimétrico con un lóbulo positivo y otro negativo).</a:t>
            </a:r>
          </a:p>
          <a:p>
            <a:pPr marL="285750" indent="-285750">
              <a:buFont typeface="Arial" panose="020B0604020202020204" pitchFamily="34" charset="0"/>
              <a:buChar char="•"/>
            </a:pPr>
            <a:r>
              <a:rPr lang="es-ES" sz="1600" dirty="0"/>
              <a:t>Como hemos comentado anteriormente, esto confirma que los modos del acoplador aparecen por parejas para cada polarización. En este caso los modos TM tienen menor </a:t>
            </a:r>
            <a:r>
              <a:rPr lang="es-ES" sz="1600" dirty="0" err="1"/>
              <a:t>neff</a:t>
            </a:r>
            <a:r>
              <a:rPr lang="es-ES" sz="1600" dirty="0"/>
              <a:t> que los TE por lo que están menos confinados.</a:t>
            </a:r>
          </a:p>
          <a:p>
            <a:pPr algn="just"/>
            <a:endParaRPr lang="en-US" sz="1200" dirty="0">
              <a:latin typeface="Arial" panose="020B0604020202020204" pitchFamily="34" charset="0"/>
              <a:cs typeface="Arial" panose="020B0604020202020204" pitchFamily="34" charset="0"/>
            </a:endParaRPr>
          </a:p>
        </p:txBody>
      </p:sp>
      <p:pic>
        <p:nvPicPr>
          <p:cNvPr id="9" name="Imagen 8">
            <a:extLst>
              <a:ext uri="{FF2B5EF4-FFF2-40B4-BE49-F238E27FC236}">
                <a16:creationId xmlns:a16="http://schemas.microsoft.com/office/drawing/2014/main" id="{A231F774-37B9-F39A-9156-C17077C712BE}"/>
              </a:ext>
            </a:extLst>
          </p:cNvPr>
          <p:cNvPicPr>
            <a:picLocks noChangeAspect="1"/>
          </p:cNvPicPr>
          <p:nvPr/>
        </p:nvPicPr>
        <p:blipFill>
          <a:blip r:embed="rId4"/>
          <a:stretch>
            <a:fillRect/>
          </a:stretch>
        </p:blipFill>
        <p:spPr>
          <a:xfrm>
            <a:off x="5638800" y="861992"/>
            <a:ext cx="4185640" cy="2816842"/>
          </a:xfrm>
          <a:prstGeom prst="rect">
            <a:avLst/>
          </a:prstGeom>
        </p:spPr>
      </p:pic>
      <p:pic>
        <p:nvPicPr>
          <p:cNvPr id="5" name="Imagen 4">
            <a:extLst>
              <a:ext uri="{FF2B5EF4-FFF2-40B4-BE49-F238E27FC236}">
                <a16:creationId xmlns:a16="http://schemas.microsoft.com/office/drawing/2014/main" id="{87AE7CAA-03D7-5285-83A2-651439BEA187}"/>
              </a:ext>
            </a:extLst>
          </p:cNvPr>
          <p:cNvPicPr>
            <a:picLocks noChangeAspect="1"/>
          </p:cNvPicPr>
          <p:nvPr/>
        </p:nvPicPr>
        <p:blipFill>
          <a:blip r:embed="rId5"/>
          <a:stretch>
            <a:fillRect/>
          </a:stretch>
        </p:blipFill>
        <p:spPr>
          <a:xfrm>
            <a:off x="685800" y="824540"/>
            <a:ext cx="4185639" cy="2797618"/>
          </a:xfrm>
          <a:prstGeom prst="rect">
            <a:avLst/>
          </a:prstGeom>
        </p:spPr>
      </p:pic>
    </p:spTree>
    <p:extLst>
      <p:ext uri="{BB962C8B-B14F-4D97-AF65-F5344CB8AC3E}">
        <p14:creationId xmlns:p14="http://schemas.microsoft.com/office/powerpoint/2010/main" val="3901286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7848600" y="1410377"/>
            <a:ext cx="4197905" cy="46166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En la gráfica se representa el coeficiente de acoplo K en función de la longitud normalizada L/</a:t>
            </a:r>
            <a:r>
              <a:rPr lang="es-ES" sz="1400" dirty="0" err="1"/>
              <a:t>Lpi</a:t>
            </a:r>
            <a:r>
              <a:rPr lang="es-ES" sz="1400" dirty="0"/>
              <a:t>. Se observa que al aumentar la longitud del acoplador la potencia se va transfiriendo progresivamente de una guía a la otra.</a:t>
            </a:r>
          </a:p>
          <a:p>
            <a:pPr marL="285750" indent="-285750">
              <a:buFont typeface="Arial" panose="020B0604020202020204" pitchFamily="34" charset="0"/>
              <a:buChar char="•"/>
            </a:pPr>
            <a:r>
              <a:rPr lang="es-ES" sz="1400" dirty="0"/>
              <a:t>Para L = </a:t>
            </a:r>
            <a:r>
              <a:rPr lang="es-ES" sz="1400" dirty="0" err="1"/>
              <a:t>Lpi</a:t>
            </a:r>
            <a:r>
              <a:rPr lang="es-ES" sz="1400" dirty="0"/>
              <a:t>/2 = 49.94 </a:t>
            </a:r>
            <a:r>
              <a:rPr lang="es-ES" sz="1400" dirty="0" err="1"/>
              <a:t>um</a:t>
            </a:r>
            <a:r>
              <a:rPr lang="es-ES" sz="1400" dirty="0"/>
              <a:t> se obtiene K = 0.5, por lo que el dispositivo funciona como un </a:t>
            </a:r>
            <a:r>
              <a:rPr lang="es-ES" sz="1400" dirty="0" err="1"/>
              <a:t>splitter</a:t>
            </a:r>
            <a:r>
              <a:rPr lang="es-ES" sz="1400" dirty="0"/>
              <a:t> 50/50 en el que la mitad de la potencia queda en una guía y la otra mitad se acopla a la segunda.</a:t>
            </a:r>
          </a:p>
          <a:p>
            <a:pPr marL="285750" indent="-285750">
              <a:buFont typeface="Arial" panose="020B0604020202020204" pitchFamily="34" charset="0"/>
              <a:buChar char="•"/>
            </a:pPr>
            <a:r>
              <a:rPr lang="es-ES" sz="1400" dirty="0"/>
              <a:t>Para aprox. L = </a:t>
            </a:r>
            <a:r>
              <a:rPr lang="es-ES" sz="1400" dirty="0" err="1"/>
              <a:t>Lpi</a:t>
            </a:r>
            <a:r>
              <a:rPr lang="es-ES" sz="1400" dirty="0"/>
              <a:t> = 99.89 </a:t>
            </a:r>
            <a:r>
              <a:rPr lang="es-ES" sz="1400" dirty="0" err="1"/>
              <a:t>um</a:t>
            </a:r>
            <a:r>
              <a:rPr lang="es-ES" sz="1400" dirty="0"/>
              <a:t> se alcanza K = 1 (el valor de la transferencia completa de potencia entre guías). </a:t>
            </a:r>
          </a:p>
          <a:p>
            <a:pPr marL="285750" indent="-285750">
              <a:buFont typeface="Arial" panose="020B0604020202020204" pitchFamily="34" charset="0"/>
              <a:buChar char="•"/>
            </a:pPr>
            <a:r>
              <a:rPr lang="es-ES" sz="1400" dirty="0"/>
              <a:t>Después, el comportamiento vuelve a repetirse de </a:t>
            </a:r>
            <a:r>
              <a:rPr lang="es-ES" sz="1400" b="1" dirty="0"/>
              <a:t>forma periódica</a:t>
            </a:r>
          </a:p>
          <a:p>
            <a:pPr marL="742950" lvl="1" indent="-285750">
              <a:buFont typeface="Arial" panose="020B0604020202020204" pitchFamily="34" charset="0"/>
              <a:buChar char="•"/>
            </a:pPr>
            <a:r>
              <a:rPr lang="es-ES" sz="1400" dirty="0"/>
              <a:t>para L = 2Lpi el acoplo vuelve a ser K = 0.</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2"/>
            <a:ext cx="6858159" cy="47538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1765203" y="3333620"/>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5" name="Imagen 4">
            <a:extLst>
              <a:ext uri="{FF2B5EF4-FFF2-40B4-BE49-F238E27FC236}">
                <a16:creationId xmlns:a16="http://schemas.microsoft.com/office/drawing/2014/main" id="{9F252145-E5DD-E884-16CE-6B1C99193CA3}"/>
              </a:ext>
            </a:extLst>
          </p:cNvPr>
          <p:cNvPicPr>
            <a:picLocks noChangeAspect="1"/>
          </p:cNvPicPr>
          <p:nvPr/>
        </p:nvPicPr>
        <p:blipFill>
          <a:blip r:embed="rId4"/>
          <a:stretch>
            <a:fillRect/>
          </a:stretch>
        </p:blipFill>
        <p:spPr>
          <a:xfrm>
            <a:off x="801987" y="2214943"/>
            <a:ext cx="6473066" cy="3861587"/>
          </a:xfrm>
          <a:prstGeom prst="rect">
            <a:avLst/>
          </a:prstGeom>
        </p:spPr>
      </p:pic>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9440" y="1534144"/>
            <a:ext cx="2590800" cy="75326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0810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Caso base con gap = 0.6 </a:t>
            </a:r>
            <a:r>
              <a:rPr lang="es-ES" sz="1600" dirty="0" err="1"/>
              <a:t>um</a:t>
            </a:r>
            <a:r>
              <a:rPr lang="es-ES" sz="1600" dirty="0"/>
              <a:t>.</a:t>
            </a:r>
          </a:p>
          <a:p>
            <a:pPr marL="285750" indent="-285750">
              <a:buFont typeface="Arial" panose="020B0604020202020204" pitchFamily="34" charset="0"/>
              <a:buChar char="•"/>
            </a:pPr>
            <a:r>
              <a:rPr lang="es-ES" sz="1600" dirty="0"/>
              <a:t>La longitud usada es L = </a:t>
            </a:r>
            <a:r>
              <a:rPr lang="es-ES" sz="1600" dirty="0" err="1"/>
              <a:t>Lpi</a:t>
            </a:r>
            <a:r>
              <a:rPr lang="es-ES" sz="1600" dirty="0"/>
              <a:t>/2 = 47.01 </a:t>
            </a:r>
            <a:r>
              <a:rPr lang="es-ES" sz="1600" dirty="0" err="1"/>
              <a:t>um</a:t>
            </a:r>
            <a:r>
              <a:rPr lang="es-ES" sz="1600" dirty="0"/>
              <a:t>, por lo que el acoplador funciona como divisor 50:50. Las dos salidas tienen la misma potencia: 0.4791 y 0.4791, con ratio 0.50 / 0.50.</a:t>
            </a:r>
          </a:p>
          <a:p>
            <a:pPr marL="285750" indent="-285750">
              <a:buFont typeface="Arial" panose="020B0604020202020204" pitchFamily="34" charset="0"/>
              <a:buChar char="•"/>
            </a:pPr>
            <a:r>
              <a:rPr lang="es-ES" sz="1600" dirty="0"/>
              <a:t>Las pérdidas son bajas</a:t>
            </a:r>
          </a:p>
          <a:p>
            <a:pPr marL="742950" lvl="1" indent="-285750">
              <a:buFont typeface="Arial" panose="020B0604020202020204" pitchFamily="34" charset="0"/>
              <a:buChar char="•"/>
            </a:pPr>
            <a:r>
              <a:rPr lang="es-ES" sz="1600" dirty="0" err="1"/>
              <a:t>excess</a:t>
            </a:r>
            <a:r>
              <a:rPr lang="es-ES" sz="1600" dirty="0"/>
              <a:t> </a:t>
            </a:r>
            <a:r>
              <a:rPr lang="es-ES" sz="1600" dirty="0" err="1"/>
              <a:t>loss</a:t>
            </a:r>
            <a:r>
              <a:rPr lang="es-ES" sz="1600" dirty="0"/>
              <a:t> = 0.1851 dB.</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13" name="Imagen 12">
            <a:extLst>
              <a:ext uri="{FF2B5EF4-FFF2-40B4-BE49-F238E27FC236}">
                <a16:creationId xmlns:a16="http://schemas.microsoft.com/office/drawing/2014/main" id="{A5DC6BF6-C64E-ED1D-2B08-B3C5EAACD1A7}"/>
              </a:ext>
            </a:extLst>
          </p:cNvPr>
          <p:cNvPicPr>
            <a:picLocks noChangeAspect="1"/>
          </p:cNvPicPr>
          <p:nvPr/>
        </p:nvPicPr>
        <p:blipFill>
          <a:blip r:embed="rId4"/>
          <a:stretch>
            <a:fillRect/>
          </a:stretch>
        </p:blipFill>
        <p:spPr>
          <a:xfrm>
            <a:off x="3890185" y="2208262"/>
            <a:ext cx="7790025" cy="1981200"/>
          </a:xfrm>
          <a:prstGeom prst="rect">
            <a:avLst/>
          </a:prstGeom>
        </p:spPr>
      </p:pic>
      <p:pic>
        <p:nvPicPr>
          <p:cNvPr id="15" name="Imagen 14">
            <a:extLst>
              <a:ext uri="{FF2B5EF4-FFF2-40B4-BE49-F238E27FC236}">
                <a16:creationId xmlns:a16="http://schemas.microsoft.com/office/drawing/2014/main" id="{8CE37971-E358-F611-14FA-6F5B3F681D6E}"/>
              </a:ext>
            </a:extLst>
          </p:cNvPr>
          <p:cNvPicPr>
            <a:picLocks noChangeAspect="1"/>
          </p:cNvPicPr>
          <p:nvPr/>
        </p:nvPicPr>
        <p:blipFill>
          <a:blip r:embed="rId5"/>
          <a:stretch>
            <a:fillRect/>
          </a:stretch>
        </p:blipFill>
        <p:spPr>
          <a:xfrm>
            <a:off x="805320" y="2008568"/>
            <a:ext cx="3106636" cy="2088067"/>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830CE-244A-029A-5F36-BEBDBEF71F6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F2939A2-FBC7-ED0D-6BB3-2AD3D589A63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4C7EAB7-3A9B-9AAF-4381-C002DB6583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74C28DF-D270-C288-3911-73835156DDD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2E7494C-069A-0100-301D-5B5649DD1ED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FFAB62F-6579-B11F-7633-A2BB12815ED2}"/>
              </a:ext>
            </a:extLst>
          </p:cNvPr>
          <p:cNvSpPr txBox="1"/>
          <p:nvPr/>
        </p:nvSpPr>
        <p:spPr>
          <a:xfrm>
            <a:off x="637496" y="5026481"/>
            <a:ext cx="11199971" cy="126188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En el barrido se observa que al aumentar el gap entre las guías el acoplamiento se hace más débil. Por eso la longitud necesaria para obtener el reparto 50/50 aumenta mucho.</a:t>
            </a:r>
          </a:p>
          <a:p>
            <a:pPr marL="285750" indent="-285750">
              <a:buFont typeface="Arial" panose="020B0604020202020204" pitchFamily="34" charset="0"/>
              <a:buChar char="•"/>
            </a:pPr>
            <a:r>
              <a:rPr lang="es-ES" sz="1600" dirty="0"/>
              <a:t>Con gap pequeño, la transferencia de potencia ocurre en poca distancia. En cambio, con gap grande, las guías interaccionan menos y se necesita una longitud de acoplador mucho mayor para conseguir el mismo reparto de potencia.</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07C40AA6-C7E0-F418-1243-2CDAAB140758}"/>
              </a:ext>
            </a:extLst>
          </p:cNvPr>
          <p:cNvSpPr/>
          <p:nvPr/>
        </p:nvSpPr>
        <p:spPr>
          <a:xfrm>
            <a:off x="609441" y="1418372"/>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C02B8FBC-7186-B923-E2D5-C30995A118D7}"/>
              </a:ext>
            </a:extLst>
          </p:cNvPr>
          <p:cNvPicPr>
            <a:picLocks noChangeAspect="1"/>
          </p:cNvPicPr>
          <p:nvPr/>
        </p:nvPicPr>
        <p:blipFill>
          <a:blip r:embed="rId4"/>
          <a:stretch>
            <a:fillRect/>
          </a:stretch>
        </p:blipFill>
        <p:spPr>
          <a:xfrm>
            <a:off x="762000" y="1557248"/>
            <a:ext cx="4625611" cy="1891179"/>
          </a:xfrm>
          <a:prstGeom prst="rect">
            <a:avLst/>
          </a:prstGeom>
        </p:spPr>
      </p:pic>
      <p:pic>
        <p:nvPicPr>
          <p:cNvPr id="11" name="Imagen 10">
            <a:extLst>
              <a:ext uri="{FF2B5EF4-FFF2-40B4-BE49-F238E27FC236}">
                <a16:creationId xmlns:a16="http://schemas.microsoft.com/office/drawing/2014/main" id="{4DD04BFF-504B-CC62-F315-3794F7FF4E76}"/>
              </a:ext>
            </a:extLst>
          </p:cNvPr>
          <p:cNvPicPr>
            <a:picLocks noChangeAspect="1"/>
          </p:cNvPicPr>
          <p:nvPr/>
        </p:nvPicPr>
        <p:blipFill>
          <a:blip r:embed="rId5"/>
          <a:stretch>
            <a:fillRect/>
          </a:stretch>
        </p:blipFill>
        <p:spPr>
          <a:xfrm>
            <a:off x="1161367" y="3538303"/>
            <a:ext cx="4119882" cy="1304391"/>
          </a:xfrm>
          <a:prstGeom prst="rect">
            <a:avLst/>
          </a:prstGeom>
        </p:spPr>
      </p:pic>
      <p:pic>
        <p:nvPicPr>
          <p:cNvPr id="5" name="Imagen 4">
            <a:extLst>
              <a:ext uri="{FF2B5EF4-FFF2-40B4-BE49-F238E27FC236}">
                <a16:creationId xmlns:a16="http://schemas.microsoft.com/office/drawing/2014/main" id="{BD559017-A33B-8396-6DFC-1D5FEEA23749}"/>
              </a:ext>
            </a:extLst>
          </p:cNvPr>
          <p:cNvPicPr>
            <a:picLocks noChangeAspect="1"/>
          </p:cNvPicPr>
          <p:nvPr/>
        </p:nvPicPr>
        <p:blipFill>
          <a:blip r:embed="rId6"/>
          <a:stretch>
            <a:fillRect/>
          </a:stretch>
        </p:blipFill>
        <p:spPr>
          <a:xfrm>
            <a:off x="6629400" y="1465682"/>
            <a:ext cx="4343400" cy="1104636"/>
          </a:xfrm>
          <a:prstGeom prst="rect">
            <a:avLst/>
          </a:prstGeom>
        </p:spPr>
      </p:pic>
      <p:pic>
        <p:nvPicPr>
          <p:cNvPr id="10" name="Imagen 9">
            <a:extLst>
              <a:ext uri="{FF2B5EF4-FFF2-40B4-BE49-F238E27FC236}">
                <a16:creationId xmlns:a16="http://schemas.microsoft.com/office/drawing/2014/main" id="{3DC867B6-E280-1FBA-B67D-461B748F7002}"/>
              </a:ext>
            </a:extLst>
          </p:cNvPr>
          <p:cNvPicPr>
            <a:picLocks noChangeAspect="1"/>
          </p:cNvPicPr>
          <p:nvPr/>
        </p:nvPicPr>
        <p:blipFill>
          <a:blip r:embed="rId7"/>
          <a:stretch>
            <a:fillRect/>
          </a:stretch>
        </p:blipFill>
        <p:spPr>
          <a:xfrm>
            <a:off x="6556081" y="2487612"/>
            <a:ext cx="4721070" cy="996489"/>
          </a:xfrm>
          <a:prstGeom prst="rect">
            <a:avLst/>
          </a:prstGeom>
        </p:spPr>
      </p:pic>
      <p:pic>
        <p:nvPicPr>
          <p:cNvPr id="13" name="Imagen 12">
            <a:extLst>
              <a:ext uri="{FF2B5EF4-FFF2-40B4-BE49-F238E27FC236}">
                <a16:creationId xmlns:a16="http://schemas.microsoft.com/office/drawing/2014/main" id="{5699377D-C254-A29B-8E64-3023739847D1}"/>
              </a:ext>
            </a:extLst>
          </p:cNvPr>
          <p:cNvPicPr>
            <a:picLocks noChangeAspect="1"/>
          </p:cNvPicPr>
          <p:nvPr/>
        </p:nvPicPr>
        <p:blipFill>
          <a:blip r:embed="rId8"/>
          <a:stretch>
            <a:fillRect/>
          </a:stretch>
        </p:blipFill>
        <p:spPr>
          <a:xfrm>
            <a:off x="6629400" y="3442434"/>
            <a:ext cx="4379462" cy="810731"/>
          </a:xfrm>
          <a:prstGeom prst="rect">
            <a:avLst/>
          </a:prstGeom>
        </p:spPr>
      </p:pic>
      <p:pic>
        <p:nvPicPr>
          <p:cNvPr id="15" name="Imagen 14">
            <a:extLst>
              <a:ext uri="{FF2B5EF4-FFF2-40B4-BE49-F238E27FC236}">
                <a16:creationId xmlns:a16="http://schemas.microsoft.com/office/drawing/2014/main" id="{DEFDE54E-56F8-1139-1B7D-FBF6A999CAE3}"/>
              </a:ext>
            </a:extLst>
          </p:cNvPr>
          <p:cNvPicPr>
            <a:picLocks noChangeAspect="1"/>
          </p:cNvPicPr>
          <p:nvPr/>
        </p:nvPicPr>
        <p:blipFill>
          <a:blip r:embed="rId9"/>
          <a:stretch>
            <a:fillRect/>
          </a:stretch>
        </p:blipFill>
        <p:spPr>
          <a:xfrm>
            <a:off x="7040610" y="4257996"/>
            <a:ext cx="3641794" cy="617467"/>
          </a:xfrm>
          <a:prstGeom prst="rect">
            <a:avLst/>
          </a:prstGeom>
        </p:spPr>
      </p:pic>
    </p:spTree>
    <p:extLst>
      <p:ext uri="{BB962C8B-B14F-4D97-AF65-F5344CB8AC3E}">
        <p14:creationId xmlns:p14="http://schemas.microsoft.com/office/powerpoint/2010/main" val="12995471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77F-EECD-F912-27F7-FCAEC43FB11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99ACA3E-2A04-6CB9-752F-2CFE13787D1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6A069830-6FC7-6660-1CC9-5664C17F431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E55EE00-E160-D464-9972-C1DC561E218D}"/>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28DDB1C9-3A12-752B-45AB-8B4A8D6289C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330124CD-2536-F7FE-04D3-AF77B7120789}"/>
              </a:ext>
            </a:extLst>
          </p:cNvPr>
          <p:cNvSpPr txBox="1"/>
          <p:nvPr/>
        </p:nvSpPr>
        <p:spPr>
          <a:xfrm>
            <a:off x="609441" y="4854585"/>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La gráfica muestra cómo cambia </a:t>
            </a:r>
            <a:r>
              <a:rPr lang="es-ES" sz="1400" dirty="0" err="1"/>
              <a:t>Lpi</a:t>
            </a:r>
            <a:r>
              <a:rPr lang="es-ES" sz="1400" dirty="0"/>
              <a:t> al variar el gap entre las guías. </a:t>
            </a:r>
          </a:p>
          <a:p>
            <a:pPr marL="285750" indent="-285750">
              <a:buFont typeface="Arial" panose="020B0604020202020204" pitchFamily="34" charset="0"/>
              <a:buChar char="•"/>
            </a:pPr>
            <a:r>
              <a:rPr lang="es-ES" sz="1400" dirty="0"/>
              <a:t>Al aumentar el gap, las guías están más separadas y el acoplamiento por campo evanescente es menor. Por eso hace falta más longitud para transferir la potencia.</a:t>
            </a:r>
          </a:p>
          <a:p>
            <a:pPr marL="285750" indent="-285750">
              <a:buFont typeface="Arial" panose="020B0604020202020204" pitchFamily="34" charset="0"/>
              <a:buChar char="•"/>
            </a:pPr>
            <a:r>
              <a:rPr lang="es-ES" sz="1400" dirty="0"/>
              <a:t>Se observa como </a:t>
            </a:r>
            <a:r>
              <a:rPr lang="es-ES" sz="1400" dirty="0" err="1"/>
              <a:t>Lpi</a:t>
            </a:r>
            <a:r>
              <a:rPr lang="es-ES" sz="1400" dirty="0"/>
              <a:t> crece muy rápido. Pasa de unos 25 </a:t>
            </a:r>
            <a:r>
              <a:rPr lang="es-ES" sz="1400" dirty="0" err="1"/>
              <a:t>um</a:t>
            </a:r>
            <a:r>
              <a:rPr lang="es-ES" sz="1400" dirty="0"/>
              <a:t> para gap = 0.2 </a:t>
            </a:r>
            <a:r>
              <a:rPr lang="es-ES" sz="1400" dirty="0" err="1"/>
              <a:t>um</a:t>
            </a:r>
            <a:r>
              <a:rPr lang="es-ES" sz="1400" dirty="0"/>
              <a:t> a unos 580 </a:t>
            </a:r>
            <a:r>
              <a:rPr lang="es-ES" sz="1400" dirty="0" err="1"/>
              <a:t>um</a:t>
            </a:r>
            <a:r>
              <a:rPr lang="es-ES" sz="1400" dirty="0"/>
              <a:t> para gap = 1.2 </a:t>
            </a:r>
            <a:r>
              <a:rPr lang="es-ES" sz="1400" dirty="0" err="1"/>
              <a:t>um</a:t>
            </a:r>
            <a:r>
              <a:rPr lang="es-ES" sz="1400" dirty="0"/>
              <a:t>. </a:t>
            </a:r>
          </a:p>
          <a:p>
            <a:pPr marL="285750" indent="-285750">
              <a:buFont typeface="Arial" panose="020B0604020202020204" pitchFamily="34" charset="0"/>
              <a:buChar char="•"/>
            </a:pPr>
            <a:r>
              <a:rPr lang="es-ES" sz="1400" dirty="0"/>
              <a:t>Esto demuestra que el gap es un parámetro muy relevante en el diseño de acopladores direccionales ópticos.</a:t>
            </a:r>
          </a:p>
        </p:txBody>
      </p:sp>
      <p:sp>
        <p:nvSpPr>
          <p:cNvPr id="7" name="Rectángulo 6">
            <a:extLst>
              <a:ext uri="{FF2B5EF4-FFF2-40B4-BE49-F238E27FC236}">
                <a16:creationId xmlns:a16="http://schemas.microsoft.com/office/drawing/2014/main" id="{469BD2A4-D64C-8C95-0B8B-A3E1345BFC80}"/>
              </a:ext>
            </a:extLst>
          </p:cNvPr>
          <p:cNvSpPr/>
          <p:nvPr/>
        </p:nvSpPr>
        <p:spPr>
          <a:xfrm>
            <a:off x="609441" y="1194585"/>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400A4A93-8BC0-8CA1-42BD-E7C9E8A86A18}"/>
              </a:ext>
            </a:extLst>
          </p:cNvPr>
          <p:cNvPicPr>
            <a:picLocks noChangeAspect="1"/>
          </p:cNvPicPr>
          <p:nvPr/>
        </p:nvPicPr>
        <p:blipFill>
          <a:blip r:embed="rId4"/>
          <a:stretch>
            <a:fillRect/>
          </a:stretch>
        </p:blipFill>
        <p:spPr>
          <a:xfrm>
            <a:off x="3251975" y="1258289"/>
            <a:ext cx="5688050" cy="3393275"/>
          </a:xfrm>
          <a:prstGeom prst="rect">
            <a:avLst/>
          </a:prstGeom>
        </p:spPr>
      </p:pic>
    </p:spTree>
    <p:extLst>
      <p:ext uri="{BB962C8B-B14F-4D97-AF65-F5344CB8AC3E}">
        <p14:creationId xmlns:p14="http://schemas.microsoft.com/office/powerpoint/2010/main" val="899288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000" b="1" dirty="0">
                <a:latin typeface="Arial" panose="020B0604020202020204" pitchFamily="34" charset="0"/>
                <a:cs typeface="Arial" panose="020B0604020202020204" pitchFamily="34" charset="0"/>
              </a:rPr>
              <a:t>Hints: 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000" b="1" dirty="0" err="1">
                <a:latin typeface="Arial" panose="020B0604020202020204" pitchFamily="34" charset="0"/>
                <a:cs typeface="Arial" panose="020B0604020202020204" pitchFamily="34" charset="0"/>
              </a:rPr>
              <a:t>wvl</a:t>
            </a:r>
            <a:r>
              <a:rPr lang="en-US" sz="1000" b="1" dirty="0">
                <a:latin typeface="Arial" panose="020B0604020202020204" pitchFamily="34" charset="0"/>
                <a:cs typeface="Arial" panose="020B0604020202020204" pitchFamily="34" charset="0"/>
              </a:rPr>
              <a:t> 1.55 µm.</a:t>
            </a:r>
            <a:endParaRPr lang="en-US" sz="10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Para considerar las guías desacopladas se exige K &lt; 0.01 para una longitud paralela de 10 </a:t>
            </a:r>
            <a:r>
              <a:rPr lang="es-ES" sz="1400" dirty="0" err="1">
                <a:latin typeface="Arial" panose="020B0604020202020204" pitchFamily="34" charset="0"/>
                <a:cs typeface="Arial" panose="020B0604020202020204" pitchFamily="34" charset="0"/>
              </a:rPr>
              <a:t>mm.</a:t>
            </a:r>
            <a:r>
              <a:rPr lang="es-ES" sz="1400" dirty="0">
                <a:latin typeface="Arial" panose="020B0604020202020204" pitchFamily="34" charset="0"/>
                <a:cs typeface="Arial" panose="020B0604020202020204" pitchFamily="34" charset="0"/>
              </a:rPr>
              <a:t> Esto equivale a necesitar </a:t>
            </a:r>
            <a:r>
              <a:rPr lang="es-ES" sz="1400" dirty="0" err="1">
                <a:latin typeface="Arial" panose="020B0604020202020204" pitchFamily="34" charset="0"/>
                <a:cs typeface="Arial" panose="020B0604020202020204" pitchFamily="34" charset="0"/>
              </a:rPr>
              <a:t>Lpi</a:t>
            </a:r>
            <a:r>
              <a:rPr lang="es-ES" sz="1400" dirty="0">
                <a:latin typeface="Arial" panose="020B0604020202020204" pitchFamily="34" charset="0"/>
                <a:cs typeface="Arial" panose="020B0604020202020204" pitchFamily="34" charset="0"/>
              </a:rPr>
              <a:t> mayor que 156.82 </a:t>
            </a:r>
            <a:r>
              <a:rPr lang="es-ES" sz="1400" dirty="0" err="1">
                <a:latin typeface="Arial" panose="020B0604020202020204" pitchFamily="34" charset="0"/>
                <a:cs typeface="Arial" panose="020B0604020202020204" pitchFamily="34" charset="0"/>
              </a:rPr>
              <a:t>mm.</a:t>
            </a:r>
            <a:endParaRPr lang="es-ES" sz="14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Al aumentar el gap el acoplamiento disminuye y por tanto K baja. El gap mínimo estimado es 4.67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deep</a:t>
            </a:r>
            <a:r>
              <a:rPr lang="es-ES" sz="1400" dirty="0">
                <a:latin typeface="Arial" panose="020B0604020202020204" pitchFamily="34" charset="0"/>
                <a:cs typeface="Arial" panose="020B0604020202020204" pitchFamily="34" charset="0"/>
              </a:rPr>
              <a:t> y 5.05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 necesita más separación porque el campo está menos confinado y se acopla más fácilmente con la guía vecina.</a:t>
            </a:r>
            <a:endParaRPr lang="en-US" sz="14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D962394B-55A5-010C-8D33-A485B5711D09}"/>
              </a:ext>
            </a:extLst>
          </p:cNvPr>
          <p:cNvPicPr>
            <a:picLocks noChangeAspect="1"/>
          </p:cNvPicPr>
          <p:nvPr/>
        </p:nvPicPr>
        <p:blipFill>
          <a:blip r:embed="rId7"/>
          <a:stretch>
            <a:fillRect/>
          </a:stretch>
        </p:blipFill>
        <p:spPr>
          <a:xfrm>
            <a:off x="647419" y="1359430"/>
            <a:ext cx="5249783" cy="2967269"/>
          </a:xfrm>
          <a:prstGeom prst="rect">
            <a:avLst/>
          </a:prstGeom>
        </p:spPr>
      </p:pic>
      <p:pic>
        <p:nvPicPr>
          <p:cNvPr id="13" name="Imagen 12">
            <a:extLst>
              <a:ext uri="{FF2B5EF4-FFF2-40B4-BE49-F238E27FC236}">
                <a16:creationId xmlns:a16="http://schemas.microsoft.com/office/drawing/2014/main" id="{0DDCAF63-AA88-AD01-125D-81D1DE10759C}"/>
              </a:ext>
            </a:extLst>
          </p:cNvPr>
          <p:cNvPicPr>
            <a:picLocks noChangeAspect="1"/>
          </p:cNvPicPr>
          <p:nvPr/>
        </p:nvPicPr>
        <p:blipFill>
          <a:blip r:embed="rId8"/>
          <a:stretch>
            <a:fillRect/>
          </a:stretch>
        </p:blipFill>
        <p:spPr>
          <a:xfrm>
            <a:off x="6527984" y="1404865"/>
            <a:ext cx="5152226" cy="2912128"/>
          </a:xfrm>
          <a:prstGeom prst="rect">
            <a:avLst/>
          </a:prstGeom>
        </p:spPr>
      </p:pic>
      <p:sp>
        <p:nvSpPr>
          <p:cNvPr id="17" name="CuadroTexto 16">
            <a:extLst>
              <a:ext uri="{FF2B5EF4-FFF2-40B4-BE49-F238E27FC236}">
                <a16:creationId xmlns:a16="http://schemas.microsoft.com/office/drawing/2014/main" id="{4674B00D-317B-224A-8D53-92BF6CFAA942}"/>
              </a:ext>
            </a:extLst>
          </p:cNvPr>
          <p:cNvSpPr txBox="1"/>
          <p:nvPr/>
        </p:nvSpPr>
        <p:spPr>
          <a:xfrm>
            <a:off x="1201874" y="2544363"/>
            <a:ext cx="3305342" cy="276999"/>
          </a:xfrm>
          <a:prstGeom prst="rect">
            <a:avLst/>
          </a:prstGeom>
          <a:noFill/>
        </p:spPr>
        <p:txBody>
          <a:bodyPr wrap="square" rtlCol="0">
            <a:spAutoFit/>
          </a:bodyPr>
          <a:lstStyle/>
          <a:p>
            <a:r>
              <a:rPr lang="pt-BR" sz="1200" dirty="0" err="1"/>
              <a:t>Deep</a:t>
            </a:r>
            <a:r>
              <a:rPr lang="pt-BR" sz="1200" dirty="0"/>
              <a:t> </a:t>
            </a:r>
            <a:r>
              <a:rPr lang="pt-BR" sz="1200" dirty="0" err="1"/>
              <a:t>waveguide</a:t>
            </a:r>
            <a:r>
              <a:rPr lang="pt-BR" sz="1200" dirty="0"/>
              <a:t>: gap mínimo estimado = 4.67 um </a:t>
            </a:r>
          </a:p>
        </p:txBody>
      </p:sp>
      <p:sp>
        <p:nvSpPr>
          <p:cNvPr id="18" name="CuadroTexto 17">
            <a:extLst>
              <a:ext uri="{FF2B5EF4-FFF2-40B4-BE49-F238E27FC236}">
                <a16:creationId xmlns:a16="http://schemas.microsoft.com/office/drawing/2014/main" id="{C185E965-F595-3B50-E3A4-61AAFDC41954}"/>
              </a:ext>
            </a:extLst>
          </p:cNvPr>
          <p:cNvSpPr txBox="1"/>
          <p:nvPr/>
        </p:nvSpPr>
        <p:spPr>
          <a:xfrm>
            <a:off x="7056120" y="2566065"/>
            <a:ext cx="3657600" cy="276999"/>
          </a:xfrm>
          <a:prstGeom prst="rect">
            <a:avLst/>
          </a:prstGeom>
          <a:noFill/>
        </p:spPr>
        <p:txBody>
          <a:bodyPr wrap="square" rtlCol="0">
            <a:spAutoFit/>
          </a:bodyPr>
          <a:lstStyle/>
          <a:p>
            <a:r>
              <a:rPr lang="pt-BR" sz="1200" dirty="0" err="1"/>
              <a:t>Shallow</a:t>
            </a:r>
            <a:r>
              <a:rPr lang="pt-BR" sz="1200" dirty="0"/>
              <a:t> </a:t>
            </a:r>
            <a:r>
              <a:rPr lang="pt-BR" sz="1200" dirty="0" err="1"/>
              <a:t>waveguide</a:t>
            </a:r>
            <a:r>
              <a:rPr lang="pt-BR" sz="1200" dirty="0"/>
              <a:t>: gap mínimo estimado = 5.05 um</a:t>
            </a:r>
            <a:endParaRPr lang="es-ES" sz="1200" dirty="0"/>
          </a:p>
        </p:txBody>
      </p:sp>
    </p:spTree>
    <p:extLst>
      <p:ext uri="{BB962C8B-B14F-4D97-AF65-F5344CB8AC3E}">
        <p14:creationId xmlns:p14="http://schemas.microsoft.com/office/powerpoint/2010/main" val="37123560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2769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p:txBody>
      </p:sp>
    </p:spTree>
    <p:extLst>
      <p:ext uri="{BB962C8B-B14F-4D97-AF65-F5344CB8AC3E}">
        <p14:creationId xmlns:p14="http://schemas.microsoft.com/office/powerpoint/2010/main" val="18024515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289AD-908F-7F89-3942-BB5B1DC37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AEDB268-3E4F-B345-43EA-60F88B53B83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E4792179-A094-9482-A6BB-506FB7CDA7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27B6230-7BCA-7786-8839-B843A7D9709D}"/>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53F18D72-2C90-8F5F-EF8A-6E1339E9B9F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B430834-1D22-C132-FBF9-71CFEC71CBCF}"/>
              </a:ext>
            </a:extLst>
          </p:cNvPr>
          <p:cNvSpPr txBox="1"/>
          <p:nvPr/>
        </p:nvSpPr>
        <p:spPr>
          <a:xfrm>
            <a:off x="583019" y="4009251"/>
            <a:ext cx="11199971" cy="2185214"/>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simulado la sección transversal del MMI con anchura 12 </a:t>
            </a:r>
            <a:r>
              <a:rPr lang="es-ES" sz="1600" dirty="0" err="1"/>
              <a:t>um</a:t>
            </a:r>
            <a:r>
              <a:rPr lang="es-ES" sz="1600" dirty="0"/>
              <a:t>, espesor 300 nm, guía </a:t>
            </a:r>
            <a:r>
              <a:rPr lang="es-ES" sz="1600" dirty="0" err="1"/>
              <a:t>deep-etched</a:t>
            </a:r>
            <a:r>
              <a:rPr lang="es-ES" sz="1600" dirty="0"/>
              <a:t> y lambda = 1.55 </a:t>
            </a:r>
            <a:r>
              <a:rPr lang="es-ES" sz="1600" dirty="0" err="1"/>
              <a:t>um</a:t>
            </a:r>
            <a:r>
              <a:rPr lang="es-ES" sz="1600" dirty="0"/>
              <a:t> (parámetros del enunciado)</a:t>
            </a:r>
          </a:p>
          <a:p>
            <a:pPr marL="171450" indent="-171450">
              <a:buFont typeface="Arial" panose="020B0604020202020204" pitchFamily="34" charset="0"/>
              <a:buChar char="•"/>
            </a:pPr>
            <a:r>
              <a:rPr lang="es-ES" sz="1600" dirty="0"/>
              <a:t>Al ser una guía mucho más ancha que las guías de entrada/salida, aparecen varios modos guiados. </a:t>
            </a:r>
          </a:p>
          <a:p>
            <a:pPr marL="171450" indent="-171450">
              <a:buFont typeface="Arial" panose="020B0604020202020204" pitchFamily="34" charset="0"/>
              <a:buChar char="•"/>
            </a:pPr>
            <a:r>
              <a:rPr lang="es-ES" sz="1600" dirty="0"/>
              <a:t>En las imágenes se observan distintos modos Ex</a:t>
            </a:r>
          </a:p>
          <a:p>
            <a:pPr marL="628650" lvl="1" indent="-171450">
              <a:buFont typeface="Arial" panose="020B0604020202020204" pitchFamily="34" charset="0"/>
              <a:buChar char="•"/>
            </a:pPr>
            <a:r>
              <a:rPr lang="es-ES" sz="1600" dirty="0"/>
              <a:t>el modo 0 es el modo fundamental, el modo 1 ya presenta más variación transversal y el modo 7 muestra claramente un modo de orden superior.</a:t>
            </a:r>
          </a:p>
          <a:p>
            <a:pPr marL="171450" indent="-171450">
              <a:buFont typeface="Arial" panose="020B0604020202020204" pitchFamily="34" charset="0"/>
              <a:buChar char="•"/>
            </a:pPr>
            <a:r>
              <a:rPr lang="es-ES" sz="1600" dirty="0"/>
              <a:t>Esto confirma que la sección MMI es </a:t>
            </a:r>
            <a:r>
              <a:rPr lang="es-ES" sz="1600" b="1" dirty="0"/>
              <a:t>multimodo</a:t>
            </a:r>
            <a:r>
              <a:rPr lang="es-ES" sz="1600" dirty="0"/>
              <a:t>.</a:t>
            </a:r>
            <a:endParaRPr lang="en-US" sz="16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F784731B-7546-1465-ECF9-4F9F087B7C9D}"/>
              </a:ext>
            </a:extLst>
          </p:cNvPr>
          <p:cNvPicPr>
            <a:picLocks noChangeAspect="1"/>
          </p:cNvPicPr>
          <p:nvPr/>
        </p:nvPicPr>
        <p:blipFill>
          <a:blip r:embed="rId4"/>
          <a:stretch>
            <a:fillRect/>
          </a:stretch>
        </p:blipFill>
        <p:spPr>
          <a:xfrm>
            <a:off x="558073" y="1180599"/>
            <a:ext cx="3429000" cy="2447488"/>
          </a:xfrm>
          <a:prstGeom prst="rect">
            <a:avLst/>
          </a:prstGeom>
        </p:spPr>
      </p:pic>
      <p:pic>
        <p:nvPicPr>
          <p:cNvPr id="8" name="Imagen 7">
            <a:extLst>
              <a:ext uri="{FF2B5EF4-FFF2-40B4-BE49-F238E27FC236}">
                <a16:creationId xmlns:a16="http://schemas.microsoft.com/office/drawing/2014/main" id="{D5EEB0C8-6B01-A610-CF92-A3FC35988ED5}"/>
              </a:ext>
            </a:extLst>
          </p:cNvPr>
          <p:cNvPicPr>
            <a:picLocks noChangeAspect="1"/>
          </p:cNvPicPr>
          <p:nvPr/>
        </p:nvPicPr>
        <p:blipFill>
          <a:blip r:embed="rId5"/>
          <a:stretch>
            <a:fillRect/>
          </a:stretch>
        </p:blipFill>
        <p:spPr>
          <a:xfrm>
            <a:off x="4379519" y="1202370"/>
            <a:ext cx="3429000" cy="2399067"/>
          </a:xfrm>
          <a:prstGeom prst="rect">
            <a:avLst/>
          </a:prstGeom>
        </p:spPr>
      </p:pic>
      <p:pic>
        <p:nvPicPr>
          <p:cNvPr id="10" name="Imagen 9">
            <a:extLst>
              <a:ext uri="{FF2B5EF4-FFF2-40B4-BE49-F238E27FC236}">
                <a16:creationId xmlns:a16="http://schemas.microsoft.com/office/drawing/2014/main" id="{32D967AA-4A1E-C430-0682-556297E2F674}"/>
              </a:ext>
            </a:extLst>
          </p:cNvPr>
          <p:cNvPicPr>
            <a:picLocks noChangeAspect="1"/>
          </p:cNvPicPr>
          <p:nvPr/>
        </p:nvPicPr>
        <p:blipFill>
          <a:blip r:embed="rId6"/>
          <a:stretch>
            <a:fillRect/>
          </a:stretch>
        </p:blipFill>
        <p:spPr>
          <a:xfrm>
            <a:off x="8264371" y="1180599"/>
            <a:ext cx="3369556" cy="2357477"/>
          </a:xfrm>
          <a:prstGeom prst="rect">
            <a:avLst/>
          </a:prstGeom>
        </p:spPr>
      </p:pic>
    </p:spTree>
    <p:extLst>
      <p:ext uri="{BB962C8B-B14F-4D97-AF65-F5344CB8AC3E}">
        <p14:creationId xmlns:p14="http://schemas.microsoft.com/office/powerpoint/2010/main" val="2793297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8D109-B84C-98F0-B0BA-76EB34E7E8B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4A805F0-782C-DF1D-29B7-3D37F239E715}"/>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F3569801-8960-F6E1-84AF-ADB489966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F801115-046C-3B73-AAEF-88DB00A4261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6DFD3C14-AE40-60BA-09F8-EC772972F7B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2904698-82D3-4E54-44E9-2B2CCDBA8BB0}"/>
              </a:ext>
            </a:extLst>
          </p:cNvPr>
          <p:cNvSpPr txBox="1"/>
          <p:nvPr/>
        </p:nvSpPr>
        <p:spPr>
          <a:xfrm>
            <a:off x="583019" y="4009251"/>
            <a:ext cx="11199971" cy="1754326"/>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600" dirty="0"/>
              <a:t>Los primeros modos calculados son principalmente TE, con </a:t>
            </a:r>
            <a:r>
              <a:rPr lang="es-ES" sz="1600" dirty="0" err="1"/>
              <a:t>fraction_TE</a:t>
            </a:r>
            <a:r>
              <a:rPr lang="es-ES" sz="1600" dirty="0"/>
              <a:t> muy próxima a 1. </a:t>
            </a:r>
          </a:p>
          <a:p>
            <a:pPr marL="285750" indent="-285750">
              <a:buFont typeface="Arial" panose="020B0604020202020204" pitchFamily="34" charset="0"/>
              <a:buChar char="•"/>
            </a:pPr>
            <a:r>
              <a:rPr lang="es-ES" sz="1600" dirty="0"/>
              <a:t>El primer modo claramente TM aparece más adelante, por ejemplo el modo 9, con </a:t>
            </a:r>
            <a:r>
              <a:rPr lang="es-ES" sz="1600" dirty="0" err="1"/>
              <a:t>fraction_TE</a:t>
            </a:r>
            <a:r>
              <a:rPr lang="es-ES" sz="1600" dirty="0"/>
              <a:t> casi 0.</a:t>
            </a:r>
          </a:p>
          <a:p>
            <a:pPr marL="285750" indent="-285750">
              <a:buFont typeface="Arial" panose="020B0604020202020204" pitchFamily="34" charset="0"/>
              <a:buChar char="•"/>
            </a:pPr>
            <a:r>
              <a:rPr lang="es-ES" sz="1600" dirty="0"/>
              <a:t>Para calcular la longitud </a:t>
            </a:r>
            <a:r>
              <a:rPr lang="es-ES" sz="1600" dirty="0" err="1"/>
              <a:t>Lpi</a:t>
            </a:r>
            <a:r>
              <a:rPr lang="es-ES" sz="1600" dirty="0"/>
              <a:t> se usan los dos primeros modos:</a:t>
            </a:r>
          </a:p>
          <a:p>
            <a:pPr marL="742950" lvl="1" indent="-285750">
              <a:buFont typeface="Arial" panose="020B0604020202020204" pitchFamily="34" charset="0"/>
              <a:buChar char="•"/>
            </a:pPr>
            <a:r>
              <a:rPr lang="es-ES" sz="1600" dirty="0" err="1"/>
              <a:t>Lpi</a:t>
            </a:r>
            <a:r>
              <a:rPr lang="es-ES" sz="1600" dirty="0"/>
              <a:t> = 0.5* lambda/ (nef0 - neff1)</a:t>
            </a:r>
          </a:p>
          <a:p>
            <a:pPr marL="1200150" lvl="2" indent="-285750">
              <a:buFont typeface="Arial" panose="020B0604020202020204" pitchFamily="34" charset="0"/>
              <a:buChar char="•"/>
            </a:pPr>
            <a:r>
              <a:rPr lang="es-ES" sz="1600" dirty="0"/>
              <a:t>Con neff0 = 1.678660 y neff1 = 1.675127 se obtiene:</a:t>
            </a:r>
          </a:p>
          <a:p>
            <a:pPr marL="1657350" lvl="3" indent="-285750">
              <a:buFont typeface="Arial" panose="020B0604020202020204" pitchFamily="34" charset="0"/>
              <a:buChar char="•"/>
            </a:pPr>
            <a:r>
              <a:rPr lang="es-ES" sz="1600" dirty="0" err="1"/>
              <a:t>Lpi</a:t>
            </a:r>
            <a:r>
              <a:rPr lang="es-ES" sz="1600" dirty="0"/>
              <a:t> = 219.41 </a:t>
            </a:r>
            <a:r>
              <a:rPr lang="es-ES" sz="1600" dirty="0" err="1"/>
              <a:t>um</a:t>
            </a:r>
            <a:r>
              <a:rPr lang="es-ES" sz="1600" dirty="0"/>
              <a:t>	</a:t>
            </a: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E2CF1C25-708B-BBD1-F805-F1FA4E8D8833}"/>
              </a:ext>
            </a:extLst>
          </p:cNvPr>
          <p:cNvPicPr>
            <a:picLocks noChangeAspect="1"/>
          </p:cNvPicPr>
          <p:nvPr/>
        </p:nvPicPr>
        <p:blipFill>
          <a:blip r:embed="rId4"/>
          <a:srcRect b="27219"/>
          <a:stretch>
            <a:fillRect/>
          </a:stretch>
        </p:blipFill>
        <p:spPr>
          <a:xfrm>
            <a:off x="1534804" y="988201"/>
            <a:ext cx="4648200" cy="2720419"/>
          </a:xfrm>
          <a:prstGeom prst="rect">
            <a:avLst/>
          </a:prstGeom>
        </p:spPr>
      </p:pic>
      <p:pic>
        <p:nvPicPr>
          <p:cNvPr id="9" name="Imagen 8">
            <a:extLst>
              <a:ext uri="{FF2B5EF4-FFF2-40B4-BE49-F238E27FC236}">
                <a16:creationId xmlns:a16="http://schemas.microsoft.com/office/drawing/2014/main" id="{05ECD6B6-25F9-0EA0-0E2D-E1645DD28661}"/>
              </a:ext>
            </a:extLst>
          </p:cNvPr>
          <p:cNvPicPr>
            <a:picLocks noChangeAspect="1"/>
          </p:cNvPicPr>
          <p:nvPr/>
        </p:nvPicPr>
        <p:blipFill>
          <a:blip r:embed="rId4"/>
          <a:srcRect t="70642" r="53186"/>
          <a:stretch>
            <a:fillRect/>
          </a:stretch>
        </p:blipFill>
        <p:spPr>
          <a:xfrm>
            <a:off x="6183004" y="986592"/>
            <a:ext cx="3128636" cy="1577754"/>
          </a:xfrm>
          <a:prstGeom prst="rect">
            <a:avLst/>
          </a:prstGeom>
        </p:spPr>
      </p:pic>
      <p:pic>
        <p:nvPicPr>
          <p:cNvPr id="12" name="Imagen 11">
            <a:extLst>
              <a:ext uri="{FF2B5EF4-FFF2-40B4-BE49-F238E27FC236}">
                <a16:creationId xmlns:a16="http://schemas.microsoft.com/office/drawing/2014/main" id="{EDBF07B3-EBA4-0758-AD29-D0A423835C7C}"/>
              </a:ext>
            </a:extLst>
          </p:cNvPr>
          <p:cNvPicPr>
            <a:picLocks noChangeAspect="1"/>
          </p:cNvPicPr>
          <p:nvPr/>
        </p:nvPicPr>
        <p:blipFill>
          <a:blip r:embed="rId5"/>
          <a:stretch>
            <a:fillRect/>
          </a:stretch>
        </p:blipFill>
        <p:spPr>
          <a:xfrm>
            <a:off x="6335404" y="2708096"/>
            <a:ext cx="4038600" cy="1154527"/>
          </a:xfrm>
          <a:prstGeom prst="rect">
            <a:avLst/>
          </a:prstGeom>
        </p:spPr>
      </p:pic>
    </p:spTree>
    <p:extLst>
      <p:ext uri="{BB962C8B-B14F-4D97-AF65-F5344CB8AC3E}">
        <p14:creationId xmlns:p14="http://schemas.microsoft.com/office/powerpoint/2010/main" val="3772586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comparison with Directional Coupler… )</a:t>
            </a:r>
          </a:p>
          <a:p>
            <a:pPr marL="285750" indent="-285750">
              <a:buFont typeface="Arial" panose="020B0604020202020204" pitchFamily="34" charset="0"/>
              <a:buChar char="•"/>
            </a:pPr>
            <a:r>
              <a:rPr lang="es-ES" sz="1400" dirty="0"/>
              <a:t>MMI 2x2 con </a:t>
            </a:r>
            <a:r>
              <a:rPr lang="es-ES" sz="1400" dirty="0" err="1"/>
              <a:t>wMMI</a:t>
            </a:r>
            <a:r>
              <a:rPr lang="es-ES" sz="1400" dirty="0"/>
              <a:t> = 6.6 </a:t>
            </a:r>
            <a:r>
              <a:rPr lang="es-ES" sz="1400" dirty="0" err="1"/>
              <a:t>um</a:t>
            </a:r>
            <a:r>
              <a:rPr lang="es-ES" sz="1400" dirty="0"/>
              <a:t>. Las entradas y salidas se colocan en -W/6 y +W/6, y la longitud usada es L = </a:t>
            </a:r>
            <a:r>
              <a:rPr lang="es-ES" sz="1400" dirty="0" err="1"/>
              <a:t>Lpi</a:t>
            </a:r>
            <a:r>
              <a:rPr lang="es-ES" sz="1400" dirty="0"/>
              <a:t>/2 = 34.52 </a:t>
            </a:r>
            <a:r>
              <a:rPr lang="es-ES" sz="1400" dirty="0" err="1"/>
              <a:t>um</a:t>
            </a:r>
            <a:r>
              <a:rPr lang="es-ES" sz="1400" dirty="0"/>
              <a:t>.</a:t>
            </a:r>
          </a:p>
          <a:p>
            <a:pPr marL="285750" indent="-285750">
              <a:buFont typeface="Arial" panose="020B0604020202020204" pitchFamily="34" charset="0"/>
              <a:buChar char="•"/>
            </a:pPr>
            <a:r>
              <a:rPr lang="es-ES" sz="1400" dirty="0"/>
              <a:t>La potencia se reparte casi al 50/50 entre las dos salidas. El resultado obtenido es 0.5152 / 0.4848, por lo que el comportamiento es bastante cercano al ideal.</a:t>
            </a:r>
          </a:p>
          <a:p>
            <a:pPr marL="285750" indent="-285750">
              <a:buFont typeface="Arial" panose="020B0604020202020204" pitchFamily="34" charset="0"/>
              <a:buChar char="•"/>
            </a:pPr>
            <a:r>
              <a:rPr lang="es-ES" sz="1400" dirty="0"/>
              <a:t>Hay unas pérdidas de 0.4217 dB y un pequeño desbalance. En este caso el MMI reparte la potencia por interferencia entre varios modos, no por acoplo directo entre dos guías como en los acopladores direccionales anteriores.</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57DCD13-7D30-E29D-8B93-CBA787EFE761}"/>
              </a:ext>
            </a:extLst>
          </p:cNvPr>
          <p:cNvPicPr>
            <a:picLocks noChangeAspect="1"/>
          </p:cNvPicPr>
          <p:nvPr/>
        </p:nvPicPr>
        <p:blipFill>
          <a:blip r:embed="rId4"/>
          <a:stretch>
            <a:fillRect/>
          </a:stretch>
        </p:blipFill>
        <p:spPr>
          <a:xfrm>
            <a:off x="5397979" y="1980682"/>
            <a:ext cx="5703628" cy="2352116"/>
          </a:xfrm>
          <a:prstGeom prst="rect">
            <a:avLst/>
          </a:prstGeom>
        </p:spPr>
      </p:pic>
      <p:pic>
        <p:nvPicPr>
          <p:cNvPr id="9" name="Imagen 8">
            <a:extLst>
              <a:ext uri="{FF2B5EF4-FFF2-40B4-BE49-F238E27FC236}">
                <a16:creationId xmlns:a16="http://schemas.microsoft.com/office/drawing/2014/main" id="{487E2E0F-BB5A-D213-2BC0-B59E279F9A15}"/>
              </a:ext>
            </a:extLst>
          </p:cNvPr>
          <p:cNvPicPr>
            <a:picLocks noChangeAspect="1"/>
          </p:cNvPicPr>
          <p:nvPr/>
        </p:nvPicPr>
        <p:blipFill>
          <a:blip r:embed="rId5"/>
          <a:stretch>
            <a:fillRect/>
          </a:stretch>
        </p:blipFill>
        <p:spPr>
          <a:xfrm>
            <a:off x="1322554" y="1934220"/>
            <a:ext cx="3362312" cy="2376807"/>
          </a:xfrm>
          <a:prstGeom prst="rect">
            <a:avLst/>
          </a:prstGeom>
        </p:spPr>
      </p:pic>
      <p:pic>
        <p:nvPicPr>
          <p:cNvPr id="13" name="Imagen 12">
            <a:extLst>
              <a:ext uri="{FF2B5EF4-FFF2-40B4-BE49-F238E27FC236}">
                <a16:creationId xmlns:a16="http://schemas.microsoft.com/office/drawing/2014/main" id="{441666E8-4932-D74C-C7F3-F4C3EE751739}"/>
              </a:ext>
            </a:extLst>
          </p:cNvPr>
          <p:cNvPicPr>
            <a:picLocks noChangeAspect="1"/>
          </p:cNvPicPr>
          <p:nvPr/>
        </p:nvPicPr>
        <p:blipFill>
          <a:blip r:embed="rId6"/>
          <a:stretch>
            <a:fillRect/>
          </a:stretch>
        </p:blipFill>
        <p:spPr>
          <a:xfrm>
            <a:off x="1322554" y="1751851"/>
            <a:ext cx="2128951" cy="195317"/>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548107"/>
            <a:ext cx="11199971" cy="1600438"/>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400" dirty="0"/>
              <a:t>Se ha optimizado manualmente el MMI modificando la posición de las guías con </a:t>
            </a:r>
            <a:r>
              <a:rPr lang="es-ES" sz="1400" dirty="0" err="1"/>
              <a:t>dy</a:t>
            </a:r>
            <a:r>
              <a:rPr lang="es-ES" sz="1400" dirty="0"/>
              <a:t> y ajustando la longitud con </a:t>
            </a:r>
            <a:r>
              <a:rPr lang="es-ES" sz="1400" dirty="0" err="1"/>
              <a:t>dL_MMI</a:t>
            </a:r>
            <a:r>
              <a:rPr lang="es-ES" sz="1400" dirty="0"/>
              <a:t>. </a:t>
            </a:r>
          </a:p>
          <a:p>
            <a:pPr marL="285750" indent="-285750">
              <a:buFont typeface="Arial" panose="020B0604020202020204" pitchFamily="34" charset="0"/>
              <a:buChar char="•"/>
            </a:pPr>
            <a:r>
              <a:rPr lang="es-ES" sz="1400" dirty="0"/>
              <a:t>El mejor caso obtenido para este apartado es </a:t>
            </a:r>
          </a:p>
          <a:p>
            <a:pPr marL="742950" lvl="1" indent="-285750">
              <a:buFont typeface="Arial" panose="020B0604020202020204" pitchFamily="34" charset="0"/>
              <a:buChar char="•"/>
            </a:pPr>
            <a:r>
              <a:rPr lang="es-ES" sz="1400" dirty="0" err="1"/>
              <a:t>dy</a:t>
            </a:r>
            <a:r>
              <a:rPr lang="es-ES" sz="1400" dirty="0"/>
              <a:t> = 0.05 </a:t>
            </a:r>
            <a:r>
              <a:rPr lang="es-ES" sz="1400" dirty="0" err="1"/>
              <a:t>um</a:t>
            </a:r>
            <a:endParaRPr lang="es-ES" sz="1400" dirty="0"/>
          </a:p>
          <a:p>
            <a:pPr marL="742950" lvl="1" indent="-285750">
              <a:buFont typeface="Arial" panose="020B0604020202020204" pitchFamily="34" charset="0"/>
              <a:buChar char="•"/>
            </a:pPr>
            <a:r>
              <a:rPr lang="es-ES" sz="1400" dirty="0" err="1"/>
              <a:t>dL_MMI</a:t>
            </a:r>
            <a:r>
              <a:rPr lang="es-ES" sz="1400" dirty="0"/>
              <a:t> = -0.50 </a:t>
            </a:r>
            <a:r>
              <a:rPr lang="es-ES" sz="1400" dirty="0" err="1"/>
              <a:t>um</a:t>
            </a:r>
            <a:r>
              <a:rPr lang="es-ES" sz="1400" dirty="0"/>
              <a:t>.</a:t>
            </a:r>
          </a:p>
          <a:p>
            <a:pPr marL="285750" indent="-285750">
              <a:buFont typeface="Arial" panose="020B0604020202020204" pitchFamily="34" charset="0"/>
              <a:buChar char="•"/>
            </a:pPr>
            <a:r>
              <a:rPr lang="es-ES" sz="1400" dirty="0"/>
              <a:t>Comparado con el caso inicial, el reparto mejora de 0.51 /0.48 a 0.50/ 0.49. </a:t>
            </a:r>
          </a:p>
          <a:p>
            <a:pPr marL="285750" indent="-285750">
              <a:buFont typeface="Arial" panose="020B0604020202020204" pitchFamily="34" charset="0"/>
              <a:buChar char="•"/>
            </a:pPr>
            <a:r>
              <a:rPr lang="es-ES" sz="1400" dirty="0"/>
              <a:t>Además, las pérdidas bajan de 0.42 dB a 0.38 dB.</a:t>
            </a:r>
          </a:p>
          <a:p>
            <a:pPr marL="285750" indent="-285750">
              <a:buFont typeface="Arial" panose="020B0604020202020204" pitchFamily="34" charset="0"/>
              <a:buChar char="•"/>
            </a:pPr>
            <a:r>
              <a:rPr lang="es-ES" sz="1400" dirty="0"/>
              <a:t>Por tanto, este ajuste mejora tanto el </a:t>
            </a:r>
            <a:r>
              <a:rPr lang="es-ES" sz="1400" u="sng" dirty="0"/>
              <a:t>balance entre salidas </a:t>
            </a:r>
            <a:r>
              <a:rPr lang="es-ES" sz="1400" dirty="0"/>
              <a:t>como el </a:t>
            </a:r>
            <a:r>
              <a:rPr lang="es-ES" sz="1400" i="1" u="sng" dirty="0" err="1"/>
              <a:t>excess</a:t>
            </a:r>
            <a:r>
              <a:rPr lang="es-ES" sz="1400" i="1" u="sng" dirty="0"/>
              <a:t> </a:t>
            </a:r>
            <a:r>
              <a:rPr lang="es-ES" sz="1400" i="1" u="sng" dirty="0" err="1"/>
              <a:t>loss</a:t>
            </a:r>
            <a:r>
              <a:rPr lang="es-ES" sz="1400" dirty="0"/>
              <a:t>, sin cambiar la anchura de las guías.</a:t>
            </a: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042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Imagen 14">
            <a:extLst>
              <a:ext uri="{FF2B5EF4-FFF2-40B4-BE49-F238E27FC236}">
                <a16:creationId xmlns:a16="http://schemas.microsoft.com/office/drawing/2014/main" id="{B90B8A9E-3870-A83E-8731-3CAF4BDE4ACF}"/>
              </a:ext>
            </a:extLst>
          </p:cNvPr>
          <p:cNvPicPr>
            <a:picLocks noChangeAspect="1"/>
          </p:cNvPicPr>
          <p:nvPr/>
        </p:nvPicPr>
        <p:blipFill>
          <a:blip r:embed="rId4"/>
          <a:stretch>
            <a:fillRect/>
          </a:stretch>
        </p:blipFill>
        <p:spPr>
          <a:xfrm>
            <a:off x="1219200" y="1629745"/>
            <a:ext cx="3962400" cy="2609850"/>
          </a:xfrm>
          <a:prstGeom prst="rect">
            <a:avLst/>
          </a:prstGeom>
        </p:spPr>
      </p:pic>
      <p:pic>
        <p:nvPicPr>
          <p:cNvPr id="18" name="Imagen 17">
            <a:extLst>
              <a:ext uri="{FF2B5EF4-FFF2-40B4-BE49-F238E27FC236}">
                <a16:creationId xmlns:a16="http://schemas.microsoft.com/office/drawing/2014/main" id="{3C94481E-00A9-1FC9-86B4-F3528CCBDD1D}"/>
              </a:ext>
            </a:extLst>
          </p:cNvPr>
          <p:cNvPicPr>
            <a:picLocks noChangeAspect="1"/>
          </p:cNvPicPr>
          <p:nvPr/>
        </p:nvPicPr>
        <p:blipFill>
          <a:blip r:embed="rId5"/>
          <a:stretch>
            <a:fillRect/>
          </a:stretch>
        </p:blipFill>
        <p:spPr>
          <a:xfrm>
            <a:off x="5715000" y="1905000"/>
            <a:ext cx="5612962" cy="2334595"/>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678740"/>
            <a:ext cx="11199971" cy="1569660"/>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600" dirty="0"/>
              <a:t>En esta segunda optimización se ha aumentado la anchura de las guías de entrada y salida con </a:t>
            </a:r>
            <a:r>
              <a:rPr lang="es-ES" sz="1600" dirty="0" err="1"/>
              <a:t>wg_width_dw</a:t>
            </a:r>
            <a:r>
              <a:rPr lang="es-ES" sz="1600" dirty="0"/>
              <a:t> = 0.7 </a:t>
            </a:r>
            <a:r>
              <a:rPr lang="es-ES" sz="1600" dirty="0" err="1"/>
              <a:t>um</a:t>
            </a:r>
            <a:r>
              <a:rPr lang="es-ES" sz="1600" dirty="0"/>
              <a:t>. </a:t>
            </a:r>
          </a:p>
          <a:p>
            <a:pPr marL="285750" indent="-285750">
              <a:buFont typeface="Arial" panose="020B0604020202020204" pitchFamily="34" charset="0"/>
              <a:buChar char="•"/>
            </a:pPr>
            <a:r>
              <a:rPr lang="es-ES" sz="1600" dirty="0"/>
              <a:t>También hemos modificado el ajuste de posición y longitud con </a:t>
            </a:r>
            <a:r>
              <a:rPr lang="es-ES" sz="1600" dirty="0" err="1"/>
              <a:t>dy</a:t>
            </a:r>
            <a:r>
              <a:rPr lang="es-ES" sz="1600" dirty="0"/>
              <a:t> = 0.065 </a:t>
            </a:r>
            <a:r>
              <a:rPr lang="es-ES" sz="1600" dirty="0" err="1"/>
              <a:t>um</a:t>
            </a:r>
            <a:r>
              <a:rPr lang="es-ES" sz="1600" dirty="0"/>
              <a:t> y </a:t>
            </a:r>
            <a:r>
              <a:rPr lang="es-ES" sz="1600" dirty="0" err="1"/>
              <a:t>dL_MMI</a:t>
            </a:r>
            <a:r>
              <a:rPr lang="es-ES" sz="1600" dirty="0"/>
              <a:t> = -0.60 </a:t>
            </a:r>
            <a:r>
              <a:rPr lang="es-ES" sz="1600" dirty="0" err="1"/>
              <a:t>um</a:t>
            </a:r>
            <a:r>
              <a:rPr lang="es-ES" sz="1600" dirty="0"/>
              <a:t>.</a:t>
            </a:r>
          </a:p>
          <a:p>
            <a:pPr marL="285750" indent="-285750">
              <a:buFont typeface="Arial" panose="020B0604020202020204" pitchFamily="34" charset="0"/>
              <a:buChar char="•"/>
            </a:pPr>
            <a:r>
              <a:rPr lang="es-ES" sz="1600" dirty="0"/>
              <a:t>Con este cambio se consigue reducir mucho la pérdida</a:t>
            </a:r>
          </a:p>
          <a:p>
            <a:pPr marL="742950" lvl="1" indent="-285750">
              <a:buFont typeface="Arial" panose="020B0604020202020204" pitchFamily="34" charset="0"/>
              <a:buChar char="•"/>
            </a:pPr>
            <a:r>
              <a:rPr lang="es-ES" sz="1600" dirty="0"/>
              <a:t>el </a:t>
            </a:r>
            <a:r>
              <a:rPr lang="es-ES" sz="1600" dirty="0" err="1"/>
              <a:t>excess</a:t>
            </a:r>
            <a:r>
              <a:rPr lang="es-ES" sz="1600" dirty="0"/>
              <a:t> </a:t>
            </a:r>
            <a:r>
              <a:rPr lang="es-ES" sz="1600" dirty="0" err="1"/>
              <a:t>loss</a:t>
            </a:r>
            <a:r>
              <a:rPr lang="es-ES" sz="1600" dirty="0"/>
              <a:t> baja hasta 0.0773 dB, cumpliendo el objetivo de estar por debajo de 0.1 dB.</a:t>
            </a:r>
          </a:p>
          <a:p>
            <a:pPr marL="285750" indent="-285750">
              <a:buFont typeface="Arial" panose="020B0604020202020204" pitchFamily="34" charset="0"/>
              <a:buChar char="•"/>
            </a:pPr>
            <a:r>
              <a:rPr lang="es-ES" sz="1600" dirty="0"/>
              <a:t>El reparto de potencia queda cercano al 50/50, con ratio 0.5103 / 0.4897. </a:t>
            </a:r>
          </a:p>
          <a:p>
            <a:pPr marL="285750" indent="-285750">
              <a:buFont typeface="Arial" panose="020B0604020202020204" pitchFamily="34" charset="0"/>
              <a:buChar char="•"/>
            </a:pPr>
            <a:r>
              <a:rPr lang="es-ES" sz="1600" dirty="0"/>
              <a:t>Aumentar la anchura de las guías I/O mejora el acoplo de entrada/salida al MMI y reduce claramente las pérdidas.</a:t>
            </a:r>
          </a:p>
        </p:txBody>
      </p:sp>
      <p:sp>
        <p:nvSpPr>
          <p:cNvPr id="7" name="Rectángulo 6">
            <a:extLst>
              <a:ext uri="{FF2B5EF4-FFF2-40B4-BE49-F238E27FC236}">
                <a16:creationId xmlns:a16="http://schemas.microsoft.com/office/drawing/2014/main" id="{C8036B97-F577-1F3C-3CE2-BD45F7D1FFC2}"/>
              </a:ext>
            </a:extLst>
          </p:cNvPr>
          <p:cNvSpPr/>
          <p:nvPr/>
        </p:nvSpPr>
        <p:spPr>
          <a:xfrm>
            <a:off x="609441" y="1236779"/>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228600" y="1524000"/>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pic>
        <p:nvPicPr>
          <p:cNvPr id="12" name="Imagen 11">
            <a:extLst>
              <a:ext uri="{FF2B5EF4-FFF2-40B4-BE49-F238E27FC236}">
                <a16:creationId xmlns:a16="http://schemas.microsoft.com/office/drawing/2014/main" id="{8BC538B7-A6B9-531A-F2AF-B69989307827}"/>
              </a:ext>
            </a:extLst>
          </p:cNvPr>
          <p:cNvPicPr>
            <a:picLocks noChangeAspect="1"/>
          </p:cNvPicPr>
          <p:nvPr/>
        </p:nvPicPr>
        <p:blipFill>
          <a:blip r:embed="rId4"/>
          <a:stretch>
            <a:fillRect/>
          </a:stretch>
        </p:blipFill>
        <p:spPr>
          <a:xfrm>
            <a:off x="4850015" y="1608847"/>
            <a:ext cx="6511767" cy="2708434"/>
          </a:xfrm>
          <a:prstGeom prst="rect">
            <a:avLst/>
          </a:prstGeom>
        </p:spPr>
      </p:pic>
      <p:pic>
        <p:nvPicPr>
          <p:cNvPr id="14" name="Imagen 13">
            <a:extLst>
              <a:ext uri="{FF2B5EF4-FFF2-40B4-BE49-F238E27FC236}">
                <a16:creationId xmlns:a16="http://schemas.microsoft.com/office/drawing/2014/main" id="{B5789AE8-A41C-8B26-A79B-D6CF5FF1452A}"/>
              </a:ext>
            </a:extLst>
          </p:cNvPr>
          <p:cNvPicPr>
            <a:picLocks noChangeAspect="1"/>
          </p:cNvPicPr>
          <p:nvPr/>
        </p:nvPicPr>
        <p:blipFill>
          <a:blip r:embed="rId5"/>
          <a:stretch>
            <a:fillRect/>
          </a:stretch>
        </p:blipFill>
        <p:spPr>
          <a:xfrm>
            <a:off x="830218" y="1345419"/>
            <a:ext cx="4359206" cy="3131554"/>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12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508761"/>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Repeat all the design process for a 1x4 MMI Coupler.  </a:t>
            </a:r>
          </a:p>
          <a:p>
            <a:pPr marL="285750" indent="-285750">
              <a:buFont typeface="Arial" panose="020B0604020202020204" pitchFamily="34" charset="0"/>
              <a:buChar char="•"/>
            </a:pPr>
            <a:r>
              <a:rPr lang="es-ES" sz="1400" dirty="0"/>
              <a:t>Hemos diseñado un MMI 1x4 con una entrada centrada y cuatro salidas colocadas simétricamente. </a:t>
            </a:r>
          </a:p>
          <a:p>
            <a:pPr marL="285750" indent="-285750">
              <a:buFont typeface="Arial" panose="020B0604020202020204" pitchFamily="34" charset="0"/>
              <a:buChar char="•"/>
            </a:pPr>
            <a:r>
              <a:rPr lang="es-ES" sz="1400" dirty="0"/>
              <a:t>Hemos elegido </a:t>
            </a:r>
            <a:r>
              <a:rPr lang="es-ES" sz="1400" dirty="0" err="1"/>
              <a:t>wMMI</a:t>
            </a:r>
            <a:r>
              <a:rPr lang="es-ES" sz="1400" dirty="0"/>
              <a:t> = 12.0 </a:t>
            </a:r>
            <a:r>
              <a:rPr lang="es-ES" sz="1400" dirty="0" err="1"/>
              <a:t>um</a:t>
            </a:r>
            <a:r>
              <a:rPr lang="es-ES" sz="1400" dirty="0"/>
              <a:t> para poder colocar las cuatro guías de salida.</a:t>
            </a:r>
          </a:p>
          <a:p>
            <a:pPr marL="285750" indent="-285750">
              <a:buFont typeface="Arial" panose="020B0604020202020204" pitchFamily="34" charset="0"/>
              <a:buChar char="•"/>
            </a:pPr>
            <a:r>
              <a:rPr lang="es-ES" sz="1400" dirty="0"/>
              <a:t>El reparto de potencia es bastante cercano al ideal de 0.25 en cada salida</a:t>
            </a:r>
          </a:p>
          <a:p>
            <a:pPr marL="742950" lvl="1" indent="-285750">
              <a:buFont typeface="Arial" panose="020B0604020202020204" pitchFamily="34" charset="0"/>
              <a:buChar char="•"/>
            </a:pPr>
            <a:r>
              <a:rPr lang="es-ES" sz="1400" dirty="0"/>
              <a:t>los ratios obtenidos son 0.2463, 0.2537, 0.2538, 0.2462.</a:t>
            </a:r>
          </a:p>
          <a:p>
            <a:pPr marL="285750" indent="-285750">
              <a:buFont typeface="Arial" panose="020B0604020202020204" pitchFamily="34" charset="0"/>
              <a:buChar char="•"/>
            </a:pPr>
            <a:r>
              <a:rPr lang="es-ES" sz="1400" dirty="0"/>
              <a:t>Para reducir pérdidas hemos aumentado la anchura de las guías de entrada /salida con </a:t>
            </a:r>
            <a:r>
              <a:rPr lang="es-ES" sz="1400" dirty="0" err="1"/>
              <a:t>wg_width_dw</a:t>
            </a:r>
            <a:r>
              <a:rPr lang="es-ES" sz="1400" dirty="0"/>
              <a:t> = 0.6 </a:t>
            </a:r>
            <a:r>
              <a:rPr lang="es-ES" sz="1400" dirty="0" err="1"/>
              <a:t>um</a:t>
            </a:r>
            <a:r>
              <a:rPr lang="es-ES" sz="1400" dirty="0"/>
              <a:t> y la longitud con </a:t>
            </a:r>
            <a:r>
              <a:rPr lang="es-ES" sz="1400" dirty="0" err="1"/>
              <a:t>dL_MMI</a:t>
            </a:r>
            <a:r>
              <a:rPr lang="es-ES" sz="1400" dirty="0"/>
              <a:t> = -0.5 </a:t>
            </a:r>
            <a:r>
              <a:rPr lang="es-ES" sz="1400" dirty="0" err="1"/>
              <a:t>um</a:t>
            </a:r>
            <a:r>
              <a:rPr lang="es-ES" sz="1400" dirty="0"/>
              <a:t>. </a:t>
            </a:r>
          </a:p>
          <a:p>
            <a:pPr marL="285750" indent="-285750">
              <a:buFont typeface="Arial" panose="020B0604020202020204" pitchFamily="34" charset="0"/>
              <a:buChar char="•"/>
            </a:pPr>
            <a:r>
              <a:rPr lang="es-ES" sz="1400" dirty="0"/>
              <a:t>Con esto el </a:t>
            </a:r>
            <a:r>
              <a:rPr lang="es-ES" sz="1400" i="1" dirty="0" err="1"/>
              <a:t>excess</a:t>
            </a:r>
            <a:r>
              <a:rPr lang="es-ES" sz="1400" i="1" dirty="0"/>
              <a:t> </a:t>
            </a:r>
            <a:r>
              <a:rPr lang="es-ES" sz="1400" i="1" dirty="0" err="1"/>
              <a:t>loss</a:t>
            </a:r>
            <a:r>
              <a:rPr lang="es-ES" sz="1400" i="1" dirty="0"/>
              <a:t> </a:t>
            </a:r>
            <a:r>
              <a:rPr lang="es-ES" sz="1400" dirty="0"/>
              <a:t>baja hasta 0.2097 dB.</a:t>
            </a:r>
          </a:p>
        </p:txBody>
      </p:sp>
      <p:sp>
        <p:nvSpPr>
          <p:cNvPr id="7" name="Rectángulo 6">
            <a:extLst>
              <a:ext uri="{FF2B5EF4-FFF2-40B4-BE49-F238E27FC236}">
                <a16:creationId xmlns:a16="http://schemas.microsoft.com/office/drawing/2014/main" id="{AFB86587-21D4-5A33-7D00-DDF170C919BA}"/>
              </a:ext>
            </a:extLst>
          </p:cNvPr>
          <p:cNvSpPr/>
          <p:nvPr/>
        </p:nvSpPr>
        <p:spPr>
          <a:xfrm>
            <a:off x="609441" y="1277396"/>
            <a:ext cx="11199971" cy="309543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9" name="Imagen 8">
            <a:extLst>
              <a:ext uri="{FF2B5EF4-FFF2-40B4-BE49-F238E27FC236}">
                <a16:creationId xmlns:a16="http://schemas.microsoft.com/office/drawing/2014/main" id="{543B08EE-498B-B4D2-8671-D76EC46A961F}"/>
              </a:ext>
            </a:extLst>
          </p:cNvPr>
          <p:cNvPicPr>
            <a:picLocks noChangeAspect="1"/>
          </p:cNvPicPr>
          <p:nvPr/>
        </p:nvPicPr>
        <p:blipFill>
          <a:blip r:embed="rId4"/>
          <a:stretch>
            <a:fillRect/>
          </a:stretch>
        </p:blipFill>
        <p:spPr>
          <a:xfrm>
            <a:off x="6183005" y="1747622"/>
            <a:ext cx="5467350" cy="2514600"/>
          </a:xfrm>
          <a:prstGeom prst="rect">
            <a:avLst/>
          </a:prstGeom>
        </p:spPr>
      </p:pic>
      <p:pic>
        <p:nvPicPr>
          <p:cNvPr id="13" name="Imagen 12">
            <a:extLst>
              <a:ext uri="{FF2B5EF4-FFF2-40B4-BE49-F238E27FC236}">
                <a16:creationId xmlns:a16="http://schemas.microsoft.com/office/drawing/2014/main" id="{6333A436-992E-D731-403C-47CAD4CD75E5}"/>
              </a:ext>
            </a:extLst>
          </p:cNvPr>
          <p:cNvPicPr>
            <a:picLocks noChangeAspect="1"/>
          </p:cNvPicPr>
          <p:nvPr/>
        </p:nvPicPr>
        <p:blipFill>
          <a:blip r:embed="rId5"/>
          <a:stretch>
            <a:fillRect/>
          </a:stretch>
        </p:blipFill>
        <p:spPr>
          <a:xfrm>
            <a:off x="729910" y="1681456"/>
            <a:ext cx="5492526" cy="2530265"/>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1168</TotalTime>
  <Words>2656</Words>
  <Application>Microsoft Office PowerPoint</Application>
  <PresentationFormat>Panorámica</PresentationFormat>
  <Paragraphs>278</Paragraphs>
  <Slides>24</Slides>
  <Notes>19</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24</vt:i4>
      </vt:variant>
    </vt:vector>
  </HeadingPairs>
  <TitlesOfParts>
    <vt:vector size="32"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12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Pablo de Manuel Y Vicente</cp:lastModifiedBy>
  <cp:revision>32</cp:revision>
  <dcterms:created xsi:type="dcterms:W3CDTF">2025-01-27T02:46:57Z</dcterms:created>
  <dcterms:modified xsi:type="dcterms:W3CDTF">2026-04-30T14:11:40Z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