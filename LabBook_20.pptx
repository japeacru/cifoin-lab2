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6"/>
  </p:notesMasterIdLst>
  <p:handoutMasterIdLst>
    <p:handoutMasterId r:id="rId27"/>
  </p:handoutMasterIdLst>
  <p:sldIdLst>
    <p:sldId id="256" r:id="rId2"/>
    <p:sldId id="289" r:id="rId3"/>
    <p:sldId id="295" r:id="rId4"/>
    <p:sldId id="304" r:id="rId5"/>
    <p:sldId id="305" r:id="rId6"/>
    <p:sldId id="306" r:id="rId7"/>
    <p:sldId id="302" r:id="rId8"/>
    <p:sldId id="303" r:id="rId9"/>
    <p:sldId id="307" r:id="rId10"/>
    <p:sldId id="308" r:id="rId11"/>
    <p:sldId id="291" r:id="rId12"/>
    <p:sldId id="296" r:id="rId13"/>
    <p:sldId id="293" r:id="rId14"/>
    <p:sldId id="309" r:id="rId15"/>
    <p:sldId id="310" r:id="rId16"/>
    <p:sldId id="294" r:id="rId17"/>
    <p:sldId id="299" r:id="rId18"/>
    <p:sldId id="300" r:id="rId19"/>
    <p:sldId id="301" r:id="rId20"/>
    <p:sldId id="290" r:id="rId21"/>
    <p:sldId id="297" r:id="rId22"/>
    <p:sldId id="292" r:id="rId23"/>
    <p:sldId id="298" r:id="rId24"/>
    <p:sldId id="288" r:id="rId25"/>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varScale="1">
        <p:scale>
          <a:sx n="111" d="100"/>
          <a:sy n="111" d="100"/>
        </p:scale>
        <p:origin x="1134" y="9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01/05/2026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01/05/2026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B45BD-C169-38C7-AB6A-DB08951CB97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DBCB549-56A2-4EF8-2E44-1F150E68FE1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75C1BBE-EA93-BCAF-26E6-2C5E24CF640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9C8216B-F176-A0CF-CA95-072CEAEF03F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98747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ADE44-D640-BE01-78A6-5C5D2165D2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DB2BF37-4B8D-F03B-3C15-436D47CBC4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B13EBB1-DAFB-CED2-A82D-4113A46E9DE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A6D332-6E5A-66AE-53B7-D5ABE7AC5662}"/>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3163255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44EC2-E276-813B-A2B8-50981116D78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00B0DAD-8ED9-C31E-DF46-016EA80A080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D32E1B8-3604-AC6E-AFB1-F7D04299C34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2FA8A3-0EAC-BBD9-8E6C-CEB3D97F67A7}"/>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3314424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8A979-2B98-79DB-AB84-50A4E943F51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A510CD-4C26-AEF1-F663-A7F4E94308E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C36655E-470F-191D-5C45-F0B1D8FAD52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2C671B2-73F3-853A-1A96-64A8F7E0895C}"/>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0931271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166F1-205C-5D31-E621-5BA91B01F8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82C0A2-C30B-9DDE-68E2-A4E60094FBF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19BC008-BE2D-9069-F55B-C6845FE4376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051A2A4-5119-BA15-FDA7-8096099A2B36}"/>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1849609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764C4-4FD2-1A8B-448F-1FF8C2A21C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96BFCD0-B352-C32A-B44C-5B8F7E634E8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A2BE434-3325-69BE-2A77-4B2A549E9E1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F6555B-C51E-6342-E42A-25FBFA6C0F3B}"/>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36288795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NUL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svg"/><Relationship Id="rId7"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svg"/><Relationship Id="rId7"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3.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svg"/><Relationship Id="rId7"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2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pt-BR" spc="165" dirty="0" err="1">
                <a:latin typeface="Arial"/>
                <a:cs typeface="Arial"/>
              </a:rPr>
              <a:t>Student</a:t>
            </a:r>
            <a:r>
              <a:rPr lang="pt-BR" spc="165" dirty="0">
                <a:latin typeface="Arial"/>
                <a:cs typeface="Arial"/>
              </a:rPr>
              <a:t>: José Alberto Peña Cruz, Pablo de Manuel Vicente</a:t>
            </a:r>
          </a:p>
          <a:p>
            <a:pPr marL="12700">
              <a:lnSpc>
                <a:spcPct val="100000"/>
              </a:lnSpc>
              <a:spcBef>
                <a:spcPts val="100"/>
              </a:spcBef>
            </a:pPr>
            <a:r>
              <a:rPr lang="pt-BR" spc="165" dirty="0" err="1">
                <a:latin typeface="Arial"/>
                <a:cs typeface="Arial"/>
              </a:rPr>
              <a:t>Group</a:t>
            </a:r>
            <a:r>
              <a:rPr lang="pt-BR" spc="165" dirty="0">
                <a:latin typeface="Arial"/>
                <a:cs typeface="Arial"/>
              </a:rPr>
              <a:t>: B1 </a:t>
            </a:r>
            <a:endParaRPr lang="pt-BR"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83019" y="434340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Se propagan los 4 primeros modos</a:t>
            </a:r>
            <a:r>
              <a:rPr lang="es-ES" sz="1200" dirty="0">
                <a:latin typeface="Arial" panose="020B0604020202020204" pitchFamily="34" charset="0"/>
                <a:cs typeface="Arial" panose="020B0604020202020204" pitchFamily="34" charset="0"/>
              </a:rPr>
              <a:t>. S</a:t>
            </a:r>
            <a:r>
              <a:rPr lang="es-ES" sz="1200" noProof="0" dirty="0">
                <a:latin typeface="Arial" panose="020B0604020202020204" pitchFamily="34" charset="0"/>
                <a:cs typeface="Arial" panose="020B0604020202020204" pitchFamily="34" charset="0"/>
              </a:rPr>
              <a:t>e transmiten en parejas, es decir, los modos TE0 y TE1 van emparejados</a:t>
            </a:r>
            <a:r>
              <a:rPr lang="es-ES" sz="1200" dirty="0">
                <a:latin typeface="Arial" panose="020B0604020202020204" pitchFamily="34" charset="0"/>
                <a:cs typeface="Arial" panose="020B0604020202020204" pitchFamily="34" charset="0"/>
              </a:rPr>
              <a:t>.</a:t>
            </a:r>
            <a:r>
              <a:rPr lang="es-ES" sz="1200" noProof="0" dirty="0">
                <a:latin typeface="Arial" panose="020B0604020202020204" pitchFamily="34" charset="0"/>
                <a:cs typeface="Arial" panose="020B0604020202020204" pitchFamily="34" charset="0"/>
              </a:rPr>
              <a:t> </a:t>
            </a:r>
            <a:r>
              <a:rPr lang="es-ES" sz="1200" dirty="0">
                <a:latin typeface="Arial" panose="020B0604020202020204" pitchFamily="34" charset="0"/>
                <a:cs typeface="Arial" panose="020B0604020202020204" pitchFamily="34" charset="0"/>
              </a:rPr>
              <a:t>L</a:t>
            </a:r>
            <a:r>
              <a:rPr lang="es-ES" sz="1200" noProof="0" dirty="0">
                <a:latin typeface="Arial" panose="020B0604020202020204" pitchFamily="34" charset="0"/>
                <a:cs typeface="Arial" panose="020B0604020202020204" pitchFamily="34" charset="0"/>
              </a:rPr>
              <a:t>o mismo pasa con los modos TM. Estos modos se parecen mucho a los modos fundamentales de la guía cuando se simula por sí sola.</a:t>
            </a:r>
          </a:p>
          <a:p>
            <a:pPr algn="just"/>
            <a:r>
              <a:rPr lang="es-ES" sz="1200" noProof="0" dirty="0">
                <a:latin typeface="Arial" panose="020B0604020202020204" pitchFamily="34" charset="0"/>
                <a:cs typeface="Arial" panose="020B0604020202020204" pitchFamily="34" charset="0"/>
              </a:rPr>
              <a:t>Modos 1 y 2 son modos fundamentales TE con la particularidad de que el modo 2 es antisimétrico (tiene un lóbulo positivo y uno negativo). Este mismo resultado se repite para los modos T</a:t>
            </a:r>
            <a:r>
              <a:rPr lang="es-ES" sz="1200" dirty="0">
                <a:latin typeface="Arial" panose="020B0604020202020204" pitchFamily="34" charset="0"/>
                <a:cs typeface="Arial" panose="020B0604020202020204" pitchFamily="34" charset="0"/>
              </a:rPr>
              <a:t>M </a:t>
            </a:r>
            <a:r>
              <a:rPr lang="es-ES" sz="1200" noProof="0" dirty="0">
                <a:latin typeface="Arial" panose="020B0604020202020204" pitchFamily="34" charset="0"/>
                <a:cs typeface="Arial" panose="020B0604020202020204" pitchFamily="34" charset="0"/>
              </a:rPr>
              <a:t>correspondientes a los modos 3 y 4.</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6088-184A-D69C-F2D6-55F667381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030DBB6-691F-24B3-9B0D-29B2928ABE20}"/>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C31961FE-396D-EDEE-9728-0C54CEC17E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AF4B2D2-F6EA-1D67-6F6D-3E85A0661C74}"/>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E762673-F4BB-D95D-DA8E-8FA8801711E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57273D3-370B-5FB7-7A83-22FAC3F10BE9}"/>
              </a:ext>
            </a:extLst>
          </p:cNvPr>
          <p:cNvSpPr txBox="1"/>
          <p:nvPr/>
        </p:nvSpPr>
        <p:spPr>
          <a:xfrm>
            <a:off x="581722" y="3735510"/>
            <a:ext cx="11199971" cy="243143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generado la sección transversal del acoplador direccional con dos guías próximas. Al resolver los modos aparecen </a:t>
            </a:r>
            <a:r>
              <a:rPr lang="es-ES" sz="1600" dirty="0" err="1"/>
              <a:t>supermodos</a:t>
            </a:r>
            <a:r>
              <a:rPr lang="es-ES" sz="1600" dirty="0"/>
              <a:t> pares e impares debido al acoplamiento entre ambas guías.</a:t>
            </a:r>
          </a:p>
          <a:p>
            <a:pPr marL="171450" indent="-171450">
              <a:buFont typeface="Arial" panose="020B0604020202020204" pitchFamily="34" charset="0"/>
              <a:buChar char="•"/>
            </a:pPr>
            <a:r>
              <a:rPr lang="es-ES" sz="1600" dirty="0"/>
              <a:t>En las simulaciones se observa un modo TE simétrico y un modo TE antisimétrico. Sus índices efectivos son aprox. neff0 = 1.61794 y neff1 = 1.61018. </a:t>
            </a:r>
          </a:p>
          <a:p>
            <a:pPr marL="171450" indent="-171450">
              <a:buFont typeface="Arial" panose="020B0604020202020204" pitchFamily="34" charset="0"/>
              <a:buChar char="•"/>
            </a:pPr>
            <a:r>
              <a:rPr lang="es-ES" sz="1600" dirty="0"/>
              <a:t>También aparecen modos TM, con </a:t>
            </a:r>
            <a:r>
              <a:rPr lang="es-ES" sz="1600" dirty="0" err="1"/>
              <a:t>neff</a:t>
            </a:r>
            <a:r>
              <a:rPr lang="es-ES" sz="1600" dirty="0"/>
              <a:t> menores, por lo que están menos confinados.</a:t>
            </a:r>
          </a:p>
          <a:p>
            <a:pPr marL="171450" indent="-171450">
              <a:buFont typeface="Arial" panose="020B0604020202020204" pitchFamily="34" charset="0"/>
              <a:buChar char="•"/>
            </a:pPr>
            <a:r>
              <a:rPr lang="es-ES" sz="1600" dirty="0"/>
              <a:t>Esto muestra que el acoplador no se comporta igual para TE y para TM, y que el intercambio de potencia entre las guías está relacionado con la diferencia entre el modo simétrico y el antisimétrico.</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EA63084-A04B-3C9C-C0EE-1AFC8AC82C51}"/>
              </a:ext>
            </a:extLst>
          </p:cNvPr>
          <p:cNvPicPr>
            <a:picLocks noChangeAspect="1"/>
          </p:cNvPicPr>
          <p:nvPr/>
        </p:nvPicPr>
        <p:blipFill>
          <a:blip r:embed="rId4"/>
          <a:stretch>
            <a:fillRect/>
          </a:stretch>
        </p:blipFill>
        <p:spPr>
          <a:xfrm>
            <a:off x="511790" y="950879"/>
            <a:ext cx="3398075" cy="2386013"/>
          </a:xfrm>
          <a:prstGeom prst="rect">
            <a:avLst/>
          </a:prstGeom>
        </p:spPr>
      </p:pic>
      <p:pic>
        <p:nvPicPr>
          <p:cNvPr id="8" name="Imagen 7">
            <a:extLst>
              <a:ext uri="{FF2B5EF4-FFF2-40B4-BE49-F238E27FC236}">
                <a16:creationId xmlns:a16="http://schemas.microsoft.com/office/drawing/2014/main" id="{88A04F20-47CE-3B49-19EA-D5AEA1893AB0}"/>
              </a:ext>
            </a:extLst>
          </p:cNvPr>
          <p:cNvPicPr>
            <a:picLocks noChangeAspect="1"/>
          </p:cNvPicPr>
          <p:nvPr/>
        </p:nvPicPr>
        <p:blipFill>
          <a:blip r:embed="rId5"/>
          <a:stretch>
            <a:fillRect/>
          </a:stretch>
        </p:blipFill>
        <p:spPr>
          <a:xfrm>
            <a:off x="4534131" y="961644"/>
            <a:ext cx="3490080" cy="2386013"/>
          </a:xfrm>
          <a:prstGeom prst="rect">
            <a:avLst/>
          </a:prstGeom>
        </p:spPr>
      </p:pic>
      <p:pic>
        <p:nvPicPr>
          <p:cNvPr id="10" name="Imagen 9">
            <a:extLst>
              <a:ext uri="{FF2B5EF4-FFF2-40B4-BE49-F238E27FC236}">
                <a16:creationId xmlns:a16="http://schemas.microsoft.com/office/drawing/2014/main" id="{D13B8ABA-0372-F21C-39DB-8D10A853E31E}"/>
              </a:ext>
            </a:extLst>
          </p:cNvPr>
          <p:cNvPicPr>
            <a:picLocks noChangeAspect="1"/>
          </p:cNvPicPr>
          <p:nvPr/>
        </p:nvPicPr>
        <p:blipFill>
          <a:blip r:embed="rId6"/>
          <a:stretch>
            <a:fillRect/>
          </a:stretch>
        </p:blipFill>
        <p:spPr>
          <a:xfrm>
            <a:off x="8190129" y="975519"/>
            <a:ext cx="3490081" cy="2336732"/>
          </a:xfrm>
          <a:prstGeom prst="rect">
            <a:avLst/>
          </a:prstGeom>
        </p:spPr>
      </p:pic>
    </p:spTree>
    <p:extLst>
      <p:ext uri="{BB962C8B-B14F-4D97-AF65-F5344CB8AC3E}">
        <p14:creationId xmlns:p14="http://schemas.microsoft.com/office/powerpoint/2010/main" val="4094986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103D0-36EE-579B-7DD6-27A817B418C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FC6B005-9231-2505-0C8C-54B3C325A5D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863AB8-D0CD-6746-3D3D-C3EC9CA228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AB618A-7625-434E-D6EA-37D7731F5455}"/>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E67F1AFF-3BCD-511F-1A25-69FC83A83EA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7735BFB-5787-C44D-E82B-9533E5297595}"/>
              </a:ext>
            </a:extLst>
          </p:cNvPr>
          <p:cNvSpPr txBox="1"/>
          <p:nvPr/>
        </p:nvSpPr>
        <p:spPr>
          <a:xfrm>
            <a:off x="496014" y="4156023"/>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600" dirty="0"/>
              <a:t>Estas dos imágenes muestran los modos TM del acoplador, representados mediante el campo </a:t>
            </a:r>
            <a:r>
              <a:rPr lang="es-ES" sz="1600" dirty="0" err="1"/>
              <a:t>Ey</a:t>
            </a:r>
            <a:r>
              <a:rPr lang="es-ES" sz="1600" dirty="0"/>
              <a:t>. Igual que ocurría con los TE, aparecen dos </a:t>
            </a:r>
            <a:r>
              <a:rPr lang="es-ES" sz="1600" dirty="0" err="1"/>
              <a:t>supermodos</a:t>
            </a:r>
            <a:r>
              <a:rPr lang="es-ES" sz="1600" dirty="0"/>
              <a:t> (uno simétrico con los dos lóbulos en fase y otro antisimétrico con un lóbulo positivo y otro negativo).</a:t>
            </a:r>
          </a:p>
          <a:p>
            <a:pPr marL="285750" indent="-285750">
              <a:buFont typeface="Arial" panose="020B0604020202020204" pitchFamily="34" charset="0"/>
              <a:buChar char="•"/>
            </a:pPr>
            <a:r>
              <a:rPr lang="es-ES" sz="1600" dirty="0"/>
              <a:t>Como hemos comentado anteriormente, esto confirma que los modos del acoplador aparecen por parejas para cada polarización. En este caso los modos TM tienen menor </a:t>
            </a:r>
            <a:r>
              <a:rPr lang="es-ES" sz="1600" dirty="0" err="1"/>
              <a:t>neff</a:t>
            </a:r>
            <a:r>
              <a:rPr lang="es-ES" sz="1600" dirty="0"/>
              <a:t> que los TE por lo que están menos confinados.</a:t>
            </a:r>
          </a:p>
          <a:p>
            <a:pPr algn="just"/>
            <a:endParaRPr lang="en-US" sz="1200" dirty="0">
              <a:latin typeface="Arial" panose="020B0604020202020204" pitchFamily="34" charset="0"/>
              <a:cs typeface="Arial" panose="020B0604020202020204" pitchFamily="34" charset="0"/>
            </a:endParaRPr>
          </a:p>
        </p:txBody>
      </p:sp>
      <p:pic>
        <p:nvPicPr>
          <p:cNvPr id="9" name="Imagen 8">
            <a:extLst>
              <a:ext uri="{FF2B5EF4-FFF2-40B4-BE49-F238E27FC236}">
                <a16:creationId xmlns:a16="http://schemas.microsoft.com/office/drawing/2014/main" id="{A231F774-37B9-F39A-9156-C17077C712BE}"/>
              </a:ext>
            </a:extLst>
          </p:cNvPr>
          <p:cNvPicPr>
            <a:picLocks noChangeAspect="1"/>
          </p:cNvPicPr>
          <p:nvPr/>
        </p:nvPicPr>
        <p:blipFill>
          <a:blip r:embed="rId4"/>
          <a:stretch>
            <a:fillRect/>
          </a:stretch>
        </p:blipFill>
        <p:spPr>
          <a:xfrm>
            <a:off x="5638800" y="861992"/>
            <a:ext cx="4185640" cy="2816842"/>
          </a:xfrm>
          <a:prstGeom prst="rect">
            <a:avLst/>
          </a:prstGeom>
        </p:spPr>
      </p:pic>
      <p:pic>
        <p:nvPicPr>
          <p:cNvPr id="5" name="Imagen 4">
            <a:extLst>
              <a:ext uri="{FF2B5EF4-FFF2-40B4-BE49-F238E27FC236}">
                <a16:creationId xmlns:a16="http://schemas.microsoft.com/office/drawing/2014/main" id="{87AE7CAA-03D7-5285-83A2-651439BEA187}"/>
              </a:ext>
            </a:extLst>
          </p:cNvPr>
          <p:cNvPicPr>
            <a:picLocks noChangeAspect="1"/>
          </p:cNvPicPr>
          <p:nvPr/>
        </p:nvPicPr>
        <p:blipFill>
          <a:blip r:embed="rId5"/>
          <a:stretch>
            <a:fillRect/>
          </a:stretch>
        </p:blipFill>
        <p:spPr>
          <a:xfrm>
            <a:off x="685800" y="824540"/>
            <a:ext cx="4185639" cy="2797618"/>
          </a:xfrm>
          <a:prstGeom prst="rect">
            <a:avLst/>
          </a:prstGeom>
        </p:spPr>
      </p:pic>
    </p:spTree>
    <p:extLst>
      <p:ext uri="{BB962C8B-B14F-4D97-AF65-F5344CB8AC3E}">
        <p14:creationId xmlns:p14="http://schemas.microsoft.com/office/powerpoint/2010/main" val="3901286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7848600" y="1410377"/>
            <a:ext cx="4197905" cy="46166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En la gráfica se representa el coeficiente de acoplo K en función de la longitud normalizada L/</a:t>
            </a:r>
            <a:r>
              <a:rPr lang="es-ES" sz="1400" dirty="0" err="1"/>
              <a:t>Lpi</a:t>
            </a:r>
            <a:r>
              <a:rPr lang="es-ES" sz="1400" dirty="0"/>
              <a:t>. Se observa que al aumentar la longitud del acoplador la potencia se va transfiriendo progresivamente de una guía a la otra.</a:t>
            </a:r>
          </a:p>
          <a:p>
            <a:pPr marL="285750" indent="-285750">
              <a:buFont typeface="Arial" panose="020B0604020202020204" pitchFamily="34" charset="0"/>
              <a:buChar char="•"/>
            </a:pPr>
            <a:r>
              <a:rPr lang="es-ES" sz="1400" dirty="0"/>
              <a:t>Para L = </a:t>
            </a:r>
            <a:r>
              <a:rPr lang="es-ES" sz="1400" dirty="0" err="1"/>
              <a:t>Lpi</a:t>
            </a:r>
            <a:r>
              <a:rPr lang="es-ES" sz="1400" dirty="0"/>
              <a:t>/2 = 49.94 </a:t>
            </a:r>
            <a:r>
              <a:rPr lang="es-ES" sz="1400" dirty="0" err="1"/>
              <a:t>um</a:t>
            </a:r>
            <a:r>
              <a:rPr lang="es-ES" sz="1400" dirty="0"/>
              <a:t> se obtiene K = 0.5, por lo que el dispositivo funciona como un </a:t>
            </a:r>
            <a:r>
              <a:rPr lang="es-ES" sz="1400" dirty="0" err="1"/>
              <a:t>splitter</a:t>
            </a:r>
            <a:r>
              <a:rPr lang="es-ES" sz="1400" dirty="0"/>
              <a:t> 50/50 en el que la mitad de la potencia queda en una guía y la otra mitad se acopla a la segunda.</a:t>
            </a:r>
          </a:p>
          <a:p>
            <a:pPr marL="285750" indent="-285750">
              <a:buFont typeface="Arial" panose="020B0604020202020204" pitchFamily="34" charset="0"/>
              <a:buChar char="•"/>
            </a:pPr>
            <a:r>
              <a:rPr lang="es-ES" sz="1400" dirty="0"/>
              <a:t>Para aprox. L = </a:t>
            </a:r>
            <a:r>
              <a:rPr lang="es-ES" sz="1400" dirty="0" err="1"/>
              <a:t>Lpi</a:t>
            </a:r>
            <a:r>
              <a:rPr lang="es-ES" sz="1400" dirty="0"/>
              <a:t> = 99.89 </a:t>
            </a:r>
            <a:r>
              <a:rPr lang="es-ES" sz="1400" dirty="0" err="1"/>
              <a:t>um</a:t>
            </a:r>
            <a:r>
              <a:rPr lang="es-ES" sz="1400" dirty="0"/>
              <a:t> se alcanza K = 1 (el valor de la transferencia completa de potencia entre guías). </a:t>
            </a:r>
          </a:p>
          <a:p>
            <a:pPr marL="285750" indent="-285750">
              <a:buFont typeface="Arial" panose="020B0604020202020204" pitchFamily="34" charset="0"/>
              <a:buChar char="•"/>
            </a:pPr>
            <a:r>
              <a:rPr lang="es-ES" sz="1400" dirty="0"/>
              <a:t>Después, el comportamiento vuelve a repetirse de </a:t>
            </a:r>
            <a:r>
              <a:rPr lang="es-ES" sz="1400" b="1" dirty="0"/>
              <a:t>forma periódica</a:t>
            </a:r>
          </a:p>
          <a:p>
            <a:pPr marL="742950" lvl="1" indent="-285750">
              <a:buFont typeface="Arial" panose="020B0604020202020204" pitchFamily="34" charset="0"/>
              <a:buChar char="•"/>
            </a:pPr>
            <a:r>
              <a:rPr lang="es-ES" sz="1400" dirty="0"/>
              <a:t>para L = 2Lpi el acoplo vuelve a ser K = 0.</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2"/>
            <a:ext cx="6858159" cy="47538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765203" y="3333620"/>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a:t>
            </a:r>
            <a:r>
              <a:rPr lang="en-US" dirty="0" err="1"/>
              <a:t>Lpi</a:t>
            </a:r>
            <a:r>
              <a:rPr lang="en-US" dirty="0"/>
              <a:t> vs K plot here</a:t>
            </a:r>
          </a:p>
        </p:txBody>
      </p:sp>
      <p:pic>
        <p:nvPicPr>
          <p:cNvPr id="5" name="Imagen 4">
            <a:extLst>
              <a:ext uri="{FF2B5EF4-FFF2-40B4-BE49-F238E27FC236}">
                <a16:creationId xmlns:a16="http://schemas.microsoft.com/office/drawing/2014/main" id="{9F252145-E5DD-E884-16CE-6B1C99193CA3}"/>
              </a:ext>
            </a:extLst>
          </p:cNvPr>
          <p:cNvPicPr>
            <a:picLocks noChangeAspect="1"/>
          </p:cNvPicPr>
          <p:nvPr/>
        </p:nvPicPr>
        <p:blipFill>
          <a:blip r:embed="rId4"/>
          <a:stretch>
            <a:fillRect/>
          </a:stretch>
        </p:blipFill>
        <p:spPr>
          <a:xfrm>
            <a:off x="801987" y="2214943"/>
            <a:ext cx="6473066" cy="3861587"/>
          </a:xfrm>
          <a:prstGeom prst="rect">
            <a:avLst/>
          </a:prstGeom>
        </p:spPr>
      </p:pic>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09440" y="1534144"/>
            <a:ext cx="2590800" cy="753262"/>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50810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Caso base con gap = 0.6 </a:t>
            </a:r>
            <a:r>
              <a:rPr lang="es-ES" sz="1600" dirty="0" err="1"/>
              <a:t>um</a:t>
            </a:r>
            <a:r>
              <a:rPr lang="es-ES" sz="1600" dirty="0"/>
              <a:t>.</a:t>
            </a:r>
          </a:p>
          <a:p>
            <a:pPr marL="285750" indent="-285750">
              <a:buFont typeface="Arial" panose="020B0604020202020204" pitchFamily="34" charset="0"/>
              <a:buChar char="•"/>
            </a:pPr>
            <a:r>
              <a:rPr lang="es-ES" sz="1600" dirty="0"/>
              <a:t>La longitud usada es L = </a:t>
            </a:r>
            <a:r>
              <a:rPr lang="es-ES" sz="1600" dirty="0" err="1"/>
              <a:t>Lpi</a:t>
            </a:r>
            <a:r>
              <a:rPr lang="es-ES" sz="1600" dirty="0"/>
              <a:t>/2 = 47.01 </a:t>
            </a:r>
            <a:r>
              <a:rPr lang="es-ES" sz="1600" dirty="0" err="1"/>
              <a:t>um</a:t>
            </a:r>
            <a:r>
              <a:rPr lang="es-ES" sz="1600" dirty="0"/>
              <a:t>, por lo que el acoplador funciona como divisor 50:50. Las dos salidas tienen la misma potencia: 0.4791 y 0.4791, con ratio 0.50 / 0.50.</a:t>
            </a:r>
          </a:p>
          <a:p>
            <a:pPr marL="285750" indent="-285750">
              <a:buFont typeface="Arial" panose="020B0604020202020204" pitchFamily="34" charset="0"/>
              <a:buChar char="•"/>
            </a:pPr>
            <a:r>
              <a:rPr lang="es-ES" sz="1600" dirty="0"/>
              <a:t>Las pérdidas son bajas</a:t>
            </a:r>
          </a:p>
          <a:p>
            <a:pPr marL="742950" lvl="1" indent="-285750">
              <a:buFont typeface="Arial" panose="020B0604020202020204" pitchFamily="34" charset="0"/>
              <a:buChar char="•"/>
            </a:pPr>
            <a:r>
              <a:rPr lang="es-ES" sz="1600" dirty="0" err="1"/>
              <a:t>excess</a:t>
            </a:r>
            <a:r>
              <a:rPr lang="es-ES" sz="1600" dirty="0"/>
              <a:t> </a:t>
            </a:r>
            <a:r>
              <a:rPr lang="es-ES" sz="1600" dirty="0" err="1"/>
              <a:t>loss</a:t>
            </a:r>
            <a:r>
              <a:rPr lang="es-ES" sz="1600" dirty="0"/>
              <a:t> = 0.1851 dB.</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output text here</a:t>
            </a:r>
          </a:p>
        </p:txBody>
      </p:sp>
      <p:pic>
        <p:nvPicPr>
          <p:cNvPr id="13" name="Imagen 12">
            <a:extLst>
              <a:ext uri="{FF2B5EF4-FFF2-40B4-BE49-F238E27FC236}">
                <a16:creationId xmlns:a16="http://schemas.microsoft.com/office/drawing/2014/main" id="{A5DC6BF6-C64E-ED1D-2B08-B3C5EAACD1A7}"/>
              </a:ext>
            </a:extLst>
          </p:cNvPr>
          <p:cNvPicPr>
            <a:picLocks noChangeAspect="1"/>
          </p:cNvPicPr>
          <p:nvPr/>
        </p:nvPicPr>
        <p:blipFill>
          <a:blip r:embed="rId4"/>
          <a:stretch>
            <a:fillRect/>
          </a:stretch>
        </p:blipFill>
        <p:spPr>
          <a:xfrm>
            <a:off x="3890185" y="2208262"/>
            <a:ext cx="7790025" cy="1981200"/>
          </a:xfrm>
          <a:prstGeom prst="rect">
            <a:avLst/>
          </a:prstGeom>
        </p:spPr>
      </p:pic>
      <p:pic>
        <p:nvPicPr>
          <p:cNvPr id="15" name="Imagen 14">
            <a:extLst>
              <a:ext uri="{FF2B5EF4-FFF2-40B4-BE49-F238E27FC236}">
                <a16:creationId xmlns:a16="http://schemas.microsoft.com/office/drawing/2014/main" id="{8CE37971-E358-F611-14FA-6F5B3F681D6E}"/>
              </a:ext>
            </a:extLst>
          </p:cNvPr>
          <p:cNvPicPr>
            <a:picLocks noChangeAspect="1"/>
          </p:cNvPicPr>
          <p:nvPr/>
        </p:nvPicPr>
        <p:blipFill>
          <a:blip r:embed="rId5"/>
          <a:stretch>
            <a:fillRect/>
          </a:stretch>
        </p:blipFill>
        <p:spPr>
          <a:xfrm>
            <a:off x="805320" y="2008568"/>
            <a:ext cx="3106636" cy="2088067"/>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830CE-244A-029A-5F36-BEBDBEF71F6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F2939A2-FBC7-ED0D-6BB3-2AD3D589A63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B4C7EAB7-3A9B-9AAF-4381-C002DB65838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74C28DF-D270-C288-3911-73835156DDD7}"/>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D2E7494C-069A-0100-301D-5B5649DD1ED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FFAB62F-6579-B11F-7633-A2BB12815ED2}"/>
              </a:ext>
            </a:extLst>
          </p:cNvPr>
          <p:cNvSpPr txBox="1"/>
          <p:nvPr/>
        </p:nvSpPr>
        <p:spPr>
          <a:xfrm>
            <a:off x="637496" y="5026481"/>
            <a:ext cx="11199971" cy="126188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p>
          <a:p>
            <a:pPr marL="285750" indent="-285750">
              <a:buFont typeface="Arial" panose="020B0604020202020204" pitchFamily="34" charset="0"/>
              <a:buChar char="•"/>
            </a:pPr>
            <a:r>
              <a:rPr lang="es-ES" sz="1600" dirty="0"/>
              <a:t>En el barrido se observa que al aumentar el gap entre las guías el acoplamiento se hace más débil. Por eso la longitud necesaria para obtener el reparto 50/50 aumenta mucho.</a:t>
            </a:r>
          </a:p>
          <a:p>
            <a:pPr marL="285750" indent="-285750">
              <a:buFont typeface="Arial" panose="020B0604020202020204" pitchFamily="34" charset="0"/>
              <a:buChar char="•"/>
            </a:pPr>
            <a:r>
              <a:rPr lang="es-ES" sz="1600" dirty="0"/>
              <a:t>Con gap pequeño, la transferencia de potencia ocurre en poca distancia. En cambio, con gap grande, las guías interaccionan menos y se necesita una longitud de acoplador mucho mayor para conseguir el mismo reparto de potencia.</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07C40AA6-C7E0-F418-1243-2CDAAB140758}"/>
              </a:ext>
            </a:extLst>
          </p:cNvPr>
          <p:cNvSpPr/>
          <p:nvPr/>
        </p:nvSpPr>
        <p:spPr>
          <a:xfrm>
            <a:off x="609441" y="1418372"/>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C02B8FBC-7186-B923-E2D5-C30995A118D7}"/>
              </a:ext>
            </a:extLst>
          </p:cNvPr>
          <p:cNvPicPr>
            <a:picLocks noChangeAspect="1"/>
          </p:cNvPicPr>
          <p:nvPr/>
        </p:nvPicPr>
        <p:blipFill>
          <a:blip r:embed="rId4"/>
          <a:stretch>
            <a:fillRect/>
          </a:stretch>
        </p:blipFill>
        <p:spPr>
          <a:xfrm>
            <a:off x="762000" y="1557248"/>
            <a:ext cx="4625611" cy="1891179"/>
          </a:xfrm>
          <a:prstGeom prst="rect">
            <a:avLst/>
          </a:prstGeom>
        </p:spPr>
      </p:pic>
      <p:pic>
        <p:nvPicPr>
          <p:cNvPr id="11" name="Imagen 10">
            <a:extLst>
              <a:ext uri="{FF2B5EF4-FFF2-40B4-BE49-F238E27FC236}">
                <a16:creationId xmlns:a16="http://schemas.microsoft.com/office/drawing/2014/main" id="{4DD04BFF-504B-CC62-F315-3794F7FF4E76}"/>
              </a:ext>
            </a:extLst>
          </p:cNvPr>
          <p:cNvPicPr>
            <a:picLocks noChangeAspect="1"/>
          </p:cNvPicPr>
          <p:nvPr/>
        </p:nvPicPr>
        <p:blipFill>
          <a:blip r:embed="rId5"/>
          <a:stretch>
            <a:fillRect/>
          </a:stretch>
        </p:blipFill>
        <p:spPr>
          <a:xfrm>
            <a:off x="1161367" y="3538303"/>
            <a:ext cx="4119882" cy="1304391"/>
          </a:xfrm>
          <a:prstGeom prst="rect">
            <a:avLst/>
          </a:prstGeom>
        </p:spPr>
      </p:pic>
      <p:pic>
        <p:nvPicPr>
          <p:cNvPr id="5" name="Imagen 4">
            <a:extLst>
              <a:ext uri="{FF2B5EF4-FFF2-40B4-BE49-F238E27FC236}">
                <a16:creationId xmlns:a16="http://schemas.microsoft.com/office/drawing/2014/main" id="{BD559017-A33B-8396-6DFC-1D5FEEA23749}"/>
              </a:ext>
            </a:extLst>
          </p:cNvPr>
          <p:cNvPicPr>
            <a:picLocks noChangeAspect="1"/>
          </p:cNvPicPr>
          <p:nvPr/>
        </p:nvPicPr>
        <p:blipFill>
          <a:blip r:embed="rId6"/>
          <a:stretch>
            <a:fillRect/>
          </a:stretch>
        </p:blipFill>
        <p:spPr>
          <a:xfrm>
            <a:off x="6629400" y="1465682"/>
            <a:ext cx="4343400" cy="1104636"/>
          </a:xfrm>
          <a:prstGeom prst="rect">
            <a:avLst/>
          </a:prstGeom>
        </p:spPr>
      </p:pic>
      <p:pic>
        <p:nvPicPr>
          <p:cNvPr id="10" name="Imagen 9">
            <a:extLst>
              <a:ext uri="{FF2B5EF4-FFF2-40B4-BE49-F238E27FC236}">
                <a16:creationId xmlns:a16="http://schemas.microsoft.com/office/drawing/2014/main" id="{3DC867B6-E280-1FBA-B67D-461B748F7002}"/>
              </a:ext>
            </a:extLst>
          </p:cNvPr>
          <p:cNvPicPr>
            <a:picLocks noChangeAspect="1"/>
          </p:cNvPicPr>
          <p:nvPr/>
        </p:nvPicPr>
        <p:blipFill>
          <a:blip r:embed="rId7"/>
          <a:stretch>
            <a:fillRect/>
          </a:stretch>
        </p:blipFill>
        <p:spPr>
          <a:xfrm>
            <a:off x="6556081" y="2487612"/>
            <a:ext cx="4721070" cy="996489"/>
          </a:xfrm>
          <a:prstGeom prst="rect">
            <a:avLst/>
          </a:prstGeom>
        </p:spPr>
      </p:pic>
      <p:pic>
        <p:nvPicPr>
          <p:cNvPr id="13" name="Imagen 12">
            <a:extLst>
              <a:ext uri="{FF2B5EF4-FFF2-40B4-BE49-F238E27FC236}">
                <a16:creationId xmlns:a16="http://schemas.microsoft.com/office/drawing/2014/main" id="{5699377D-C254-A29B-8E64-3023739847D1}"/>
              </a:ext>
            </a:extLst>
          </p:cNvPr>
          <p:cNvPicPr>
            <a:picLocks noChangeAspect="1"/>
          </p:cNvPicPr>
          <p:nvPr/>
        </p:nvPicPr>
        <p:blipFill>
          <a:blip r:embed="rId8"/>
          <a:stretch>
            <a:fillRect/>
          </a:stretch>
        </p:blipFill>
        <p:spPr>
          <a:xfrm>
            <a:off x="6629400" y="3442434"/>
            <a:ext cx="4379462" cy="810731"/>
          </a:xfrm>
          <a:prstGeom prst="rect">
            <a:avLst/>
          </a:prstGeom>
        </p:spPr>
      </p:pic>
      <p:pic>
        <p:nvPicPr>
          <p:cNvPr id="15" name="Imagen 14">
            <a:extLst>
              <a:ext uri="{FF2B5EF4-FFF2-40B4-BE49-F238E27FC236}">
                <a16:creationId xmlns:a16="http://schemas.microsoft.com/office/drawing/2014/main" id="{DEFDE54E-56F8-1139-1B7D-FBF6A999CAE3}"/>
              </a:ext>
            </a:extLst>
          </p:cNvPr>
          <p:cNvPicPr>
            <a:picLocks noChangeAspect="1"/>
          </p:cNvPicPr>
          <p:nvPr/>
        </p:nvPicPr>
        <p:blipFill>
          <a:blip r:embed="rId9"/>
          <a:stretch>
            <a:fillRect/>
          </a:stretch>
        </p:blipFill>
        <p:spPr>
          <a:xfrm>
            <a:off x="7040610" y="4257996"/>
            <a:ext cx="3641794" cy="617467"/>
          </a:xfrm>
          <a:prstGeom prst="rect">
            <a:avLst/>
          </a:prstGeom>
        </p:spPr>
      </p:pic>
    </p:spTree>
    <p:extLst>
      <p:ext uri="{BB962C8B-B14F-4D97-AF65-F5344CB8AC3E}">
        <p14:creationId xmlns:p14="http://schemas.microsoft.com/office/powerpoint/2010/main" val="12995471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77F-EECD-F912-27F7-FCAEC43FB11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99ACA3E-2A04-6CB9-752F-2CFE13787D1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6A069830-6FC7-6660-1CC9-5664C17F431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E55EE00-E160-D464-9972-C1DC561E218D}"/>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28DDB1C9-3A12-752B-45AB-8B4A8D6289C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330124CD-2536-F7FE-04D3-AF77B7120789}"/>
              </a:ext>
            </a:extLst>
          </p:cNvPr>
          <p:cNvSpPr txBox="1"/>
          <p:nvPr/>
        </p:nvSpPr>
        <p:spPr>
          <a:xfrm>
            <a:off x="609441" y="4854585"/>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 )</a:t>
            </a:r>
            <a:endParaRPr lang="en-US" sz="12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s-ES" sz="1400" dirty="0"/>
              <a:t>La gráfica muestra cómo cambia </a:t>
            </a:r>
            <a:r>
              <a:rPr lang="es-ES" sz="1400" dirty="0" err="1"/>
              <a:t>Lpi</a:t>
            </a:r>
            <a:r>
              <a:rPr lang="es-ES" sz="1400" dirty="0"/>
              <a:t> al variar el gap entre las guías. </a:t>
            </a:r>
          </a:p>
          <a:p>
            <a:pPr marL="285750" indent="-285750">
              <a:buFont typeface="Arial" panose="020B0604020202020204" pitchFamily="34" charset="0"/>
              <a:buChar char="•"/>
            </a:pPr>
            <a:r>
              <a:rPr lang="es-ES" sz="1400" dirty="0"/>
              <a:t>Al aumentar el gap, las guías están más separadas y el acoplamiento por campo evanescente es menor. Por eso hace falta más longitud para transferir la potencia.</a:t>
            </a:r>
          </a:p>
          <a:p>
            <a:pPr marL="285750" indent="-285750">
              <a:buFont typeface="Arial" panose="020B0604020202020204" pitchFamily="34" charset="0"/>
              <a:buChar char="•"/>
            </a:pPr>
            <a:r>
              <a:rPr lang="es-ES" sz="1400" dirty="0"/>
              <a:t>Se observa como </a:t>
            </a:r>
            <a:r>
              <a:rPr lang="es-ES" sz="1400" dirty="0" err="1"/>
              <a:t>Lpi</a:t>
            </a:r>
            <a:r>
              <a:rPr lang="es-ES" sz="1400" dirty="0"/>
              <a:t> crece muy rápido. Pasa de unos 25 </a:t>
            </a:r>
            <a:r>
              <a:rPr lang="es-ES" sz="1400" dirty="0" err="1"/>
              <a:t>um</a:t>
            </a:r>
            <a:r>
              <a:rPr lang="es-ES" sz="1400" dirty="0"/>
              <a:t> para gap = 0.2 </a:t>
            </a:r>
            <a:r>
              <a:rPr lang="es-ES" sz="1400" dirty="0" err="1"/>
              <a:t>um</a:t>
            </a:r>
            <a:r>
              <a:rPr lang="es-ES" sz="1400" dirty="0"/>
              <a:t> a unos 580 </a:t>
            </a:r>
            <a:r>
              <a:rPr lang="es-ES" sz="1400" dirty="0" err="1"/>
              <a:t>um</a:t>
            </a:r>
            <a:r>
              <a:rPr lang="es-ES" sz="1400" dirty="0"/>
              <a:t> para gap = 1.2 </a:t>
            </a:r>
            <a:r>
              <a:rPr lang="es-ES" sz="1400" dirty="0" err="1"/>
              <a:t>um</a:t>
            </a:r>
            <a:r>
              <a:rPr lang="es-ES" sz="1400" dirty="0"/>
              <a:t>. </a:t>
            </a:r>
          </a:p>
          <a:p>
            <a:pPr marL="285750" indent="-285750">
              <a:buFont typeface="Arial" panose="020B0604020202020204" pitchFamily="34" charset="0"/>
              <a:buChar char="•"/>
            </a:pPr>
            <a:r>
              <a:rPr lang="es-ES" sz="1400" dirty="0"/>
              <a:t>Esto demuestra que el gap es un parámetro muy relevante en el diseño de acopladores direccionales ópticos.</a:t>
            </a:r>
          </a:p>
        </p:txBody>
      </p:sp>
      <p:sp>
        <p:nvSpPr>
          <p:cNvPr id="7" name="Rectángulo 6">
            <a:extLst>
              <a:ext uri="{FF2B5EF4-FFF2-40B4-BE49-F238E27FC236}">
                <a16:creationId xmlns:a16="http://schemas.microsoft.com/office/drawing/2014/main" id="{469BD2A4-D64C-8C95-0B8B-A3E1345BFC80}"/>
              </a:ext>
            </a:extLst>
          </p:cNvPr>
          <p:cNvSpPr/>
          <p:nvPr/>
        </p:nvSpPr>
        <p:spPr>
          <a:xfrm>
            <a:off x="609441" y="1194585"/>
            <a:ext cx="11199971" cy="3534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400A4A93-8BC0-8CA1-42BD-E7C9E8A86A18}"/>
              </a:ext>
            </a:extLst>
          </p:cNvPr>
          <p:cNvPicPr>
            <a:picLocks noChangeAspect="1"/>
          </p:cNvPicPr>
          <p:nvPr/>
        </p:nvPicPr>
        <p:blipFill>
          <a:blip r:embed="rId4"/>
          <a:stretch>
            <a:fillRect/>
          </a:stretch>
        </p:blipFill>
        <p:spPr>
          <a:xfrm>
            <a:off x="3251975" y="1258289"/>
            <a:ext cx="5688050" cy="3393275"/>
          </a:xfrm>
          <a:prstGeom prst="rect">
            <a:avLst/>
          </a:prstGeom>
        </p:spPr>
      </p:pic>
    </p:spTree>
    <p:extLst>
      <p:ext uri="{BB962C8B-B14F-4D97-AF65-F5344CB8AC3E}">
        <p14:creationId xmlns:p14="http://schemas.microsoft.com/office/powerpoint/2010/main" val="899288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627196"/>
            <a:ext cx="11199971" cy="1631216"/>
          </a:xfrm>
          <a:prstGeom prst="rect">
            <a:avLst/>
          </a:prstGeom>
          <a:solidFill>
            <a:schemeClr val="bg1">
              <a:lumMod val="95000"/>
            </a:schemeClr>
          </a:solidFill>
          <a:ln w="28575">
            <a:solidFill>
              <a:srgbClr val="E0700D"/>
            </a:solidFill>
          </a:ln>
        </p:spPr>
        <p:txBody>
          <a:bodyPr wrap="square" rtlCol="0">
            <a:spAutoFit/>
          </a:bodyPr>
          <a:lstStyle/>
          <a:p>
            <a:pPr algn="just"/>
            <a:r>
              <a:rPr lang="en-US" sz="1000" b="1" dirty="0">
                <a:latin typeface="Arial" panose="020B0604020202020204" pitchFamily="34" charset="0"/>
                <a:cs typeface="Arial" panose="020B0604020202020204" pitchFamily="34" charset="0"/>
              </a:rPr>
              <a:t>Hints: 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000" b="1" dirty="0" err="1">
                <a:latin typeface="Arial" panose="020B0604020202020204" pitchFamily="34" charset="0"/>
                <a:cs typeface="Arial" panose="020B0604020202020204" pitchFamily="34" charset="0"/>
              </a:rPr>
              <a:t>wvl</a:t>
            </a:r>
            <a:r>
              <a:rPr lang="en-US" sz="1000" b="1" dirty="0">
                <a:latin typeface="Arial" panose="020B0604020202020204" pitchFamily="34" charset="0"/>
                <a:cs typeface="Arial" panose="020B0604020202020204" pitchFamily="34" charset="0"/>
              </a:rPr>
              <a:t> 1.55 µm.</a:t>
            </a:r>
            <a:endParaRPr lang="en-US" sz="10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Para considerar las guías desacopladas se exige K &lt; 0.01 para una longitud paralela de 10 </a:t>
            </a:r>
            <a:r>
              <a:rPr lang="es-ES" sz="1400" dirty="0" err="1">
                <a:latin typeface="Arial" panose="020B0604020202020204" pitchFamily="34" charset="0"/>
                <a:cs typeface="Arial" panose="020B0604020202020204" pitchFamily="34" charset="0"/>
              </a:rPr>
              <a:t>mm.</a:t>
            </a:r>
            <a:r>
              <a:rPr lang="es-ES" sz="1400" dirty="0">
                <a:latin typeface="Arial" panose="020B0604020202020204" pitchFamily="34" charset="0"/>
                <a:cs typeface="Arial" panose="020B0604020202020204" pitchFamily="34" charset="0"/>
              </a:rPr>
              <a:t> Esto equivale a necesitar </a:t>
            </a:r>
            <a:r>
              <a:rPr lang="es-ES" sz="1400" dirty="0" err="1">
                <a:latin typeface="Arial" panose="020B0604020202020204" pitchFamily="34" charset="0"/>
                <a:cs typeface="Arial" panose="020B0604020202020204" pitchFamily="34" charset="0"/>
              </a:rPr>
              <a:t>Lpi</a:t>
            </a:r>
            <a:r>
              <a:rPr lang="es-ES" sz="1400" dirty="0">
                <a:latin typeface="Arial" panose="020B0604020202020204" pitchFamily="34" charset="0"/>
                <a:cs typeface="Arial" panose="020B0604020202020204" pitchFamily="34" charset="0"/>
              </a:rPr>
              <a:t> mayor que 156.82 </a:t>
            </a:r>
            <a:r>
              <a:rPr lang="es-ES" sz="1400" dirty="0" err="1">
                <a:latin typeface="Arial" panose="020B0604020202020204" pitchFamily="34" charset="0"/>
                <a:cs typeface="Arial" panose="020B0604020202020204" pitchFamily="34" charset="0"/>
              </a:rPr>
              <a:t>mm.</a:t>
            </a:r>
            <a:endParaRPr lang="es-ES" sz="1400" dirty="0">
              <a:latin typeface="Arial" panose="020B0604020202020204" pitchFamily="34" charset="0"/>
              <a:cs typeface="Arial" panose="020B0604020202020204" pitchFamily="34" charset="0"/>
            </a:endParaRP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Al aumentar el gap el acoplamiento disminuye y por tanto K baja. El gap mínimo estimado es 4.67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deep</a:t>
            </a:r>
            <a:r>
              <a:rPr lang="es-ES" sz="1400" dirty="0">
                <a:latin typeface="Arial" panose="020B0604020202020204" pitchFamily="34" charset="0"/>
                <a:cs typeface="Arial" panose="020B0604020202020204" pitchFamily="34" charset="0"/>
              </a:rPr>
              <a:t> y 5.05 </a:t>
            </a:r>
            <a:r>
              <a:rPr lang="es-ES" sz="1400" dirty="0" err="1">
                <a:latin typeface="Arial" panose="020B0604020202020204" pitchFamily="34" charset="0"/>
                <a:cs typeface="Arial" panose="020B0604020202020204" pitchFamily="34" charset="0"/>
              </a:rPr>
              <a:t>um</a:t>
            </a:r>
            <a:r>
              <a:rPr lang="es-ES" sz="1400" dirty="0">
                <a:latin typeface="Arial" panose="020B0604020202020204" pitchFamily="34" charset="0"/>
                <a:cs typeface="Arial" panose="020B0604020202020204" pitchFamily="34" charset="0"/>
              </a:rPr>
              <a:t> para 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a:t>
            </a:r>
          </a:p>
          <a:p>
            <a:pPr marL="171450" indent="-171450" algn="just">
              <a:buFont typeface="Arial" panose="020B0604020202020204" pitchFamily="34" charset="0"/>
              <a:buChar char="•"/>
            </a:pPr>
            <a:r>
              <a:rPr lang="es-ES" sz="1400" dirty="0">
                <a:latin typeface="Arial" panose="020B0604020202020204" pitchFamily="34" charset="0"/>
                <a:cs typeface="Arial" panose="020B0604020202020204" pitchFamily="34" charset="0"/>
              </a:rPr>
              <a:t>La guía </a:t>
            </a:r>
            <a:r>
              <a:rPr lang="es-ES" sz="1400" dirty="0" err="1">
                <a:latin typeface="Arial" panose="020B0604020202020204" pitchFamily="34" charset="0"/>
                <a:cs typeface="Arial" panose="020B0604020202020204" pitchFamily="34" charset="0"/>
              </a:rPr>
              <a:t>shallow</a:t>
            </a:r>
            <a:r>
              <a:rPr lang="es-ES" sz="1400" dirty="0">
                <a:latin typeface="Arial" panose="020B0604020202020204" pitchFamily="34" charset="0"/>
                <a:cs typeface="Arial" panose="020B0604020202020204" pitchFamily="34" charset="0"/>
              </a:rPr>
              <a:t> necesita más separación porque el campo está menos confinado y se acopla más fácilmente con la guía vecina.</a:t>
            </a:r>
            <a:endParaRPr lang="en-US" sz="14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D962394B-55A5-010C-8D33-A485B5711D09}"/>
              </a:ext>
            </a:extLst>
          </p:cNvPr>
          <p:cNvPicPr>
            <a:picLocks noChangeAspect="1"/>
          </p:cNvPicPr>
          <p:nvPr/>
        </p:nvPicPr>
        <p:blipFill>
          <a:blip r:embed="rId7"/>
          <a:stretch>
            <a:fillRect/>
          </a:stretch>
        </p:blipFill>
        <p:spPr>
          <a:xfrm>
            <a:off x="647419" y="1359430"/>
            <a:ext cx="5249783" cy="2967269"/>
          </a:xfrm>
          <a:prstGeom prst="rect">
            <a:avLst/>
          </a:prstGeom>
        </p:spPr>
      </p:pic>
      <p:pic>
        <p:nvPicPr>
          <p:cNvPr id="13" name="Imagen 12">
            <a:extLst>
              <a:ext uri="{FF2B5EF4-FFF2-40B4-BE49-F238E27FC236}">
                <a16:creationId xmlns:a16="http://schemas.microsoft.com/office/drawing/2014/main" id="{0DDCAF63-AA88-AD01-125D-81D1DE10759C}"/>
              </a:ext>
            </a:extLst>
          </p:cNvPr>
          <p:cNvPicPr>
            <a:picLocks noChangeAspect="1"/>
          </p:cNvPicPr>
          <p:nvPr/>
        </p:nvPicPr>
        <p:blipFill>
          <a:blip r:embed="rId8"/>
          <a:stretch>
            <a:fillRect/>
          </a:stretch>
        </p:blipFill>
        <p:spPr>
          <a:xfrm>
            <a:off x="6527984" y="1404865"/>
            <a:ext cx="5152226" cy="2912128"/>
          </a:xfrm>
          <a:prstGeom prst="rect">
            <a:avLst/>
          </a:prstGeom>
        </p:spPr>
      </p:pic>
      <p:sp>
        <p:nvSpPr>
          <p:cNvPr id="17" name="CuadroTexto 16">
            <a:extLst>
              <a:ext uri="{FF2B5EF4-FFF2-40B4-BE49-F238E27FC236}">
                <a16:creationId xmlns:a16="http://schemas.microsoft.com/office/drawing/2014/main" id="{4674B00D-317B-224A-8D53-92BF6CFAA942}"/>
              </a:ext>
            </a:extLst>
          </p:cNvPr>
          <p:cNvSpPr txBox="1"/>
          <p:nvPr/>
        </p:nvSpPr>
        <p:spPr>
          <a:xfrm>
            <a:off x="1201874" y="2544363"/>
            <a:ext cx="3305342" cy="276999"/>
          </a:xfrm>
          <a:prstGeom prst="rect">
            <a:avLst/>
          </a:prstGeom>
          <a:noFill/>
        </p:spPr>
        <p:txBody>
          <a:bodyPr wrap="square" rtlCol="0">
            <a:spAutoFit/>
          </a:bodyPr>
          <a:lstStyle/>
          <a:p>
            <a:r>
              <a:rPr lang="pt-BR" sz="1200" dirty="0" err="1"/>
              <a:t>Deep</a:t>
            </a:r>
            <a:r>
              <a:rPr lang="pt-BR" sz="1200" dirty="0"/>
              <a:t> </a:t>
            </a:r>
            <a:r>
              <a:rPr lang="pt-BR" sz="1200" dirty="0" err="1"/>
              <a:t>waveguide</a:t>
            </a:r>
            <a:r>
              <a:rPr lang="pt-BR" sz="1200" dirty="0"/>
              <a:t>: gap mínimo estimado = 4.67 um </a:t>
            </a:r>
          </a:p>
        </p:txBody>
      </p:sp>
      <p:sp>
        <p:nvSpPr>
          <p:cNvPr id="18" name="CuadroTexto 17">
            <a:extLst>
              <a:ext uri="{FF2B5EF4-FFF2-40B4-BE49-F238E27FC236}">
                <a16:creationId xmlns:a16="http://schemas.microsoft.com/office/drawing/2014/main" id="{C185E965-F595-3B50-E3A4-61AAFDC41954}"/>
              </a:ext>
            </a:extLst>
          </p:cNvPr>
          <p:cNvSpPr txBox="1"/>
          <p:nvPr/>
        </p:nvSpPr>
        <p:spPr>
          <a:xfrm>
            <a:off x="7056120" y="2566065"/>
            <a:ext cx="3657600" cy="276999"/>
          </a:xfrm>
          <a:prstGeom prst="rect">
            <a:avLst/>
          </a:prstGeom>
          <a:noFill/>
        </p:spPr>
        <p:txBody>
          <a:bodyPr wrap="square" rtlCol="0">
            <a:spAutoFit/>
          </a:bodyPr>
          <a:lstStyle/>
          <a:p>
            <a:r>
              <a:rPr lang="pt-BR" sz="1200" dirty="0" err="1"/>
              <a:t>Shallow</a:t>
            </a:r>
            <a:r>
              <a:rPr lang="pt-BR" sz="1200" dirty="0"/>
              <a:t> </a:t>
            </a:r>
            <a:r>
              <a:rPr lang="pt-BR" sz="1200" dirty="0" err="1"/>
              <a:t>waveguide</a:t>
            </a:r>
            <a:r>
              <a:rPr lang="pt-BR" sz="1200" dirty="0"/>
              <a:t>: gap mínimo estimado = 5.05 um</a:t>
            </a:r>
            <a:endParaRPr lang="es-ES" sz="1200" dirty="0"/>
          </a:p>
        </p:txBody>
      </p:sp>
    </p:spTree>
    <p:extLst>
      <p:ext uri="{BB962C8B-B14F-4D97-AF65-F5344CB8AC3E}">
        <p14:creationId xmlns:p14="http://schemas.microsoft.com/office/powerpoint/2010/main" val="37123560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2769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Document all your results (neff, plot fields of different modes, comparison between different polarizations…)</a:t>
            </a:r>
          </a:p>
        </p:txBody>
      </p:sp>
    </p:spTree>
    <p:extLst>
      <p:ext uri="{BB962C8B-B14F-4D97-AF65-F5344CB8AC3E}">
        <p14:creationId xmlns:p14="http://schemas.microsoft.com/office/powerpoint/2010/main" val="18024515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289AD-908F-7F89-3942-BB5B1DC37D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AEDB268-3E4F-B345-43EA-60F88B53B83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E4792179-A094-9482-A6BB-506FB7CDA7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27B6230-7BCA-7786-8839-B843A7D9709D}"/>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53F18D72-2C90-8F5F-EF8A-6E1339E9B9F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5B430834-1D22-C132-FBF9-71CFEC71CBCF}"/>
              </a:ext>
            </a:extLst>
          </p:cNvPr>
          <p:cNvSpPr txBox="1"/>
          <p:nvPr/>
        </p:nvSpPr>
        <p:spPr>
          <a:xfrm>
            <a:off x="583019" y="4009251"/>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marL="171450" indent="-171450">
              <a:buFont typeface="Arial" panose="020B0604020202020204" pitchFamily="34" charset="0"/>
              <a:buChar char="•"/>
            </a:pPr>
            <a:r>
              <a:rPr lang="es-ES" sz="1600" dirty="0"/>
              <a:t>Se ha simulado la sección transversal del MMI con anchura 12 </a:t>
            </a:r>
            <a:r>
              <a:rPr lang="es-ES" sz="1600" dirty="0" err="1"/>
              <a:t>um</a:t>
            </a:r>
            <a:r>
              <a:rPr lang="es-ES" sz="1600" dirty="0"/>
              <a:t>, espesor 300 nm, guía </a:t>
            </a:r>
            <a:r>
              <a:rPr lang="es-ES" sz="1600" dirty="0" err="1"/>
              <a:t>deep-etched</a:t>
            </a:r>
            <a:r>
              <a:rPr lang="es-ES" sz="1600" dirty="0"/>
              <a:t> y lambda = 1.55 </a:t>
            </a:r>
            <a:r>
              <a:rPr lang="es-ES" sz="1600" dirty="0" err="1"/>
              <a:t>um</a:t>
            </a:r>
            <a:r>
              <a:rPr lang="es-ES" sz="1600" dirty="0"/>
              <a:t> (parámetros del enunciado)</a:t>
            </a:r>
          </a:p>
          <a:p>
            <a:pPr marL="171450" indent="-171450">
              <a:buFont typeface="Arial" panose="020B0604020202020204" pitchFamily="34" charset="0"/>
              <a:buChar char="•"/>
            </a:pPr>
            <a:r>
              <a:rPr lang="es-ES" sz="1600" dirty="0"/>
              <a:t>Al ser una guía mucho más ancha que las guías de entrada/salida, aparecen varios modos guiados. </a:t>
            </a:r>
          </a:p>
          <a:p>
            <a:pPr marL="171450" indent="-171450">
              <a:buFont typeface="Arial" panose="020B0604020202020204" pitchFamily="34" charset="0"/>
              <a:buChar char="•"/>
            </a:pPr>
            <a:r>
              <a:rPr lang="es-ES" sz="1600" dirty="0"/>
              <a:t>En las imágenes se observan distintos modos Ex</a:t>
            </a:r>
          </a:p>
          <a:p>
            <a:pPr marL="628650" lvl="1" indent="-171450">
              <a:buFont typeface="Arial" panose="020B0604020202020204" pitchFamily="34" charset="0"/>
              <a:buChar char="•"/>
            </a:pPr>
            <a:r>
              <a:rPr lang="es-ES" sz="1600" dirty="0"/>
              <a:t>el modo 0 es el modo fundamental, el modo 1 ya presenta más variación transversal y el modo 7 muestra claramente un modo de orden superior.</a:t>
            </a:r>
          </a:p>
          <a:p>
            <a:pPr marL="171450" indent="-171450">
              <a:buFont typeface="Arial" panose="020B0604020202020204" pitchFamily="34" charset="0"/>
              <a:buChar char="•"/>
            </a:pPr>
            <a:r>
              <a:rPr lang="es-ES" sz="1600" dirty="0"/>
              <a:t>Esto confirma que la sección MMI es </a:t>
            </a:r>
            <a:r>
              <a:rPr lang="es-ES" sz="1600" b="1" dirty="0"/>
              <a:t>multimodo</a:t>
            </a:r>
            <a:r>
              <a:rPr lang="es-ES" sz="1600" dirty="0"/>
              <a:t>.</a:t>
            </a:r>
            <a:endParaRPr lang="en-US" sz="16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F784731B-7546-1465-ECF9-4F9F087B7C9D}"/>
              </a:ext>
            </a:extLst>
          </p:cNvPr>
          <p:cNvPicPr>
            <a:picLocks noChangeAspect="1"/>
          </p:cNvPicPr>
          <p:nvPr/>
        </p:nvPicPr>
        <p:blipFill>
          <a:blip r:embed="rId4"/>
          <a:stretch>
            <a:fillRect/>
          </a:stretch>
        </p:blipFill>
        <p:spPr>
          <a:xfrm>
            <a:off x="558073" y="1180599"/>
            <a:ext cx="3429000" cy="2447488"/>
          </a:xfrm>
          <a:prstGeom prst="rect">
            <a:avLst/>
          </a:prstGeom>
        </p:spPr>
      </p:pic>
      <p:pic>
        <p:nvPicPr>
          <p:cNvPr id="8" name="Imagen 7">
            <a:extLst>
              <a:ext uri="{FF2B5EF4-FFF2-40B4-BE49-F238E27FC236}">
                <a16:creationId xmlns:a16="http://schemas.microsoft.com/office/drawing/2014/main" id="{D5EEB0C8-6B01-A610-CF92-A3FC35988ED5}"/>
              </a:ext>
            </a:extLst>
          </p:cNvPr>
          <p:cNvPicPr>
            <a:picLocks noChangeAspect="1"/>
          </p:cNvPicPr>
          <p:nvPr/>
        </p:nvPicPr>
        <p:blipFill>
          <a:blip r:embed="rId5"/>
          <a:stretch>
            <a:fillRect/>
          </a:stretch>
        </p:blipFill>
        <p:spPr>
          <a:xfrm>
            <a:off x="4379519" y="1202370"/>
            <a:ext cx="3429000" cy="2399067"/>
          </a:xfrm>
          <a:prstGeom prst="rect">
            <a:avLst/>
          </a:prstGeom>
        </p:spPr>
      </p:pic>
      <p:pic>
        <p:nvPicPr>
          <p:cNvPr id="10" name="Imagen 9">
            <a:extLst>
              <a:ext uri="{FF2B5EF4-FFF2-40B4-BE49-F238E27FC236}">
                <a16:creationId xmlns:a16="http://schemas.microsoft.com/office/drawing/2014/main" id="{32D967AA-4A1E-C430-0682-556297E2F674}"/>
              </a:ext>
            </a:extLst>
          </p:cNvPr>
          <p:cNvPicPr>
            <a:picLocks noChangeAspect="1"/>
          </p:cNvPicPr>
          <p:nvPr/>
        </p:nvPicPr>
        <p:blipFill>
          <a:blip r:embed="rId6"/>
          <a:stretch>
            <a:fillRect/>
          </a:stretch>
        </p:blipFill>
        <p:spPr>
          <a:xfrm>
            <a:off x="8264371" y="1180599"/>
            <a:ext cx="3369556" cy="2357477"/>
          </a:xfrm>
          <a:prstGeom prst="rect">
            <a:avLst/>
          </a:prstGeom>
        </p:spPr>
      </p:pic>
    </p:spTree>
    <p:extLst>
      <p:ext uri="{BB962C8B-B14F-4D97-AF65-F5344CB8AC3E}">
        <p14:creationId xmlns:p14="http://schemas.microsoft.com/office/powerpoint/2010/main" val="2793297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8D109-B84C-98F0-B0BA-76EB34E7E8B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A805F0-782C-DF1D-29B7-3D37F239E715}"/>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F3569801-8960-F6E1-84AF-ADB489966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F801115-046C-3B73-AAEF-88DB00A4261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6DFD3C14-AE40-60BA-09F8-EC772972F7B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2904698-82D3-4E54-44E9-2B2CCDBA8BB0}"/>
              </a:ext>
            </a:extLst>
          </p:cNvPr>
          <p:cNvSpPr txBox="1"/>
          <p:nvPr/>
        </p:nvSpPr>
        <p:spPr>
          <a:xfrm>
            <a:off x="583019" y="4009251"/>
            <a:ext cx="11199971" cy="1754326"/>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Los primeros modos calculados son principalmente TE, con </a:t>
            </a:r>
            <a:r>
              <a:rPr lang="es-ES" sz="1600" dirty="0" err="1"/>
              <a:t>fraction_TE</a:t>
            </a:r>
            <a:r>
              <a:rPr lang="es-ES" sz="1600" dirty="0"/>
              <a:t> muy próxima a 1. </a:t>
            </a:r>
          </a:p>
          <a:p>
            <a:pPr marL="285750" indent="-285750">
              <a:buFont typeface="Arial" panose="020B0604020202020204" pitchFamily="34" charset="0"/>
              <a:buChar char="•"/>
            </a:pPr>
            <a:r>
              <a:rPr lang="es-ES" sz="1600" dirty="0"/>
              <a:t>El primer modo claramente TM aparece más adelante, por ejemplo el modo 9, con </a:t>
            </a:r>
            <a:r>
              <a:rPr lang="es-ES" sz="1600" dirty="0" err="1"/>
              <a:t>fraction_TE</a:t>
            </a:r>
            <a:r>
              <a:rPr lang="es-ES" sz="1600" dirty="0"/>
              <a:t> casi 0.</a:t>
            </a:r>
          </a:p>
          <a:p>
            <a:pPr marL="285750" indent="-285750">
              <a:buFont typeface="Arial" panose="020B0604020202020204" pitchFamily="34" charset="0"/>
              <a:buChar char="•"/>
            </a:pPr>
            <a:r>
              <a:rPr lang="es-ES" sz="1600" dirty="0"/>
              <a:t>Para calcular la longitud </a:t>
            </a:r>
            <a:r>
              <a:rPr lang="es-ES" sz="1600" dirty="0" err="1"/>
              <a:t>Lpi</a:t>
            </a:r>
            <a:r>
              <a:rPr lang="es-ES" sz="1600" dirty="0"/>
              <a:t> se usan los dos primeros modos:</a:t>
            </a:r>
          </a:p>
          <a:p>
            <a:pPr marL="742950" lvl="1" indent="-285750">
              <a:buFont typeface="Arial" panose="020B0604020202020204" pitchFamily="34" charset="0"/>
              <a:buChar char="•"/>
            </a:pPr>
            <a:r>
              <a:rPr lang="es-ES" sz="1600" dirty="0" err="1"/>
              <a:t>Lpi</a:t>
            </a:r>
            <a:r>
              <a:rPr lang="es-ES" sz="1600" dirty="0"/>
              <a:t> = 0.5* lambda/ (nef0 - neff1)</a:t>
            </a:r>
          </a:p>
          <a:p>
            <a:pPr marL="1200150" lvl="2" indent="-285750">
              <a:buFont typeface="Arial" panose="020B0604020202020204" pitchFamily="34" charset="0"/>
              <a:buChar char="•"/>
            </a:pPr>
            <a:r>
              <a:rPr lang="es-ES" sz="1600" dirty="0"/>
              <a:t>Con neff0 = 1.678660 y neff1 = 1.675127 se obtiene:</a:t>
            </a:r>
          </a:p>
          <a:p>
            <a:pPr marL="1657350" lvl="3" indent="-285750">
              <a:buFont typeface="Arial" panose="020B0604020202020204" pitchFamily="34" charset="0"/>
              <a:buChar char="•"/>
            </a:pPr>
            <a:r>
              <a:rPr lang="es-ES" sz="1600" dirty="0" err="1"/>
              <a:t>Lpi</a:t>
            </a:r>
            <a:r>
              <a:rPr lang="es-ES" sz="1600" dirty="0"/>
              <a:t> = 219.41 </a:t>
            </a:r>
            <a:r>
              <a:rPr lang="es-ES" sz="1600" dirty="0" err="1"/>
              <a:t>um</a:t>
            </a:r>
            <a:r>
              <a:rPr lang="es-ES" sz="1600" dirty="0"/>
              <a:t>	</a:t>
            </a:r>
          </a:p>
          <a:p>
            <a:pPr algn="just"/>
            <a:endParaRPr lang="en-US" sz="1200" dirty="0">
              <a:latin typeface="Arial" panose="020B0604020202020204" pitchFamily="34" charset="0"/>
              <a:cs typeface="Arial" panose="020B0604020202020204" pitchFamily="34" charset="0"/>
            </a:endParaRPr>
          </a:p>
        </p:txBody>
      </p:sp>
      <p:pic>
        <p:nvPicPr>
          <p:cNvPr id="5" name="Imagen 4">
            <a:extLst>
              <a:ext uri="{FF2B5EF4-FFF2-40B4-BE49-F238E27FC236}">
                <a16:creationId xmlns:a16="http://schemas.microsoft.com/office/drawing/2014/main" id="{E2CF1C25-708B-BBD1-F805-F1FA4E8D8833}"/>
              </a:ext>
            </a:extLst>
          </p:cNvPr>
          <p:cNvPicPr>
            <a:picLocks noChangeAspect="1"/>
          </p:cNvPicPr>
          <p:nvPr/>
        </p:nvPicPr>
        <p:blipFill>
          <a:blip r:embed="rId4"/>
          <a:srcRect b="27219"/>
          <a:stretch>
            <a:fillRect/>
          </a:stretch>
        </p:blipFill>
        <p:spPr>
          <a:xfrm>
            <a:off x="1534804" y="988201"/>
            <a:ext cx="4648200" cy="2720419"/>
          </a:xfrm>
          <a:prstGeom prst="rect">
            <a:avLst/>
          </a:prstGeom>
        </p:spPr>
      </p:pic>
      <p:pic>
        <p:nvPicPr>
          <p:cNvPr id="9" name="Imagen 8">
            <a:extLst>
              <a:ext uri="{FF2B5EF4-FFF2-40B4-BE49-F238E27FC236}">
                <a16:creationId xmlns:a16="http://schemas.microsoft.com/office/drawing/2014/main" id="{05ECD6B6-25F9-0EA0-0E2D-E1645DD28661}"/>
              </a:ext>
            </a:extLst>
          </p:cNvPr>
          <p:cNvPicPr>
            <a:picLocks noChangeAspect="1"/>
          </p:cNvPicPr>
          <p:nvPr/>
        </p:nvPicPr>
        <p:blipFill>
          <a:blip r:embed="rId4"/>
          <a:srcRect t="70642" r="53186"/>
          <a:stretch>
            <a:fillRect/>
          </a:stretch>
        </p:blipFill>
        <p:spPr>
          <a:xfrm>
            <a:off x="6183004" y="986592"/>
            <a:ext cx="3128636" cy="1577754"/>
          </a:xfrm>
          <a:prstGeom prst="rect">
            <a:avLst/>
          </a:prstGeom>
        </p:spPr>
      </p:pic>
      <p:pic>
        <p:nvPicPr>
          <p:cNvPr id="12" name="Imagen 11">
            <a:extLst>
              <a:ext uri="{FF2B5EF4-FFF2-40B4-BE49-F238E27FC236}">
                <a16:creationId xmlns:a16="http://schemas.microsoft.com/office/drawing/2014/main" id="{EDBF07B3-EBA4-0758-AD29-D0A423835C7C}"/>
              </a:ext>
            </a:extLst>
          </p:cNvPr>
          <p:cNvPicPr>
            <a:picLocks noChangeAspect="1"/>
          </p:cNvPicPr>
          <p:nvPr/>
        </p:nvPicPr>
        <p:blipFill>
          <a:blip r:embed="rId5"/>
          <a:stretch>
            <a:fillRect/>
          </a:stretch>
        </p:blipFill>
        <p:spPr>
          <a:xfrm>
            <a:off x="6335404" y="2708096"/>
            <a:ext cx="4038600" cy="1154527"/>
          </a:xfrm>
          <a:prstGeom prst="rect">
            <a:avLst/>
          </a:prstGeom>
        </p:spPr>
      </p:pic>
    </p:spTree>
    <p:extLst>
      <p:ext uri="{BB962C8B-B14F-4D97-AF65-F5344CB8AC3E}">
        <p14:creationId xmlns:p14="http://schemas.microsoft.com/office/powerpoint/2010/main" val="3772586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35421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(Coupling relationship, </a:t>
            </a:r>
            <a:r>
              <a:rPr lang="en-US" sz="1200" b="1" dirty="0" err="1">
                <a:latin typeface="Arial" panose="020B0604020202020204" pitchFamily="34" charset="0"/>
                <a:cs typeface="Arial" panose="020B0604020202020204" pitchFamily="34" charset="0"/>
              </a:rPr>
              <a:t>Lpi</a:t>
            </a:r>
            <a:r>
              <a:rPr lang="en-US" sz="1200" b="1" dirty="0">
                <a:latin typeface="Arial" panose="020B0604020202020204" pitchFamily="34" charset="0"/>
                <a:cs typeface="Arial" panose="020B0604020202020204" pitchFamily="34" charset="0"/>
              </a:rPr>
              <a:t>,  losses, comparison with Directional Coupler… )</a:t>
            </a:r>
          </a:p>
          <a:p>
            <a:pPr marL="285750" indent="-285750">
              <a:buFont typeface="Arial" panose="020B0604020202020204" pitchFamily="34" charset="0"/>
              <a:buChar char="•"/>
            </a:pPr>
            <a:r>
              <a:rPr lang="es-ES" sz="1400" dirty="0"/>
              <a:t>MMI 2x2 con </a:t>
            </a:r>
            <a:r>
              <a:rPr lang="es-ES" sz="1400" dirty="0" err="1"/>
              <a:t>wMMI</a:t>
            </a:r>
            <a:r>
              <a:rPr lang="es-ES" sz="1400" dirty="0"/>
              <a:t> = 6.6 </a:t>
            </a:r>
            <a:r>
              <a:rPr lang="es-ES" sz="1400" dirty="0" err="1"/>
              <a:t>um</a:t>
            </a:r>
            <a:r>
              <a:rPr lang="es-ES" sz="1400" dirty="0"/>
              <a:t>. Las entradas y salidas se colocan en -W/6 y +W/6, y la longitud usada es L = </a:t>
            </a:r>
            <a:r>
              <a:rPr lang="es-ES" sz="1400" dirty="0" err="1"/>
              <a:t>Lpi</a:t>
            </a:r>
            <a:r>
              <a:rPr lang="es-ES" sz="1400" dirty="0"/>
              <a:t>/2 = 34.52 </a:t>
            </a:r>
            <a:r>
              <a:rPr lang="es-ES" sz="1400" dirty="0" err="1"/>
              <a:t>um</a:t>
            </a:r>
            <a:r>
              <a:rPr lang="es-ES" sz="1400" dirty="0"/>
              <a:t>.</a:t>
            </a:r>
          </a:p>
          <a:p>
            <a:pPr marL="285750" indent="-285750">
              <a:buFont typeface="Arial" panose="020B0604020202020204" pitchFamily="34" charset="0"/>
              <a:buChar char="•"/>
            </a:pPr>
            <a:r>
              <a:rPr lang="es-ES" sz="1400" dirty="0"/>
              <a:t>La potencia se reparte casi al 50/50 entre las dos salidas. El resultado obtenido es 0.5152 / 0.4848, por lo que el comportamiento es bastante cercano al ideal.</a:t>
            </a:r>
          </a:p>
          <a:p>
            <a:pPr marL="285750" indent="-285750">
              <a:buFont typeface="Arial" panose="020B0604020202020204" pitchFamily="34" charset="0"/>
              <a:buChar char="•"/>
            </a:pPr>
            <a:r>
              <a:rPr lang="es-ES" sz="1400" dirty="0"/>
              <a:t>Hay unas pérdidas de 0.4217 dB y un pequeño desbalance. En este caso el MMI reparte la potencia por interferencia entre varios modos, no por acoplo directo entre dos guías como en los acopladores direccionales anteriores.</a:t>
            </a: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D57DCD13-7D30-E29D-8B93-CBA787EFE761}"/>
              </a:ext>
            </a:extLst>
          </p:cNvPr>
          <p:cNvPicPr>
            <a:picLocks noChangeAspect="1"/>
          </p:cNvPicPr>
          <p:nvPr/>
        </p:nvPicPr>
        <p:blipFill>
          <a:blip r:embed="rId4"/>
          <a:stretch>
            <a:fillRect/>
          </a:stretch>
        </p:blipFill>
        <p:spPr>
          <a:xfrm>
            <a:off x="5397979" y="1980682"/>
            <a:ext cx="5703628" cy="2352116"/>
          </a:xfrm>
          <a:prstGeom prst="rect">
            <a:avLst/>
          </a:prstGeom>
        </p:spPr>
      </p:pic>
      <p:pic>
        <p:nvPicPr>
          <p:cNvPr id="9" name="Imagen 8">
            <a:extLst>
              <a:ext uri="{FF2B5EF4-FFF2-40B4-BE49-F238E27FC236}">
                <a16:creationId xmlns:a16="http://schemas.microsoft.com/office/drawing/2014/main" id="{487E2E0F-BB5A-D213-2BC0-B59E279F9A15}"/>
              </a:ext>
            </a:extLst>
          </p:cNvPr>
          <p:cNvPicPr>
            <a:picLocks noChangeAspect="1"/>
          </p:cNvPicPr>
          <p:nvPr/>
        </p:nvPicPr>
        <p:blipFill>
          <a:blip r:embed="rId5"/>
          <a:stretch>
            <a:fillRect/>
          </a:stretch>
        </p:blipFill>
        <p:spPr>
          <a:xfrm>
            <a:off x="1322554" y="1934220"/>
            <a:ext cx="3362312" cy="2376807"/>
          </a:xfrm>
          <a:prstGeom prst="rect">
            <a:avLst/>
          </a:prstGeom>
        </p:spPr>
      </p:pic>
      <p:pic>
        <p:nvPicPr>
          <p:cNvPr id="13" name="Imagen 12">
            <a:extLst>
              <a:ext uri="{FF2B5EF4-FFF2-40B4-BE49-F238E27FC236}">
                <a16:creationId xmlns:a16="http://schemas.microsoft.com/office/drawing/2014/main" id="{441666E8-4932-D74C-C7F3-F4C3EE751739}"/>
              </a:ext>
            </a:extLst>
          </p:cNvPr>
          <p:cNvPicPr>
            <a:picLocks noChangeAspect="1"/>
          </p:cNvPicPr>
          <p:nvPr/>
        </p:nvPicPr>
        <p:blipFill>
          <a:blip r:embed="rId6"/>
          <a:stretch>
            <a:fillRect/>
          </a:stretch>
        </p:blipFill>
        <p:spPr>
          <a:xfrm>
            <a:off x="1322554" y="1751851"/>
            <a:ext cx="2128951" cy="195317"/>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548107"/>
            <a:ext cx="11199971" cy="1600438"/>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400" dirty="0"/>
              <a:t>Se ha optimizado manualmente el MMI modificando la posición de las guías con </a:t>
            </a:r>
            <a:r>
              <a:rPr lang="es-ES" sz="1400" dirty="0" err="1"/>
              <a:t>dy</a:t>
            </a:r>
            <a:r>
              <a:rPr lang="es-ES" sz="1400" dirty="0"/>
              <a:t> y ajustando la longitud con </a:t>
            </a:r>
            <a:r>
              <a:rPr lang="es-ES" sz="1400" dirty="0" err="1"/>
              <a:t>dL_MMI</a:t>
            </a:r>
            <a:r>
              <a:rPr lang="es-ES" sz="1400" dirty="0"/>
              <a:t>. </a:t>
            </a:r>
          </a:p>
          <a:p>
            <a:pPr marL="285750" indent="-285750">
              <a:buFont typeface="Arial" panose="020B0604020202020204" pitchFamily="34" charset="0"/>
              <a:buChar char="•"/>
            </a:pPr>
            <a:r>
              <a:rPr lang="es-ES" sz="1400" dirty="0"/>
              <a:t>El mejor caso obtenido para este apartado es </a:t>
            </a:r>
          </a:p>
          <a:p>
            <a:pPr marL="742950" lvl="1" indent="-285750">
              <a:buFont typeface="Arial" panose="020B0604020202020204" pitchFamily="34" charset="0"/>
              <a:buChar char="•"/>
            </a:pPr>
            <a:r>
              <a:rPr lang="es-ES" sz="1400" dirty="0" err="1"/>
              <a:t>dy</a:t>
            </a:r>
            <a:r>
              <a:rPr lang="es-ES" sz="1400" dirty="0"/>
              <a:t> = 0.05 </a:t>
            </a:r>
            <a:r>
              <a:rPr lang="es-ES" sz="1400" dirty="0" err="1"/>
              <a:t>um</a:t>
            </a:r>
            <a:endParaRPr lang="es-ES" sz="1400" dirty="0"/>
          </a:p>
          <a:p>
            <a:pPr marL="742950" lvl="1" indent="-285750">
              <a:buFont typeface="Arial" panose="020B0604020202020204" pitchFamily="34" charset="0"/>
              <a:buChar char="•"/>
            </a:pPr>
            <a:r>
              <a:rPr lang="es-ES" sz="1400" dirty="0" err="1"/>
              <a:t>dL_MMI</a:t>
            </a:r>
            <a:r>
              <a:rPr lang="es-ES" sz="1400" dirty="0"/>
              <a:t> = -0.50 </a:t>
            </a:r>
            <a:r>
              <a:rPr lang="es-ES" sz="1400" dirty="0" err="1"/>
              <a:t>um</a:t>
            </a:r>
            <a:r>
              <a:rPr lang="es-ES" sz="1400" dirty="0"/>
              <a:t>.</a:t>
            </a:r>
          </a:p>
          <a:p>
            <a:pPr marL="285750" indent="-285750">
              <a:buFont typeface="Arial" panose="020B0604020202020204" pitchFamily="34" charset="0"/>
              <a:buChar char="•"/>
            </a:pPr>
            <a:r>
              <a:rPr lang="es-ES" sz="1400" dirty="0"/>
              <a:t>Comparado con el caso inicial, el reparto mejora de 0.51 /0.48 a 0.50/ 0.49. </a:t>
            </a:r>
          </a:p>
          <a:p>
            <a:pPr marL="285750" indent="-285750">
              <a:buFont typeface="Arial" panose="020B0604020202020204" pitchFamily="34" charset="0"/>
              <a:buChar char="•"/>
            </a:pPr>
            <a:r>
              <a:rPr lang="es-ES" sz="1400" dirty="0"/>
              <a:t>Además, las pérdidas bajan de 0.42 dB a 0.38 dB.</a:t>
            </a:r>
          </a:p>
          <a:p>
            <a:pPr marL="285750" indent="-285750">
              <a:buFont typeface="Arial" panose="020B0604020202020204" pitchFamily="34" charset="0"/>
              <a:buChar char="•"/>
            </a:pPr>
            <a:r>
              <a:rPr lang="es-ES" sz="1400" dirty="0"/>
              <a:t>Por tanto, este ajuste mejora tanto el </a:t>
            </a:r>
            <a:r>
              <a:rPr lang="es-ES" sz="1400" u="sng" dirty="0"/>
              <a:t>balance entre salidas </a:t>
            </a:r>
            <a:r>
              <a:rPr lang="es-ES" sz="1400" dirty="0"/>
              <a:t>como el </a:t>
            </a:r>
            <a:r>
              <a:rPr lang="es-ES" sz="1400" i="1" u="sng" dirty="0" err="1"/>
              <a:t>excess</a:t>
            </a:r>
            <a:r>
              <a:rPr lang="es-ES" sz="1400" i="1" u="sng" dirty="0"/>
              <a:t> </a:t>
            </a:r>
            <a:r>
              <a:rPr lang="es-ES" sz="1400" i="1" u="sng" dirty="0" err="1"/>
              <a:t>loss</a:t>
            </a:r>
            <a:r>
              <a:rPr lang="es-ES" sz="1400" dirty="0"/>
              <a:t>, sin cambiar la anchura de las guías.</a:t>
            </a: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0420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Imagen 14">
            <a:extLst>
              <a:ext uri="{FF2B5EF4-FFF2-40B4-BE49-F238E27FC236}">
                <a16:creationId xmlns:a16="http://schemas.microsoft.com/office/drawing/2014/main" id="{B90B8A9E-3870-A83E-8731-3CAF4BDE4ACF}"/>
              </a:ext>
            </a:extLst>
          </p:cNvPr>
          <p:cNvPicPr>
            <a:picLocks noChangeAspect="1"/>
          </p:cNvPicPr>
          <p:nvPr/>
        </p:nvPicPr>
        <p:blipFill>
          <a:blip r:embed="rId4"/>
          <a:stretch>
            <a:fillRect/>
          </a:stretch>
        </p:blipFill>
        <p:spPr>
          <a:xfrm>
            <a:off x="1219200" y="1629745"/>
            <a:ext cx="3962400" cy="2609850"/>
          </a:xfrm>
          <a:prstGeom prst="rect">
            <a:avLst/>
          </a:prstGeom>
        </p:spPr>
      </p:pic>
      <p:pic>
        <p:nvPicPr>
          <p:cNvPr id="18" name="Imagen 17">
            <a:extLst>
              <a:ext uri="{FF2B5EF4-FFF2-40B4-BE49-F238E27FC236}">
                <a16:creationId xmlns:a16="http://schemas.microsoft.com/office/drawing/2014/main" id="{3C94481E-00A9-1FC9-86B4-F3528CCBDD1D}"/>
              </a:ext>
            </a:extLst>
          </p:cNvPr>
          <p:cNvPicPr>
            <a:picLocks noChangeAspect="1"/>
          </p:cNvPicPr>
          <p:nvPr/>
        </p:nvPicPr>
        <p:blipFill>
          <a:blip r:embed="rId5"/>
          <a:stretch>
            <a:fillRect/>
          </a:stretch>
        </p:blipFill>
        <p:spPr>
          <a:xfrm>
            <a:off x="5715000" y="1905000"/>
            <a:ext cx="5612962" cy="2334595"/>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678740"/>
            <a:ext cx="11199971" cy="1569660"/>
          </a:xfrm>
          <a:prstGeom prst="rect">
            <a:avLst/>
          </a:prstGeom>
          <a:solidFill>
            <a:schemeClr val="bg1">
              <a:lumMod val="95000"/>
            </a:schemeClr>
          </a:solidFill>
          <a:ln w="28575">
            <a:solidFill>
              <a:srgbClr val="E0700D"/>
            </a:solidFill>
          </a:ln>
        </p:spPr>
        <p:txBody>
          <a:bodyPr wrap="square" rtlCol="0">
            <a:spAutoFit/>
          </a:bodyPr>
          <a:lstStyle/>
          <a:p>
            <a:pPr marL="285750" indent="-285750">
              <a:buFont typeface="Arial" panose="020B0604020202020204" pitchFamily="34" charset="0"/>
              <a:buChar char="•"/>
            </a:pPr>
            <a:r>
              <a:rPr lang="es-ES" sz="1600" dirty="0"/>
              <a:t>En esta segunda optimización se ha aumentado la anchura de las guías de entrada y salida con </a:t>
            </a:r>
            <a:r>
              <a:rPr lang="es-ES" sz="1600" dirty="0" err="1"/>
              <a:t>wg_width_dw</a:t>
            </a:r>
            <a:r>
              <a:rPr lang="es-ES" sz="1600" dirty="0"/>
              <a:t> = 0.7 </a:t>
            </a:r>
            <a:r>
              <a:rPr lang="es-ES" sz="1600" dirty="0" err="1"/>
              <a:t>um</a:t>
            </a:r>
            <a:r>
              <a:rPr lang="es-ES" sz="1600" dirty="0"/>
              <a:t>. </a:t>
            </a:r>
          </a:p>
          <a:p>
            <a:pPr marL="285750" indent="-285750">
              <a:buFont typeface="Arial" panose="020B0604020202020204" pitchFamily="34" charset="0"/>
              <a:buChar char="•"/>
            </a:pPr>
            <a:r>
              <a:rPr lang="es-ES" sz="1600" dirty="0"/>
              <a:t>También hemos modificado el ajuste de posición y longitud con </a:t>
            </a:r>
            <a:r>
              <a:rPr lang="es-ES" sz="1600" dirty="0" err="1"/>
              <a:t>dy</a:t>
            </a:r>
            <a:r>
              <a:rPr lang="es-ES" sz="1600" dirty="0"/>
              <a:t> = 0.065 </a:t>
            </a:r>
            <a:r>
              <a:rPr lang="es-ES" sz="1600" dirty="0" err="1"/>
              <a:t>um</a:t>
            </a:r>
            <a:r>
              <a:rPr lang="es-ES" sz="1600" dirty="0"/>
              <a:t> y </a:t>
            </a:r>
            <a:r>
              <a:rPr lang="es-ES" sz="1600" dirty="0" err="1"/>
              <a:t>dL_MMI</a:t>
            </a:r>
            <a:r>
              <a:rPr lang="es-ES" sz="1600" dirty="0"/>
              <a:t> = -0.60 </a:t>
            </a:r>
            <a:r>
              <a:rPr lang="es-ES" sz="1600" dirty="0" err="1"/>
              <a:t>um</a:t>
            </a:r>
            <a:r>
              <a:rPr lang="es-ES" sz="1600" dirty="0"/>
              <a:t>.</a:t>
            </a:r>
          </a:p>
          <a:p>
            <a:pPr marL="285750" indent="-285750">
              <a:buFont typeface="Arial" panose="020B0604020202020204" pitchFamily="34" charset="0"/>
              <a:buChar char="•"/>
            </a:pPr>
            <a:r>
              <a:rPr lang="es-ES" sz="1600" dirty="0"/>
              <a:t>Con este cambio se consigue reducir mucho la pérdida</a:t>
            </a:r>
          </a:p>
          <a:p>
            <a:pPr marL="742950" lvl="1" indent="-285750">
              <a:buFont typeface="Arial" panose="020B0604020202020204" pitchFamily="34" charset="0"/>
              <a:buChar char="•"/>
            </a:pPr>
            <a:r>
              <a:rPr lang="es-ES" sz="1600" dirty="0"/>
              <a:t>el </a:t>
            </a:r>
            <a:r>
              <a:rPr lang="es-ES" sz="1600" dirty="0" err="1"/>
              <a:t>excess</a:t>
            </a:r>
            <a:r>
              <a:rPr lang="es-ES" sz="1600" dirty="0"/>
              <a:t> </a:t>
            </a:r>
            <a:r>
              <a:rPr lang="es-ES" sz="1600" dirty="0" err="1"/>
              <a:t>loss</a:t>
            </a:r>
            <a:r>
              <a:rPr lang="es-ES" sz="1600" dirty="0"/>
              <a:t> baja hasta 0.0773 dB, cumpliendo el objetivo de estar por debajo de 0.1 dB.</a:t>
            </a:r>
          </a:p>
          <a:p>
            <a:pPr marL="285750" indent="-285750">
              <a:buFont typeface="Arial" panose="020B0604020202020204" pitchFamily="34" charset="0"/>
              <a:buChar char="•"/>
            </a:pPr>
            <a:r>
              <a:rPr lang="es-ES" sz="1600" dirty="0"/>
              <a:t>El reparto de potencia queda cercano al 50/50, con ratio 0.5103 / 0.4897. </a:t>
            </a:r>
          </a:p>
          <a:p>
            <a:pPr marL="285750" indent="-285750">
              <a:buFont typeface="Arial" panose="020B0604020202020204" pitchFamily="34" charset="0"/>
              <a:buChar char="•"/>
            </a:pPr>
            <a:r>
              <a:rPr lang="es-ES" sz="1600" dirty="0"/>
              <a:t>Aumentar la anchura de las guías I/O mejora el acoplo de entrada/salida al MMI y reduce claramente las pérdidas.</a:t>
            </a:r>
          </a:p>
        </p:txBody>
      </p:sp>
      <p:sp>
        <p:nvSpPr>
          <p:cNvPr id="7" name="Rectángulo 6">
            <a:extLst>
              <a:ext uri="{FF2B5EF4-FFF2-40B4-BE49-F238E27FC236}">
                <a16:creationId xmlns:a16="http://schemas.microsoft.com/office/drawing/2014/main" id="{C8036B97-F577-1F3C-3CE2-BD45F7D1FFC2}"/>
              </a:ext>
            </a:extLst>
          </p:cNvPr>
          <p:cNvSpPr/>
          <p:nvPr/>
        </p:nvSpPr>
        <p:spPr>
          <a:xfrm>
            <a:off x="609441" y="1236779"/>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B0CFB20A-64F3-A296-71E8-F4FA17D35314}"/>
              </a:ext>
            </a:extLst>
          </p:cNvPr>
          <p:cNvSpPr txBox="1"/>
          <p:nvPr/>
        </p:nvSpPr>
        <p:spPr>
          <a:xfrm>
            <a:off x="228600" y="1524000"/>
            <a:ext cx="11199972" cy="2708434"/>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 and console results</a:t>
            </a:r>
          </a:p>
          <a:p>
            <a:pPr algn="ctr"/>
            <a:endParaRPr lang="en-US" dirty="0"/>
          </a:p>
          <a:p>
            <a:pPr algn="ctr"/>
            <a:endParaRPr lang="en-US" dirty="0"/>
          </a:p>
          <a:p>
            <a:pPr algn="r"/>
            <a:r>
              <a:rPr lang="en-US" sz="1600" b="1" dirty="0"/>
              <a:t>Target</a:t>
            </a:r>
            <a:r>
              <a:rPr lang="en-US" sz="1600" dirty="0"/>
              <a:t>: make ratio over outputs 0.5 + excess loss &lt; 0.1 dB</a:t>
            </a:r>
          </a:p>
          <a:p>
            <a:pPr algn="r"/>
            <a:r>
              <a:rPr lang="en-US" sz="1600" dirty="0"/>
              <a:t>With same settings of previous LO, now modify the notebook so I/O waveguides have a different width. </a:t>
            </a:r>
          </a:p>
          <a:p>
            <a:pPr algn="r"/>
            <a:r>
              <a:rPr lang="en-US" sz="1600" u="sng" dirty="0"/>
              <a:t>- The nominal I/O waveguide width you have been using is 1.0 µm, increase it.</a:t>
            </a:r>
          </a:p>
          <a:p>
            <a:pPr algn="r"/>
            <a:r>
              <a:rPr lang="en-US" sz="1600" b="1" dirty="0"/>
              <a:t>(Warning</a:t>
            </a:r>
            <a:r>
              <a:rPr lang="en-US" sz="1600" dirty="0"/>
              <a:t>! Every time you change the I/O waveguide width you have to re-run modes calculation)</a:t>
            </a:r>
          </a:p>
          <a:p>
            <a:pPr algn="r"/>
            <a:r>
              <a:rPr lang="en-US" sz="1600" b="1" dirty="0"/>
              <a:t>Hints</a:t>
            </a:r>
            <a:r>
              <a:rPr lang="en-US" sz="1600" dirty="0"/>
              <a:t>: observe the 2D EME propagation results to guide you to the best settings of a) and b).</a:t>
            </a:r>
          </a:p>
        </p:txBody>
      </p:sp>
      <p:pic>
        <p:nvPicPr>
          <p:cNvPr id="12" name="Imagen 11">
            <a:extLst>
              <a:ext uri="{FF2B5EF4-FFF2-40B4-BE49-F238E27FC236}">
                <a16:creationId xmlns:a16="http://schemas.microsoft.com/office/drawing/2014/main" id="{8BC538B7-A6B9-531A-F2AF-B69989307827}"/>
              </a:ext>
            </a:extLst>
          </p:cNvPr>
          <p:cNvPicPr>
            <a:picLocks noChangeAspect="1"/>
          </p:cNvPicPr>
          <p:nvPr/>
        </p:nvPicPr>
        <p:blipFill>
          <a:blip r:embed="rId4"/>
          <a:stretch>
            <a:fillRect/>
          </a:stretch>
        </p:blipFill>
        <p:spPr>
          <a:xfrm>
            <a:off x="5189424" y="1595120"/>
            <a:ext cx="6511767" cy="2708434"/>
          </a:xfrm>
          <a:prstGeom prst="rect">
            <a:avLst/>
          </a:prstGeom>
        </p:spPr>
      </p:pic>
      <p:pic>
        <p:nvPicPr>
          <p:cNvPr id="14" name="Imagen 13">
            <a:extLst>
              <a:ext uri="{FF2B5EF4-FFF2-40B4-BE49-F238E27FC236}">
                <a16:creationId xmlns:a16="http://schemas.microsoft.com/office/drawing/2014/main" id="{B5789AE8-A41C-8B26-A79B-D6CF5FF1452A}"/>
              </a:ext>
            </a:extLst>
          </p:cNvPr>
          <p:cNvPicPr>
            <a:picLocks noChangeAspect="1"/>
          </p:cNvPicPr>
          <p:nvPr/>
        </p:nvPicPr>
        <p:blipFill>
          <a:blip r:embed="rId5"/>
          <a:stretch>
            <a:fillRect/>
          </a:stretch>
        </p:blipFill>
        <p:spPr>
          <a:xfrm>
            <a:off x="830218" y="1345419"/>
            <a:ext cx="4359206" cy="3131554"/>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b="0" dirty="0" err="1"/>
              <a:t>wMMI</a:t>
            </a:r>
            <a:r>
              <a:rPr lang="en-US" b="0" dirty="0"/>
              <a:t> = 12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50876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Repeat all the design process for a 1x4 MMI Coupler.  </a:t>
            </a:r>
          </a:p>
          <a:p>
            <a:pPr marL="285750" indent="-285750">
              <a:buFont typeface="Arial" panose="020B0604020202020204" pitchFamily="34" charset="0"/>
              <a:buChar char="•"/>
            </a:pPr>
            <a:r>
              <a:rPr lang="es-ES" sz="1400" dirty="0"/>
              <a:t>Hemos diseñado un MMI 1x4 con una entrada centrada y cuatro salidas colocadas simétricamente. </a:t>
            </a:r>
          </a:p>
          <a:p>
            <a:pPr marL="285750" indent="-285750">
              <a:buFont typeface="Arial" panose="020B0604020202020204" pitchFamily="34" charset="0"/>
              <a:buChar char="•"/>
            </a:pPr>
            <a:r>
              <a:rPr lang="es-ES" sz="1400" dirty="0"/>
              <a:t>Hemos elegido </a:t>
            </a:r>
            <a:r>
              <a:rPr lang="es-ES" sz="1400" dirty="0" err="1"/>
              <a:t>wMMI</a:t>
            </a:r>
            <a:r>
              <a:rPr lang="es-ES" sz="1400" dirty="0"/>
              <a:t> = 12.0 </a:t>
            </a:r>
            <a:r>
              <a:rPr lang="es-ES" sz="1400" dirty="0" err="1"/>
              <a:t>um</a:t>
            </a:r>
            <a:r>
              <a:rPr lang="es-ES" sz="1400" dirty="0"/>
              <a:t> para poder colocar las cuatro guías de salida.</a:t>
            </a:r>
          </a:p>
          <a:p>
            <a:pPr marL="285750" indent="-285750">
              <a:buFont typeface="Arial" panose="020B0604020202020204" pitchFamily="34" charset="0"/>
              <a:buChar char="•"/>
            </a:pPr>
            <a:r>
              <a:rPr lang="es-ES" sz="1400" dirty="0"/>
              <a:t>El reparto de potencia es bastante cercano al ideal de 0.25 en cada salida</a:t>
            </a:r>
          </a:p>
          <a:p>
            <a:pPr marL="742950" lvl="1" indent="-285750">
              <a:buFont typeface="Arial" panose="020B0604020202020204" pitchFamily="34" charset="0"/>
              <a:buChar char="•"/>
            </a:pPr>
            <a:r>
              <a:rPr lang="es-ES" sz="1400" dirty="0"/>
              <a:t>los ratios obtenidos son 0.2463, 0.2537, 0.2538, 0.2462.</a:t>
            </a:r>
          </a:p>
          <a:p>
            <a:pPr marL="285750" indent="-285750">
              <a:buFont typeface="Arial" panose="020B0604020202020204" pitchFamily="34" charset="0"/>
              <a:buChar char="•"/>
            </a:pPr>
            <a:r>
              <a:rPr lang="es-ES" sz="1400" dirty="0"/>
              <a:t>Para reducir pérdidas hemos aumentado la anchura de las guías de entrada /salida con </a:t>
            </a:r>
            <a:r>
              <a:rPr lang="es-ES" sz="1400" dirty="0" err="1"/>
              <a:t>wg_width_dw</a:t>
            </a:r>
            <a:r>
              <a:rPr lang="es-ES" sz="1400" dirty="0"/>
              <a:t> = 0.6 </a:t>
            </a:r>
            <a:r>
              <a:rPr lang="es-ES" sz="1400" dirty="0" err="1"/>
              <a:t>um</a:t>
            </a:r>
            <a:r>
              <a:rPr lang="es-ES" sz="1400" dirty="0"/>
              <a:t> y la longitud con </a:t>
            </a:r>
            <a:r>
              <a:rPr lang="es-ES" sz="1400" dirty="0" err="1"/>
              <a:t>dL_MMI</a:t>
            </a:r>
            <a:r>
              <a:rPr lang="es-ES" sz="1400" dirty="0"/>
              <a:t> = -0.5 </a:t>
            </a:r>
            <a:r>
              <a:rPr lang="es-ES" sz="1400" dirty="0" err="1"/>
              <a:t>um</a:t>
            </a:r>
            <a:r>
              <a:rPr lang="es-ES" sz="1400" dirty="0"/>
              <a:t>. </a:t>
            </a:r>
          </a:p>
          <a:p>
            <a:pPr marL="285750" indent="-285750">
              <a:buFont typeface="Arial" panose="020B0604020202020204" pitchFamily="34" charset="0"/>
              <a:buChar char="•"/>
            </a:pPr>
            <a:r>
              <a:rPr lang="es-ES" sz="1400" dirty="0"/>
              <a:t>Con esto el </a:t>
            </a:r>
            <a:r>
              <a:rPr lang="es-ES" sz="1400" i="1" dirty="0" err="1"/>
              <a:t>excess</a:t>
            </a:r>
            <a:r>
              <a:rPr lang="es-ES" sz="1400" i="1" dirty="0"/>
              <a:t> </a:t>
            </a:r>
            <a:r>
              <a:rPr lang="es-ES" sz="1400" i="1" dirty="0" err="1"/>
              <a:t>loss</a:t>
            </a:r>
            <a:r>
              <a:rPr lang="es-ES" sz="1400" i="1" dirty="0"/>
              <a:t> </a:t>
            </a:r>
            <a:r>
              <a:rPr lang="es-ES" sz="1400" dirty="0"/>
              <a:t>baja hasta 0.2097 dB.</a:t>
            </a:r>
          </a:p>
        </p:txBody>
      </p:sp>
      <p:sp>
        <p:nvSpPr>
          <p:cNvPr id="7" name="Rectángulo 6">
            <a:extLst>
              <a:ext uri="{FF2B5EF4-FFF2-40B4-BE49-F238E27FC236}">
                <a16:creationId xmlns:a16="http://schemas.microsoft.com/office/drawing/2014/main" id="{AFB86587-21D4-5A33-7D00-DDF170C919BA}"/>
              </a:ext>
            </a:extLst>
          </p:cNvPr>
          <p:cNvSpPr/>
          <p:nvPr/>
        </p:nvSpPr>
        <p:spPr>
          <a:xfrm>
            <a:off x="609441" y="1277396"/>
            <a:ext cx="11199971" cy="3095432"/>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3506757-32B7-9151-DA89-AADDB7F7D093}"/>
              </a:ext>
            </a:extLst>
          </p:cNvPr>
          <p:cNvSpPr txBox="1"/>
          <p:nvPr/>
        </p:nvSpPr>
        <p:spPr>
          <a:xfrm>
            <a:off x="2286000" y="2630415"/>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propagation plots and console results</a:t>
            </a:r>
          </a:p>
        </p:txBody>
      </p:sp>
      <p:pic>
        <p:nvPicPr>
          <p:cNvPr id="9" name="Imagen 8">
            <a:extLst>
              <a:ext uri="{FF2B5EF4-FFF2-40B4-BE49-F238E27FC236}">
                <a16:creationId xmlns:a16="http://schemas.microsoft.com/office/drawing/2014/main" id="{543B08EE-498B-B4D2-8671-D76EC46A961F}"/>
              </a:ext>
            </a:extLst>
          </p:cNvPr>
          <p:cNvPicPr>
            <a:picLocks noChangeAspect="1"/>
          </p:cNvPicPr>
          <p:nvPr/>
        </p:nvPicPr>
        <p:blipFill>
          <a:blip r:embed="rId4"/>
          <a:stretch>
            <a:fillRect/>
          </a:stretch>
        </p:blipFill>
        <p:spPr>
          <a:xfrm>
            <a:off x="6183005" y="1747622"/>
            <a:ext cx="5467350" cy="2514600"/>
          </a:xfrm>
          <a:prstGeom prst="rect">
            <a:avLst/>
          </a:prstGeom>
        </p:spPr>
      </p:pic>
      <p:pic>
        <p:nvPicPr>
          <p:cNvPr id="13" name="Imagen 12">
            <a:extLst>
              <a:ext uri="{FF2B5EF4-FFF2-40B4-BE49-F238E27FC236}">
                <a16:creationId xmlns:a16="http://schemas.microsoft.com/office/drawing/2014/main" id="{6333A436-992E-D731-403C-47CAD4CD75E5}"/>
              </a:ext>
            </a:extLst>
          </p:cNvPr>
          <p:cNvPicPr>
            <a:picLocks noChangeAspect="1"/>
          </p:cNvPicPr>
          <p:nvPr/>
        </p:nvPicPr>
        <p:blipFill>
          <a:blip r:embed="rId5"/>
          <a:stretch>
            <a:fillRect/>
          </a:stretch>
        </p:blipFill>
        <p:spPr>
          <a:xfrm>
            <a:off x="729910" y="1681456"/>
            <a:ext cx="5492526" cy="2530265"/>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Make conclusions and observations from your results</a:t>
            </a:r>
          </a:p>
          <a:p>
            <a:pPr marL="171450" indent="-171450">
              <a:buFont typeface="Arial" panose="020B0604020202020204" pitchFamily="34" charset="0"/>
              <a:buChar char="•"/>
            </a:pPr>
            <a:r>
              <a:rPr lang="es-ES" sz="1200" dirty="0"/>
              <a:t>En esta simulación se observa como al aumentar el gap aumenta </a:t>
            </a:r>
            <a:r>
              <a:rPr lang="es-ES" sz="1200" dirty="0" err="1"/>
              <a:t>Lpi</a:t>
            </a:r>
            <a:r>
              <a:rPr lang="es-ES" sz="1200" dirty="0"/>
              <a:t>. Este resultado tiene sentido, cuanto más separadas están las guías menor es el acoplamiento y más longitud hace falta para transferir potencia.</a:t>
            </a:r>
          </a:p>
          <a:p>
            <a:pPr marL="171450" indent="-171450">
              <a:buFont typeface="Arial" panose="020B0604020202020204" pitchFamily="34" charset="0"/>
              <a:buChar char="•"/>
            </a:pPr>
            <a:r>
              <a:rPr lang="es-ES" sz="1200" dirty="0"/>
              <a:t>En la guía </a:t>
            </a:r>
            <a:r>
              <a:rPr lang="es-ES" sz="1200" b="1" dirty="0" err="1"/>
              <a:t>deep</a:t>
            </a:r>
            <a:r>
              <a:rPr lang="es-ES" sz="1200" dirty="0"/>
              <a:t>, </a:t>
            </a:r>
            <a:r>
              <a:rPr lang="es-ES" sz="1200" dirty="0" err="1"/>
              <a:t>Lpi</a:t>
            </a:r>
            <a:r>
              <a:rPr lang="es-ES" sz="1200" dirty="0"/>
              <a:t> crece muy rápido sobre todo para el modo TE. Esto muestra que para gaps grandes las guías quedan prácticamente desacopladas.</a:t>
            </a:r>
          </a:p>
          <a:p>
            <a:pPr marL="171450" indent="-171450">
              <a:buFont typeface="Arial" panose="020B0604020202020204" pitchFamily="34" charset="0"/>
              <a:buChar char="•"/>
            </a:pPr>
            <a:r>
              <a:rPr lang="es-ES" sz="1200" dirty="0"/>
              <a:t>En la guía </a:t>
            </a:r>
            <a:r>
              <a:rPr lang="es-ES" sz="1200" b="1" dirty="0" err="1"/>
              <a:t>shallow</a:t>
            </a:r>
            <a:r>
              <a:rPr lang="es-ES" sz="1200" dirty="0"/>
              <a:t>, el caso TM crece muchísimo al final, sobre todo para gap = 2.4 </a:t>
            </a:r>
            <a:r>
              <a:rPr lang="es-ES" sz="1200" dirty="0" err="1"/>
              <a:t>um</a:t>
            </a:r>
            <a:r>
              <a:rPr lang="es-ES" sz="1200" dirty="0"/>
              <a:t>. Esto indica que las dos guías apenas se están acoplando, por lo que el valor de </a:t>
            </a:r>
            <a:r>
              <a:rPr lang="es-ES" sz="1200" dirty="0" err="1"/>
              <a:t>Lpi</a:t>
            </a:r>
            <a:r>
              <a:rPr lang="es-ES" sz="1200" dirty="0"/>
              <a:t> sale enorme y puede ser menos fiable.</a:t>
            </a:r>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93E63C71-320A-FCC8-E50A-7F1E06BBAF6B}"/>
              </a:ext>
            </a:extLst>
          </p:cNvPr>
          <p:cNvPicPr>
            <a:picLocks noChangeAspect="1"/>
          </p:cNvPicPr>
          <p:nvPr/>
        </p:nvPicPr>
        <p:blipFill>
          <a:blip r:embed="rId7"/>
          <a:stretch>
            <a:fillRect/>
          </a:stretch>
        </p:blipFill>
        <p:spPr>
          <a:xfrm>
            <a:off x="972382" y="1553550"/>
            <a:ext cx="4760675" cy="2956567"/>
          </a:xfrm>
          <a:prstGeom prst="rect">
            <a:avLst/>
          </a:prstGeom>
        </p:spPr>
      </p:pic>
      <p:pic>
        <p:nvPicPr>
          <p:cNvPr id="12" name="Imagen 11">
            <a:extLst>
              <a:ext uri="{FF2B5EF4-FFF2-40B4-BE49-F238E27FC236}">
                <a16:creationId xmlns:a16="http://schemas.microsoft.com/office/drawing/2014/main" id="{3654E6D6-D58A-DECD-2CEA-02CC77C8F25E}"/>
              </a:ext>
            </a:extLst>
          </p:cNvPr>
          <p:cNvPicPr>
            <a:picLocks noChangeAspect="1"/>
          </p:cNvPicPr>
          <p:nvPr/>
        </p:nvPicPr>
        <p:blipFill>
          <a:blip r:embed="rId8"/>
          <a:stretch>
            <a:fillRect/>
          </a:stretch>
        </p:blipFill>
        <p:spPr>
          <a:xfrm>
            <a:off x="6431063" y="1535676"/>
            <a:ext cx="5078525" cy="3153963"/>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181326FD-308E-2C47-D5D2-57B3357241AA}"/>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marL="171450" indent="-171450">
              <a:buFont typeface="Arial" panose="020B0604020202020204" pitchFamily="34" charset="0"/>
              <a:buChar char="•"/>
            </a:pPr>
            <a:r>
              <a:rPr lang="es-ES" sz="1200" dirty="0"/>
              <a:t>En el caso </a:t>
            </a:r>
            <a:r>
              <a:rPr lang="es-ES" sz="1200" b="1" dirty="0" err="1"/>
              <a:t>deep</a:t>
            </a:r>
            <a:r>
              <a:rPr lang="es-ES" sz="1200" dirty="0"/>
              <a:t>, al aumentar la longitud de onda disminuye </a:t>
            </a:r>
            <a:r>
              <a:rPr lang="es-ES" sz="1200" dirty="0" err="1"/>
              <a:t>Lpi</a:t>
            </a:r>
            <a:r>
              <a:rPr lang="es-ES" sz="1200" dirty="0"/>
              <a:t> tanto para TE como para TM. Esto tiene sentido porque, para el mismo gap, el campo está menos confinado a longitudes de onda mayores y el acoplamiento entre guías aumenta. Por tanto, se necesita menos longitud para transferir potencia.</a:t>
            </a:r>
          </a:p>
          <a:p>
            <a:pPr marL="171450" indent="-171450">
              <a:buFont typeface="Arial" panose="020B0604020202020204" pitchFamily="34" charset="0"/>
              <a:buChar char="•"/>
            </a:pPr>
            <a:r>
              <a:rPr lang="es-ES" sz="1200" dirty="0"/>
              <a:t>En </a:t>
            </a:r>
            <a:r>
              <a:rPr lang="es-ES" sz="1200" dirty="0" err="1"/>
              <a:t>deep</a:t>
            </a:r>
            <a:r>
              <a:rPr lang="es-ES" sz="1200" dirty="0"/>
              <a:t>, TE pasa de 67 </a:t>
            </a:r>
            <a:r>
              <a:rPr lang="es-ES" sz="1200" dirty="0" err="1"/>
              <a:t>um</a:t>
            </a:r>
            <a:r>
              <a:rPr lang="es-ES" sz="1200" dirty="0"/>
              <a:t> a 40 </a:t>
            </a:r>
            <a:r>
              <a:rPr lang="es-ES" sz="1200" dirty="0" err="1"/>
              <a:t>um</a:t>
            </a:r>
            <a:r>
              <a:rPr lang="es-ES" sz="1200" dirty="0"/>
              <a:t>, y TM pasa de 41 </a:t>
            </a:r>
            <a:r>
              <a:rPr lang="es-ES" sz="1200" dirty="0" err="1"/>
              <a:t>um</a:t>
            </a:r>
            <a:r>
              <a:rPr lang="es-ES" sz="1200" dirty="0"/>
              <a:t> a 31 </a:t>
            </a:r>
            <a:r>
              <a:rPr lang="es-ES" sz="1200" dirty="0" err="1"/>
              <a:t>um</a:t>
            </a:r>
            <a:r>
              <a:rPr lang="es-ES" sz="1200" dirty="0"/>
              <a:t>. TM tiene menor </a:t>
            </a:r>
            <a:r>
              <a:rPr lang="es-ES" sz="1200" dirty="0" err="1"/>
              <a:t>Lpi</a:t>
            </a:r>
            <a:r>
              <a:rPr lang="es-ES" sz="1200" dirty="0"/>
              <a:t> que TE, así que para esta geometría se acopla más rápido.</a:t>
            </a:r>
          </a:p>
          <a:p>
            <a:pPr marL="171450" indent="-171450">
              <a:buFont typeface="Arial" panose="020B0604020202020204" pitchFamily="34" charset="0"/>
              <a:buChar char="•"/>
            </a:pPr>
            <a:r>
              <a:rPr lang="es-ES" sz="1200" dirty="0"/>
              <a:t>En el caso </a:t>
            </a:r>
            <a:r>
              <a:rPr lang="es-ES" sz="1200" b="1" dirty="0" err="1"/>
              <a:t>shallow</a:t>
            </a:r>
            <a:r>
              <a:rPr lang="es-ES" sz="1200" dirty="0"/>
              <a:t>, TE también disminuye suavemente, de 42 </a:t>
            </a:r>
            <a:r>
              <a:rPr lang="es-ES" sz="1200" dirty="0" err="1"/>
              <a:t>um</a:t>
            </a:r>
            <a:r>
              <a:rPr lang="es-ES" sz="1200" dirty="0"/>
              <a:t> a 33 </a:t>
            </a:r>
            <a:r>
              <a:rPr lang="es-ES" sz="1200" dirty="0" err="1"/>
              <a:t>um</a:t>
            </a:r>
            <a:r>
              <a:rPr lang="es-ES" sz="1200" dirty="0"/>
              <a:t>. En cambio, TM tiene valores mucho más grandes (empieza en 850 </a:t>
            </a:r>
            <a:r>
              <a:rPr lang="es-ES" sz="1200" dirty="0" err="1"/>
              <a:t>um</a:t>
            </a:r>
            <a:r>
              <a:rPr lang="es-ES" sz="1200" dirty="0"/>
              <a:t> aprox. y baja hasta unos 400 </a:t>
            </a:r>
            <a:r>
              <a:rPr lang="es-ES" sz="1200" dirty="0" err="1"/>
              <a:t>um</a:t>
            </a:r>
            <a:r>
              <a:rPr lang="es-ES" sz="1200" dirty="0"/>
              <a:t> y luego vuelve a subir ligeramente. Esto puede indicar que la polarización TM en </a:t>
            </a:r>
            <a:r>
              <a:rPr lang="es-ES" sz="1200" dirty="0" err="1"/>
              <a:t>shallow</a:t>
            </a:r>
            <a:r>
              <a:rPr lang="es-ES" sz="1200" dirty="0"/>
              <a:t> se acopla mucho menos que TE y es más sensible a la longitud de onda.</a:t>
            </a:r>
          </a:p>
          <a:p>
            <a:pPr marL="171450" indent="-171450">
              <a:buFont typeface="Arial" panose="020B0604020202020204" pitchFamily="34" charset="0"/>
              <a:buChar char="•"/>
            </a:pPr>
            <a:r>
              <a:rPr lang="es-ES" sz="1200" dirty="0"/>
              <a:t>Se podría afirmar que el acoplador direccional depende claramente de la longitud de onda y de la polarización. Además el comportamiento de la guía </a:t>
            </a:r>
            <a:r>
              <a:rPr lang="es-ES" sz="1200" dirty="0" err="1"/>
              <a:t>shallow</a:t>
            </a:r>
            <a:r>
              <a:rPr lang="es-ES" sz="1200" dirty="0"/>
              <a:t> es muy distinto al de la </a:t>
            </a:r>
            <a:r>
              <a:rPr lang="es-ES" sz="1200" dirty="0" err="1"/>
              <a:t>deep</a:t>
            </a:r>
            <a:r>
              <a:rPr lang="es-ES" sz="1200" dirty="0"/>
              <a:t>, sobre todo para el modo TM.</a:t>
            </a: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38D9464C-04C9-597A-BA33-6CE9C5989C1D}"/>
              </a:ext>
            </a:extLst>
          </p:cNvPr>
          <p:cNvPicPr>
            <a:picLocks noChangeAspect="1"/>
          </p:cNvPicPr>
          <p:nvPr/>
        </p:nvPicPr>
        <p:blipFill>
          <a:blip r:embed="rId7"/>
          <a:stretch>
            <a:fillRect/>
          </a:stretch>
        </p:blipFill>
        <p:spPr>
          <a:xfrm>
            <a:off x="711279" y="1490610"/>
            <a:ext cx="5192880" cy="3220900"/>
          </a:xfrm>
          <a:prstGeom prst="rect">
            <a:avLst/>
          </a:prstGeom>
        </p:spPr>
      </p:pic>
      <p:pic>
        <p:nvPicPr>
          <p:cNvPr id="12" name="Imagen 11">
            <a:extLst>
              <a:ext uri="{FF2B5EF4-FFF2-40B4-BE49-F238E27FC236}">
                <a16:creationId xmlns:a16="http://schemas.microsoft.com/office/drawing/2014/main" id="{025670CE-1751-5277-7DFA-437290FBE3A5}"/>
              </a:ext>
            </a:extLst>
          </p:cNvPr>
          <p:cNvPicPr>
            <a:picLocks noChangeAspect="1"/>
          </p:cNvPicPr>
          <p:nvPr/>
        </p:nvPicPr>
        <p:blipFill>
          <a:blip r:embed="rId8"/>
          <a:stretch>
            <a:fillRect/>
          </a:stretch>
        </p:blipFill>
        <p:spPr>
          <a:xfrm>
            <a:off x="6361771" y="1511173"/>
            <a:ext cx="5220787" cy="3238210"/>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marL="171450" indent="-171450">
              <a:buFont typeface="Arial" panose="020B0604020202020204" pitchFamily="34" charset="0"/>
              <a:buChar char="•"/>
            </a:pPr>
            <a:r>
              <a:rPr lang="es-ES" sz="1200" dirty="0"/>
              <a:t>En el MMI se observa que </a:t>
            </a:r>
            <a:r>
              <a:rPr lang="es-ES" sz="1200" dirty="0" err="1"/>
              <a:t>Lpi</a:t>
            </a:r>
            <a:r>
              <a:rPr lang="es-ES" sz="1200" dirty="0"/>
              <a:t> cambia con la longitud de onda, pero de forma suave. La diferencia entre TE y TM es pequeña comparada con el acoplador direccional. En el MMI las curvas TE y TM están bastante cerca, mientras que en el </a:t>
            </a:r>
            <a:r>
              <a:rPr lang="es-ES" sz="1200" dirty="0" err="1"/>
              <a:t>directional</a:t>
            </a:r>
            <a:r>
              <a:rPr lang="es-ES" sz="1200" dirty="0"/>
              <a:t> </a:t>
            </a:r>
            <a:r>
              <a:rPr lang="es-ES" sz="1200" dirty="0" err="1"/>
              <a:t>coupler</a:t>
            </a:r>
            <a:r>
              <a:rPr lang="es-ES" sz="1200" dirty="0"/>
              <a:t>, especialmente en </a:t>
            </a:r>
            <a:r>
              <a:rPr lang="es-ES" sz="1200" dirty="0" err="1"/>
              <a:t>shallow</a:t>
            </a:r>
            <a:r>
              <a:rPr lang="es-ES" sz="1200" dirty="0"/>
              <a:t>, TM tenía valores de </a:t>
            </a:r>
            <a:r>
              <a:rPr lang="es-ES" sz="1200" dirty="0" err="1"/>
              <a:t>Lpi</a:t>
            </a:r>
            <a:r>
              <a:rPr lang="es-ES" sz="1200" dirty="0"/>
              <a:t> mucho más grandes que TE.</a:t>
            </a:r>
          </a:p>
          <a:p>
            <a:pPr marL="171450" indent="-171450">
              <a:buFont typeface="Arial" panose="020B0604020202020204" pitchFamily="34" charset="0"/>
              <a:buChar char="•"/>
            </a:pPr>
            <a:r>
              <a:rPr lang="es-ES" sz="1200" dirty="0"/>
              <a:t>Comparado con el </a:t>
            </a:r>
            <a:r>
              <a:rPr lang="es-ES" sz="1200" dirty="0" err="1"/>
              <a:t>directional</a:t>
            </a:r>
            <a:r>
              <a:rPr lang="es-ES" sz="1200" dirty="0"/>
              <a:t> </a:t>
            </a:r>
            <a:r>
              <a:rPr lang="es-ES" sz="1200" dirty="0" err="1"/>
              <a:t>coupler</a:t>
            </a:r>
            <a:r>
              <a:rPr lang="es-ES" sz="1200" dirty="0"/>
              <a:t>, el MMI parece menos sensible a la longitud de onda. En el </a:t>
            </a:r>
            <a:r>
              <a:rPr lang="es-ES" sz="1200" dirty="0" err="1"/>
              <a:t>directional</a:t>
            </a:r>
            <a:r>
              <a:rPr lang="es-ES" sz="1200" dirty="0"/>
              <a:t> </a:t>
            </a:r>
            <a:r>
              <a:rPr lang="es-ES" sz="1200" dirty="0" err="1"/>
              <a:t>coupler</a:t>
            </a:r>
            <a:r>
              <a:rPr lang="es-ES" sz="1200" dirty="0"/>
              <a:t> </a:t>
            </a:r>
            <a:r>
              <a:rPr lang="es-ES" sz="1200" dirty="0" err="1"/>
              <a:t>Lpi</a:t>
            </a:r>
            <a:r>
              <a:rPr lang="es-ES" sz="1200" dirty="0"/>
              <a:t> cambiaba mucho más al variar lambda, porque el acoplo depende directamente del campo evanescente entre dos guías. En cambio en el MMI el reparto se produce por interferencia entre varios modos dentro de una región multimodo, por lo que la variación es más suave.</a:t>
            </a:r>
          </a:p>
          <a:p>
            <a:pPr marL="171450" indent="-171450">
              <a:buFont typeface="Arial" panose="020B0604020202020204" pitchFamily="34" charset="0"/>
              <a:buChar char="•"/>
            </a:pPr>
            <a:r>
              <a:rPr lang="es-ES" sz="1200" dirty="0"/>
              <a:t>Se podría concluir que el acoplador MMI también depende de la longitud de onda, pero este es más estable que el acoplador direccional y presenta una diferencia menor entre TE y TM. Esto hace que el MMI sea más “robusto” frente a cambios de longitud de onda.</a:t>
            </a:r>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E0F5F483-DF07-C697-F6B7-0CF409E648F4}"/>
              </a:ext>
            </a:extLst>
          </p:cNvPr>
          <p:cNvPicPr>
            <a:picLocks noChangeAspect="1"/>
          </p:cNvPicPr>
          <p:nvPr/>
        </p:nvPicPr>
        <p:blipFill>
          <a:blip r:embed="rId7"/>
          <a:stretch>
            <a:fillRect/>
          </a:stretch>
        </p:blipFill>
        <p:spPr>
          <a:xfrm>
            <a:off x="762000" y="1502459"/>
            <a:ext cx="5105400" cy="3166641"/>
          </a:xfrm>
          <a:prstGeom prst="rect">
            <a:avLst/>
          </a:prstGeom>
        </p:spPr>
      </p:pic>
      <p:pic>
        <p:nvPicPr>
          <p:cNvPr id="12" name="Imagen 11">
            <a:extLst>
              <a:ext uri="{FF2B5EF4-FFF2-40B4-BE49-F238E27FC236}">
                <a16:creationId xmlns:a16="http://schemas.microsoft.com/office/drawing/2014/main" id="{505E4646-AB79-6AF7-7894-5871F7C64B8B}"/>
              </a:ext>
            </a:extLst>
          </p:cNvPr>
          <p:cNvPicPr>
            <a:picLocks noChangeAspect="1"/>
          </p:cNvPicPr>
          <p:nvPr/>
        </p:nvPicPr>
        <p:blipFill>
          <a:blip r:embed="rId8"/>
          <a:stretch>
            <a:fillRect/>
          </a:stretch>
        </p:blipFill>
        <p:spPr>
          <a:xfrm>
            <a:off x="6413403" y="1464572"/>
            <a:ext cx="5234858" cy="3246938"/>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8D88CB07-C5F5-9BB7-9F41-E171F0F0E2B9}"/>
              </a:ext>
            </a:extLst>
          </p:cNvPr>
          <p:cNvSpPr txBox="1"/>
          <p:nvPr/>
        </p:nvSpPr>
        <p:spPr>
          <a:xfrm>
            <a:off x="609441" y="4495800"/>
            <a:ext cx="11199971" cy="184665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marL="171450" indent="-171450">
              <a:buFont typeface="Arial" panose="020B0604020202020204" pitchFamily="34" charset="0"/>
              <a:buChar char="•"/>
            </a:pPr>
            <a:r>
              <a:rPr lang="es-ES" sz="1200" dirty="0"/>
              <a:t>En este último extra se ve que al aumentar la anchura del cuerpo MMI también aumenta </a:t>
            </a:r>
            <a:r>
              <a:rPr lang="es-ES" sz="1200" dirty="0" err="1"/>
              <a:t>Lpi</a:t>
            </a:r>
            <a:r>
              <a:rPr lang="es-ES" sz="1200" dirty="0"/>
              <a:t>, tanto en </a:t>
            </a:r>
            <a:r>
              <a:rPr lang="es-ES" sz="1200" dirty="0" err="1"/>
              <a:t>deep</a:t>
            </a:r>
            <a:r>
              <a:rPr lang="es-ES" sz="1200" dirty="0"/>
              <a:t> como en </a:t>
            </a:r>
            <a:r>
              <a:rPr lang="es-ES" sz="1200" dirty="0" err="1"/>
              <a:t>shallow</a:t>
            </a:r>
            <a:r>
              <a:rPr lang="es-ES" sz="1200" dirty="0"/>
              <a:t>. Esto tiene sentido porque un MMI más ancho necesita más longitud para que se forme correctamente la autoimagen.</a:t>
            </a:r>
          </a:p>
          <a:p>
            <a:pPr marL="171450" indent="-171450">
              <a:buFont typeface="Arial" panose="020B0604020202020204" pitchFamily="34" charset="0"/>
              <a:buChar char="•"/>
            </a:pPr>
            <a:r>
              <a:rPr lang="es-ES" sz="1200" dirty="0"/>
              <a:t>Las curvas TE y TM son bastante parecidas, mucho más cercanas que en el acoplador direccional. En </a:t>
            </a:r>
            <a:r>
              <a:rPr lang="es-ES" sz="1200" dirty="0" err="1"/>
              <a:t>deep</a:t>
            </a:r>
            <a:r>
              <a:rPr lang="es-ES" sz="1200" dirty="0"/>
              <a:t>, TM queda siempre un poco por encima de TE, y el punto más cercano está en </a:t>
            </a:r>
            <a:r>
              <a:rPr lang="es-ES" sz="1200" dirty="0" err="1"/>
              <a:t>wMMI</a:t>
            </a:r>
            <a:r>
              <a:rPr lang="es-ES" sz="1200" dirty="0"/>
              <a:t> = 10 </a:t>
            </a:r>
            <a:r>
              <a:rPr lang="es-ES" sz="1200" dirty="0" err="1"/>
              <a:t>um</a:t>
            </a:r>
            <a:r>
              <a:rPr lang="es-ES" sz="1200" dirty="0"/>
              <a:t>, con </a:t>
            </a:r>
            <a:r>
              <a:rPr lang="es-ES" sz="1200" dirty="0" err="1"/>
              <a:t>Lpi_TE</a:t>
            </a:r>
            <a:r>
              <a:rPr lang="es-ES" sz="1200" dirty="0"/>
              <a:t> = 153.77 </a:t>
            </a:r>
            <a:r>
              <a:rPr lang="es-ES" sz="1200" dirty="0" err="1"/>
              <a:t>um</a:t>
            </a:r>
            <a:r>
              <a:rPr lang="es-ES" sz="1200" dirty="0"/>
              <a:t> </a:t>
            </a:r>
            <a:r>
              <a:rPr lang="es-ES" sz="1600" dirty="0"/>
              <a:t>≈</a:t>
            </a:r>
            <a:r>
              <a:rPr lang="es-ES" dirty="0"/>
              <a:t> </a:t>
            </a:r>
            <a:r>
              <a:rPr lang="es-ES" sz="1200" dirty="0" err="1"/>
              <a:t>Lpi_TM</a:t>
            </a:r>
            <a:r>
              <a:rPr lang="es-ES" sz="1200" dirty="0"/>
              <a:t> = 155.37 </a:t>
            </a:r>
            <a:r>
              <a:rPr lang="es-ES" sz="1200" dirty="0" err="1"/>
              <a:t>um</a:t>
            </a:r>
            <a:r>
              <a:rPr lang="es-ES" sz="1200" dirty="0"/>
              <a:t>. En </a:t>
            </a:r>
            <a:r>
              <a:rPr lang="es-ES" sz="1200" dirty="0" err="1"/>
              <a:t>shallow</a:t>
            </a:r>
            <a:r>
              <a:rPr lang="es-ES" sz="1200" dirty="0"/>
              <a:t>, las curvas casi coinciden para </a:t>
            </a:r>
            <a:r>
              <a:rPr lang="es-ES" sz="1200" dirty="0" err="1"/>
              <a:t>wMMI</a:t>
            </a:r>
            <a:r>
              <a:rPr lang="es-ES" sz="1200" dirty="0"/>
              <a:t> = 10 </a:t>
            </a:r>
            <a:r>
              <a:rPr lang="es-ES" sz="1200" dirty="0" err="1"/>
              <a:t>um</a:t>
            </a:r>
            <a:r>
              <a:rPr lang="es-ES" sz="1200" dirty="0"/>
              <a:t>, con </a:t>
            </a:r>
            <a:r>
              <a:rPr lang="es-ES" sz="1200" dirty="0" err="1"/>
              <a:t>Lpi</a:t>
            </a:r>
            <a:r>
              <a:rPr lang="es-ES" sz="1200" dirty="0"/>
              <a:t> TE = 161.99 </a:t>
            </a:r>
            <a:r>
              <a:rPr lang="es-ES" sz="1200" dirty="0" err="1"/>
              <a:t>um</a:t>
            </a:r>
            <a:r>
              <a:rPr lang="es-ES" sz="1200" dirty="0"/>
              <a:t> y </a:t>
            </a:r>
            <a:r>
              <a:rPr lang="es-ES" sz="1200" dirty="0" err="1"/>
              <a:t>Lpi_TM</a:t>
            </a:r>
            <a:r>
              <a:rPr lang="es-ES" sz="1200" dirty="0"/>
              <a:t> = 161.86 </a:t>
            </a:r>
            <a:r>
              <a:rPr lang="es-ES" sz="1200" dirty="0" err="1"/>
              <a:t>um</a:t>
            </a:r>
            <a:r>
              <a:rPr lang="es-ES" sz="1200" dirty="0"/>
              <a:t>.</a:t>
            </a:r>
          </a:p>
          <a:p>
            <a:pPr marL="171450" indent="-171450">
              <a:buFont typeface="Arial" panose="020B0604020202020204" pitchFamily="34" charset="0"/>
              <a:buChar char="•"/>
            </a:pPr>
            <a:r>
              <a:rPr lang="es-ES" sz="1200" dirty="0"/>
              <a:t>Por tanto, </a:t>
            </a:r>
            <a:r>
              <a:rPr lang="es-ES" sz="1200" u="sng" dirty="0"/>
              <a:t>sí</a:t>
            </a:r>
            <a:r>
              <a:rPr lang="es-ES" sz="1200" dirty="0"/>
              <a:t> se puede encontrar un punto donde el MMI funcione casi igual para TE y TM. En nuestros resultados, el mejor candidato es el MMI </a:t>
            </a:r>
            <a:r>
              <a:rPr lang="es-ES" sz="1200" dirty="0" err="1"/>
              <a:t>shallow</a:t>
            </a:r>
            <a:r>
              <a:rPr lang="es-ES" sz="1200" dirty="0"/>
              <a:t> con ancho del cuerpo 10 </a:t>
            </a:r>
            <a:r>
              <a:rPr lang="es-ES" sz="1200" dirty="0" err="1"/>
              <a:t>um</a:t>
            </a:r>
            <a:r>
              <a:rPr lang="es-ES" sz="1200" dirty="0"/>
              <a:t>, porque las dos </a:t>
            </a:r>
            <a:r>
              <a:rPr lang="es-ES" sz="1200" dirty="0" err="1"/>
              <a:t>Lpi</a:t>
            </a:r>
            <a:r>
              <a:rPr lang="es-ES" sz="1200" dirty="0"/>
              <a:t> son prácticamente iguales. Aun así, sería “casi” independiente de polarización, no perfecto porque aquí solo estamos comparando </a:t>
            </a:r>
            <a:r>
              <a:rPr lang="es-ES" sz="1200" dirty="0" err="1"/>
              <a:t>Lpi</a:t>
            </a:r>
            <a:r>
              <a:rPr lang="es-ES" sz="1200" dirty="0"/>
              <a:t> y no toda la propagación completa.</a:t>
            </a:r>
          </a:p>
        </p:txBody>
      </p:sp>
      <p:sp>
        <p:nvSpPr>
          <p:cNvPr id="4" name="Rectángulo 3">
            <a:extLst>
              <a:ext uri="{FF2B5EF4-FFF2-40B4-BE49-F238E27FC236}">
                <a16:creationId xmlns:a16="http://schemas.microsoft.com/office/drawing/2014/main" id="{B58B1BB0-E248-0BA3-D1B3-93649227103E}"/>
              </a:ext>
            </a:extLst>
          </p:cNvPr>
          <p:cNvSpPr/>
          <p:nvPr/>
        </p:nvSpPr>
        <p:spPr>
          <a:xfrm>
            <a:off x="609441" y="11430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1430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3886200"/>
            <a:ext cx="2269787" cy="369332"/>
          </a:xfrm>
          <a:prstGeom prst="rect">
            <a:avLst/>
          </a:prstGeom>
          <a:noFill/>
        </p:spPr>
        <p:txBody>
          <a:bodyPr wrap="square">
            <a:spAutoFit/>
          </a:bodyPr>
          <a:lstStyle/>
          <a:p>
            <a:r>
              <a:rPr lang="en-US" dirty="0"/>
              <a:t>slab = 150nm</a:t>
            </a:r>
            <a:endParaRPr lang="es-ES"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15553349-34FD-0A79-8613-831506807E0C}"/>
              </a:ext>
            </a:extLst>
          </p:cNvPr>
          <p:cNvPicPr>
            <a:picLocks noChangeAspect="1"/>
          </p:cNvPicPr>
          <p:nvPr/>
        </p:nvPicPr>
        <p:blipFill>
          <a:blip r:embed="rId7"/>
          <a:stretch>
            <a:fillRect/>
          </a:stretch>
        </p:blipFill>
        <p:spPr>
          <a:xfrm>
            <a:off x="758664" y="1207049"/>
            <a:ext cx="5184777" cy="3215874"/>
          </a:xfrm>
          <a:prstGeom prst="rect">
            <a:avLst/>
          </a:prstGeom>
        </p:spPr>
      </p:pic>
      <p:pic>
        <p:nvPicPr>
          <p:cNvPr id="12" name="Imagen 11">
            <a:extLst>
              <a:ext uri="{FF2B5EF4-FFF2-40B4-BE49-F238E27FC236}">
                <a16:creationId xmlns:a16="http://schemas.microsoft.com/office/drawing/2014/main" id="{C659494C-0240-9A9C-3688-3191C8904179}"/>
              </a:ext>
            </a:extLst>
          </p:cNvPr>
          <p:cNvPicPr>
            <a:picLocks noChangeAspect="1"/>
          </p:cNvPicPr>
          <p:nvPr/>
        </p:nvPicPr>
        <p:blipFill>
          <a:blip r:embed="rId8"/>
          <a:stretch>
            <a:fillRect/>
          </a:stretch>
        </p:blipFill>
        <p:spPr>
          <a:xfrm>
            <a:off x="6437183" y="1231750"/>
            <a:ext cx="5017398" cy="3112056"/>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24</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1298</TotalTime>
  <Words>3355</Words>
  <Application>Microsoft Office PowerPoint</Application>
  <PresentationFormat>Panorámica</PresentationFormat>
  <Paragraphs>277</Paragraphs>
  <Slides>24</Slides>
  <Notes>19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24</vt:i4>
      </vt:variant>
    </vt:vector>
  </HeadingPairs>
  <TitlesOfParts>
    <vt:vector size="32"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12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Pablo de Manuel Y Vicente</cp:lastModifiedBy>
  <cp:revision>36</cp:revision>
  <cp:lastPrinted>2026-05-01T09:34:01Z</cp:lastPrinted>
  <dcterms:created xsi:type="dcterms:W3CDTF">2025-01-27T02:46:57Z</dcterms:created>
  <dcterms:modified xsi:type="dcterms:W3CDTF">2026-05-01T10:32:01Z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