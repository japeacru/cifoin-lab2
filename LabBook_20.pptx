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0"/>
  </p:notesMasterIdLst>
  <p:handoutMasterIdLst>
    <p:handoutMasterId r:id="rId21"/>
  </p:handoutMasterIdLst>
  <p:sldIdLst>
    <p:sldId id="256" r:id="rId2"/>
    <p:sldId id="289" r:id="rId3"/>
    <p:sldId id="295" r:id="rId4"/>
    <p:sldId id="304" r:id="rId5"/>
    <p:sldId id="302" r:id="rId6"/>
    <p:sldId id="303" r:id="rId7"/>
    <p:sldId id="291" r:id="rId8"/>
    <p:sldId id="296" r:id="rId9"/>
    <p:sldId id="293" r:id="rId10"/>
    <p:sldId id="294" r:id="rId11"/>
    <p:sldId id="299" r:id="rId12"/>
    <p:sldId id="300" r:id="rId13"/>
    <p:sldId id="301" r:id="rId14"/>
    <p:sldId id="290" r:id="rId15"/>
    <p:sldId id="297" r:id="rId16"/>
    <p:sldId id="292" r:id="rId17"/>
    <p:sldId id="298" r:id="rId18"/>
    <p:sldId id="288" r:id="rId1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96" d="100"/>
          <a:sy n="96" d="100"/>
        </p:scale>
        <p:origin x="1096" y="5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pt-BR" spc="165" dirty="0" err="1">
                <a:latin typeface="Arial"/>
                <a:cs typeface="Arial"/>
              </a:rPr>
              <a:t>Student</a:t>
            </a:r>
            <a:r>
              <a:rPr lang="pt-BR" spc="165" dirty="0">
                <a:latin typeface="Arial"/>
                <a:cs typeface="Arial"/>
              </a:rPr>
              <a:t>: José Alberto Peña Cruz, Pablo de Manuel Vicente</a:t>
            </a:r>
          </a:p>
          <a:p>
            <a:pPr marL="12700">
              <a:lnSpc>
                <a:spcPct val="100000"/>
              </a:lnSpc>
              <a:spcBef>
                <a:spcPts val="100"/>
              </a:spcBef>
            </a:pPr>
            <a:r>
              <a:rPr lang="pt-BR" spc="165" dirty="0" err="1">
                <a:latin typeface="Arial"/>
                <a:cs typeface="Arial"/>
              </a:rPr>
              <a:t>Group</a:t>
            </a:r>
            <a:r>
              <a:rPr lang="pt-BR" spc="165" dirty="0">
                <a:latin typeface="Arial"/>
                <a:cs typeface="Arial"/>
              </a:rPr>
              <a:t>: B1 </a:t>
            </a:r>
            <a:endParaRPr lang="pt-BR"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Se propagan los 4 primeros modos, se transmiten en parejas, es decir, los modos TE0 y TE1 van emparejados , lo mismo pasa con los modos TM. Estos modos se parecen mucho a los modos fundaméntales de la guía cuando se simula por si sola.</a:t>
            </a:r>
          </a:p>
          <a:p>
            <a:pPr algn="just"/>
            <a:r>
              <a:rPr lang="es-ES" sz="1200" noProof="0" dirty="0">
                <a:latin typeface="Arial" panose="020B0604020202020204" pitchFamily="34" charset="0"/>
                <a:cs typeface="Arial" panose="020B0604020202020204" pitchFamily="34" charset="0"/>
              </a:rPr>
              <a:t>Modo 1 y 2 son modos fundaméntales TE con la particularidad de que el modo 2 es antisimétrico (tiene un lóbulo positivo y uno negativo). Este mismo resultado se repite para los modos Tm correspondiente a </a:t>
            </a:r>
            <a:r>
              <a:rPr lang="es-ES" sz="1200" noProof="0">
                <a:latin typeface="Arial" panose="020B0604020202020204" pitchFamily="34" charset="0"/>
                <a:cs typeface="Arial" panose="020B0604020202020204" pitchFamily="34" charset="0"/>
              </a:rPr>
              <a:t>los modos 3 y 4.</a:t>
            </a:r>
            <a:endParaRPr lang="es-ES" sz="1200" noProof="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893</TotalTime>
  <Words>1310</Words>
  <Application>Microsoft Office PowerPoint</Application>
  <PresentationFormat>Panorámica</PresentationFormat>
  <Paragraphs>230</Paragraphs>
  <Slides>18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Jose Alberto Peña Cruz</cp:lastModifiedBy>
  <cp:revision>16</cp:revision>
  <dcterms:created xsi:type="dcterms:W3CDTF">2025-01-27T02:46:57Z</dcterms:created>
  <dcterms:modified xsi:type="dcterms:W3CDTF">2026-03-12T17:27:11Z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