
<file path=[Content_Types].xml><?xml version="1.0" encoding="utf-8"?>
<Types xmlns="http://schemas.openxmlformats.org/package/2006/content-types">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p:sldMasterIdLst>
    <p:sldMasterId id="2147483648" r:id="rId1"/>
  </p:sldMasterIdLst>
  <p:notesMasterIdLst>
    <p:notesMasterId r:id="rId26"/>
  </p:notesMasterIdLst>
  <p:handoutMasterIdLst>
    <p:handoutMasterId r:id="rId27"/>
  </p:handoutMasterIdLst>
  <p:sldIdLst>
    <p:sldId id="256" r:id="rId2"/>
    <p:sldId id="289" r:id="rId3"/>
    <p:sldId id="295" r:id="rId4"/>
    <p:sldId id="304" r:id="rId5"/>
    <p:sldId id="305" r:id="rId6"/>
    <p:sldId id="306" r:id="rId7"/>
    <p:sldId id="302" r:id="rId8"/>
    <p:sldId id="303" r:id="rId9"/>
    <p:sldId id="307" r:id="rId10"/>
    <p:sldId id="308" r:id="rId11"/>
    <p:sldId id="291" r:id="rId12"/>
    <p:sldId id="296" r:id="rId13"/>
    <p:sldId id="293" r:id="rId14"/>
    <p:sldId id="309" r:id="rId15"/>
    <p:sldId id="310" r:id="rId16"/>
    <p:sldId id="294" r:id="rId17"/>
    <p:sldId id="299" r:id="rId18"/>
    <p:sldId id="300" r:id="rId19"/>
    <p:sldId id="301" r:id="rId20"/>
    <p:sldId id="290" r:id="rId21"/>
    <p:sldId id="297" r:id="rId22"/>
    <p:sldId id="292" r:id="rId23"/>
    <p:sldId id="298" r:id="rId24"/>
    <p:sldId id="288" r:id="rId25"/>
  </p:sldIdLst>
  <p:sldSz cx="12192000" cy="6858000"/>
  <p:notesSz cx="12192000" cy="6858000"/>
  <p:defaultTextStyle>
    <a:defPPr>
      <a:defRPr lang="es-E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880">
          <p15:clr>
            <a:srgbClr val="A4A3A4"/>
          </p15:clr>
        </p15:guide>
        <p15:guide id="2" pos="2160">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83A706B2-AA95-4CDC-834C-F4D908C80230}" v="95" dt="2025-02-09T23:48:29.268"/>
  </p1510:revLst>
</p1510:revInfo>
</file>

<file path=ppt/tableStyles.xml><?xml version="1.0" encoding="utf-8"?>
<a:tblStyleLst xmlns:a="http://schemas.openxmlformats.org/drawingml/2006/main" def="{5C22544A-7EE6-4342-B048-85BDC9FD1C3A}">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5538" autoAdjust="0"/>
    <p:restoredTop sz="95033" autoAdjust="0"/>
  </p:normalViewPr>
  <p:slideViewPr>
    <p:cSldViewPr>
      <p:cViewPr varScale="1">
        <p:scale>
          <a:sx n="49" d="100"/>
          <a:sy n="49" d="100"/>
        </p:scale>
        <p:origin x="1090" y="45"/>
      </p:cViewPr>
      <p:guideLst>
        <p:guide orient="horz" pos="2880"/>
        <p:guide pos="2160"/>
      </p:guideLst>
    </p:cSldViewPr>
  </p:slideViewPr>
  <p:notesTextViewPr>
    <p:cViewPr>
      <p:scale>
        <a:sx n="100" d="100"/>
        <a:sy n="100" d="100"/>
      </p:scale>
      <p:origin x="0" y="0"/>
    </p:cViewPr>
  </p:notesTextViewPr>
  <p:notesViewPr>
    <p:cSldViewPr>
      <p:cViewPr varScale="1">
        <p:scale>
          <a:sx n="83" d="100"/>
          <a:sy n="83" d="100"/>
        </p:scale>
        <p:origin x="1392" y="62"/>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microsoft.com/office/2015/10/relationships/revisionInfo" Target="revisionInfo.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microsoft.com/office/2016/11/relationships/changesInfo" Target="changesInfos/changesInfo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handoutMaster" Target="handoutMasters/handoutMaster1.xml"/><Relationship Id="rId30" Type="http://schemas.openxmlformats.org/officeDocument/2006/relationships/theme" Target="theme/theme1.xml"/><Relationship Id="rId8" Type="http://schemas.openxmlformats.org/officeDocument/2006/relationships/slide" Target="slides/slide7.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Christian Camilo Cano Vasquez" userId="8c73a2a4-758b-4e34-81ed-39462e48bd92" providerId="ADAL" clId="{83A706B2-AA95-4CDC-834C-F4D908C80230}"/>
    <pc:docChg chg="undo redo custSel addSld delSld modSld">
      <pc:chgData name="Christian Camilo Cano Vasquez" userId="8c73a2a4-758b-4e34-81ed-39462e48bd92" providerId="ADAL" clId="{83A706B2-AA95-4CDC-834C-F4D908C80230}" dt="2025-02-10T11:46:25.185" v="655" actId="20577"/>
      <pc:docMkLst>
        <pc:docMk/>
      </pc:docMkLst>
      <pc:sldChg chg="modSp mod">
        <pc:chgData name="Christian Camilo Cano Vasquez" userId="8c73a2a4-758b-4e34-81ed-39462e48bd92" providerId="ADAL" clId="{83A706B2-AA95-4CDC-834C-F4D908C80230}" dt="2025-02-09T23:21:47.550" v="170" actId="20577"/>
        <pc:sldMkLst>
          <pc:docMk/>
          <pc:sldMk cId="0" sldId="256"/>
        </pc:sldMkLst>
        <pc:spChg chg="mod">
          <ac:chgData name="Christian Camilo Cano Vasquez" userId="8c73a2a4-758b-4e34-81ed-39462e48bd92" providerId="ADAL" clId="{83A706B2-AA95-4CDC-834C-F4D908C80230}" dt="2025-02-09T23:21:47.550" v="170" actId="20577"/>
          <ac:spMkLst>
            <pc:docMk/>
            <pc:sldMk cId="0" sldId="256"/>
            <ac:spMk id="3" creationId="{00000000-0000-0000-0000-000000000000}"/>
          </ac:spMkLst>
        </pc:spChg>
      </pc:sldChg>
      <pc:sldChg chg="modSp mod">
        <pc:chgData name="Christian Camilo Cano Vasquez" userId="8c73a2a4-758b-4e34-81ed-39462e48bd92" providerId="ADAL" clId="{83A706B2-AA95-4CDC-834C-F4D908C80230}" dt="2025-02-09T22:54:55.862" v="0" actId="20577"/>
        <pc:sldMkLst>
          <pc:docMk/>
          <pc:sldMk cId="560234623" sldId="289"/>
        </pc:sldMkLst>
        <pc:spChg chg="mod">
          <ac:chgData name="Christian Camilo Cano Vasquez" userId="8c73a2a4-758b-4e34-81ed-39462e48bd92" providerId="ADAL" clId="{83A706B2-AA95-4CDC-834C-F4D908C80230}" dt="2025-02-09T22:54:55.862" v="0" actId="20577"/>
          <ac:spMkLst>
            <pc:docMk/>
            <pc:sldMk cId="560234623" sldId="289"/>
            <ac:spMk id="4" creationId="{9F7BC140-B3D8-C3CB-55AD-9064C7CDE9CA}"/>
          </ac:spMkLst>
        </pc:spChg>
      </pc:sldChg>
      <pc:sldChg chg="addSp delSp modSp mod">
        <pc:chgData name="Christian Camilo Cano Vasquez" userId="8c73a2a4-758b-4e34-81ed-39462e48bd92" providerId="ADAL" clId="{83A706B2-AA95-4CDC-834C-F4D908C80230}" dt="2025-02-09T23:24:42.493" v="173" actId="20577"/>
        <pc:sldMkLst>
          <pc:docMk/>
          <pc:sldMk cId="730501311" sldId="290"/>
        </pc:sldMkLst>
        <pc:spChg chg="mod">
          <ac:chgData name="Christian Camilo Cano Vasquez" userId="8c73a2a4-758b-4e34-81ed-39462e48bd92" providerId="ADAL" clId="{83A706B2-AA95-4CDC-834C-F4D908C80230}" dt="2025-02-09T23:04:13.626" v="39" actId="20577"/>
          <ac:spMkLst>
            <pc:docMk/>
            <pc:sldMk cId="730501311" sldId="290"/>
            <ac:spMk id="2" creationId="{D0F8CF3B-B920-DBFC-F825-0C87B51EADA7}"/>
          </ac:spMkLst>
        </pc:spChg>
        <pc:spChg chg="del">
          <ac:chgData name="Christian Camilo Cano Vasquez" userId="8c73a2a4-758b-4e34-81ed-39462e48bd92" providerId="ADAL" clId="{83A706B2-AA95-4CDC-834C-F4D908C80230}" dt="2025-02-09T22:59:02.631" v="2" actId="478"/>
          <ac:spMkLst>
            <pc:docMk/>
            <pc:sldMk cId="730501311" sldId="290"/>
            <ac:spMk id="4" creationId="{AA9E72FF-B948-6B7A-8909-97C6BE95D6FB}"/>
          </ac:spMkLst>
        </pc:spChg>
        <pc:spChg chg="add mod">
          <ac:chgData name="Christian Camilo Cano Vasquez" userId="8c73a2a4-758b-4e34-81ed-39462e48bd92" providerId="ADAL" clId="{83A706B2-AA95-4CDC-834C-F4D908C80230}" dt="2025-02-09T23:00:11.400" v="3"/>
          <ac:spMkLst>
            <pc:docMk/>
            <pc:sldMk cId="730501311" sldId="290"/>
            <ac:spMk id="5" creationId="{E7488849-10A1-FB48-F511-E57B062CD7E2}"/>
          </ac:spMkLst>
        </pc:spChg>
        <pc:spChg chg="add mod">
          <ac:chgData name="Christian Camilo Cano Vasquez" userId="8c73a2a4-758b-4e34-81ed-39462e48bd92" providerId="ADAL" clId="{83A706B2-AA95-4CDC-834C-F4D908C80230}" dt="2025-02-09T23:00:11.400" v="3"/>
          <ac:spMkLst>
            <pc:docMk/>
            <pc:sldMk cId="730501311" sldId="290"/>
            <ac:spMk id="6" creationId="{68726DAB-1B5F-39D1-63A0-BB708EA6E17F}"/>
          </ac:spMkLst>
        </pc:spChg>
        <pc:spChg chg="add mod">
          <ac:chgData name="Christian Camilo Cano Vasquez" userId="8c73a2a4-758b-4e34-81ed-39462e48bd92" providerId="ADAL" clId="{83A706B2-AA95-4CDC-834C-F4D908C80230}" dt="2025-02-09T23:00:11.400" v="3"/>
          <ac:spMkLst>
            <pc:docMk/>
            <pc:sldMk cId="730501311" sldId="290"/>
            <ac:spMk id="7" creationId="{6D309BFB-98FD-0CBA-3C6A-346D8859893B}"/>
          </ac:spMkLst>
        </pc:spChg>
        <pc:spChg chg="add mod">
          <ac:chgData name="Christian Camilo Cano Vasquez" userId="8c73a2a4-758b-4e34-81ed-39462e48bd92" providerId="ADAL" clId="{83A706B2-AA95-4CDC-834C-F4D908C80230}" dt="2025-02-09T23:02:26.970" v="32" actId="20577"/>
          <ac:spMkLst>
            <pc:docMk/>
            <pc:sldMk cId="730501311" sldId="290"/>
            <ac:spMk id="8" creationId="{E9BD6C85-02F1-7B54-41E3-E3D9883786D8}"/>
          </ac:spMkLst>
        </pc:spChg>
        <pc:spChg chg="add mod">
          <ac:chgData name="Christian Camilo Cano Vasquez" userId="8c73a2a4-758b-4e34-81ed-39462e48bd92" providerId="ADAL" clId="{83A706B2-AA95-4CDC-834C-F4D908C80230}" dt="2025-02-09T23:02:32.780" v="33"/>
          <ac:spMkLst>
            <pc:docMk/>
            <pc:sldMk cId="730501311" sldId="290"/>
            <ac:spMk id="9" creationId="{7431A41C-EEB3-44D0-4622-A915E258C8F0}"/>
          </ac:spMkLst>
        </pc:spChg>
        <pc:spChg chg="mod">
          <ac:chgData name="Christian Camilo Cano Vasquez" userId="8c73a2a4-758b-4e34-81ed-39462e48bd92" providerId="ADAL" clId="{83A706B2-AA95-4CDC-834C-F4D908C80230}" dt="2025-02-09T23:24:42.493" v="173" actId="20577"/>
          <ac:spMkLst>
            <pc:docMk/>
            <pc:sldMk cId="730501311" sldId="290"/>
            <ac:spMk id="16" creationId="{471E1424-6C4B-2D9A-1352-30AFB987AD41}"/>
          </ac:spMkLst>
        </pc:spChg>
      </pc:sldChg>
      <pc:sldChg chg="addSp delSp modSp mod">
        <pc:chgData name="Christian Camilo Cano Vasquez" userId="8c73a2a4-758b-4e34-81ed-39462e48bd92" providerId="ADAL" clId="{83A706B2-AA95-4CDC-834C-F4D908C80230}" dt="2025-02-09T23:24:47.352" v="175" actId="20577"/>
        <pc:sldMkLst>
          <pc:docMk/>
          <pc:sldMk cId="3712356003" sldId="291"/>
        </pc:sldMkLst>
        <pc:spChg chg="mod">
          <ac:chgData name="Christian Camilo Cano Vasquez" userId="8c73a2a4-758b-4e34-81ed-39462e48bd92" providerId="ADAL" clId="{83A706B2-AA95-4CDC-834C-F4D908C80230}" dt="2025-02-09T23:15:16.003" v="106" actId="20577"/>
          <ac:spMkLst>
            <pc:docMk/>
            <pc:sldMk cId="3712356003" sldId="291"/>
            <ac:spMk id="2" creationId="{CA5F0FDF-2A95-453B-4ECA-AEB637FF2694}"/>
          </ac:spMkLst>
        </pc:spChg>
        <pc:spChg chg="add mod">
          <ac:chgData name="Christian Camilo Cano Vasquez" userId="8c73a2a4-758b-4e34-81ed-39462e48bd92" providerId="ADAL" clId="{83A706B2-AA95-4CDC-834C-F4D908C80230}" dt="2025-02-09T23:14:26.914" v="81" actId="1035"/>
          <ac:spMkLst>
            <pc:docMk/>
            <pc:sldMk cId="3712356003" sldId="291"/>
            <ac:spMk id="4" creationId="{FB4B77A0-B37C-3130-FB52-4E560C66946F}"/>
          </ac:spMkLst>
        </pc:spChg>
        <pc:spChg chg="add mod">
          <ac:chgData name="Christian Camilo Cano Vasquez" userId="8c73a2a4-758b-4e34-81ed-39462e48bd92" providerId="ADAL" clId="{83A706B2-AA95-4CDC-834C-F4D908C80230}" dt="2025-02-09T23:14:26.914" v="81" actId="1035"/>
          <ac:spMkLst>
            <pc:docMk/>
            <pc:sldMk cId="3712356003" sldId="291"/>
            <ac:spMk id="5" creationId="{DA7ECAA3-0876-C0FB-D7E5-448FCC5ED226}"/>
          </ac:spMkLst>
        </pc:spChg>
        <pc:spChg chg="del">
          <ac:chgData name="Christian Camilo Cano Vasquez" userId="8c73a2a4-758b-4e34-81ed-39462e48bd92" providerId="ADAL" clId="{83A706B2-AA95-4CDC-834C-F4D908C80230}" dt="2025-02-09T23:09:07.294" v="48" actId="478"/>
          <ac:spMkLst>
            <pc:docMk/>
            <pc:sldMk cId="3712356003" sldId="291"/>
            <ac:spMk id="7" creationId="{21F754A5-65BC-14A3-5F55-75716FFA9027}"/>
          </ac:spMkLst>
        </pc:spChg>
        <pc:spChg chg="del">
          <ac:chgData name="Christian Camilo Cano Vasquez" userId="8c73a2a4-758b-4e34-81ed-39462e48bd92" providerId="ADAL" clId="{83A706B2-AA95-4CDC-834C-F4D908C80230}" dt="2025-02-09T23:09:11.050" v="49" actId="478"/>
          <ac:spMkLst>
            <pc:docMk/>
            <pc:sldMk cId="3712356003" sldId="291"/>
            <ac:spMk id="8" creationId="{CD9C65D4-5494-F5CE-1094-CB0A32C33876}"/>
          </ac:spMkLst>
        </pc:spChg>
        <pc:spChg chg="add mod">
          <ac:chgData name="Christian Camilo Cano Vasquez" userId="8c73a2a4-758b-4e34-81ed-39462e48bd92" providerId="ADAL" clId="{83A706B2-AA95-4CDC-834C-F4D908C80230}" dt="2025-02-09T23:14:26.914" v="81" actId="1035"/>
          <ac:spMkLst>
            <pc:docMk/>
            <pc:sldMk cId="3712356003" sldId="291"/>
            <ac:spMk id="9" creationId="{C1467207-8D05-D4C6-EBD2-209F796AE977}"/>
          </ac:spMkLst>
        </pc:spChg>
        <pc:spChg chg="add mod">
          <ac:chgData name="Christian Camilo Cano Vasquez" userId="8c73a2a4-758b-4e34-81ed-39462e48bd92" providerId="ADAL" clId="{83A706B2-AA95-4CDC-834C-F4D908C80230}" dt="2025-02-09T23:14:26.914" v="81" actId="1035"/>
          <ac:spMkLst>
            <pc:docMk/>
            <pc:sldMk cId="3712356003" sldId="291"/>
            <ac:spMk id="10" creationId="{32E39C0C-95E1-ED90-891A-5D634D9DB76B}"/>
          </ac:spMkLst>
        </pc:spChg>
        <pc:spChg chg="mod">
          <ac:chgData name="Christian Camilo Cano Vasquez" userId="8c73a2a4-758b-4e34-81ed-39462e48bd92" providerId="ADAL" clId="{83A706B2-AA95-4CDC-834C-F4D908C80230}" dt="2025-02-09T23:24:47.352" v="175" actId="20577"/>
          <ac:spMkLst>
            <pc:docMk/>
            <pc:sldMk cId="3712356003" sldId="291"/>
            <ac:spMk id="16" creationId="{5431EA70-9578-8BF1-5A05-77CDC26788B4}"/>
          </ac:spMkLst>
        </pc:spChg>
        <pc:picChg chg="del">
          <ac:chgData name="Christian Camilo Cano Vasquez" userId="8c73a2a4-758b-4e34-81ed-39462e48bd92" providerId="ADAL" clId="{83A706B2-AA95-4CDC-834C-F4D908C80230}" dt="2025-02-09T23:08:10.270" v="47" actId="478"/>
          <ac:picMkLst>
            <pc:docMk/>
            <pc:sldMk cId="3712356003" sldId="291"/>
            <ac:picMk id="6" creationId="{380A8455-6386-C7D5-7BB6-B79D8D91F0EF}"/>
          </ac:picMkLst>
        </pc:picChg>
      </pc:sldChg>
      <pc:sldChg chg="addSp delSp modSp mod">
        <pc:chgData name="Christian Camilo Cano Vasquez" userId="8c73a2a4-758b-4e34-81ed-39462e48bd92" providerId="ADAL" clId="{83A706B2-AA95-4CDC-834C-F4D908C80230}" dt="2025-02-09T23:31:23.910" v="296" actId="20577"/>
        <pc:sldMkLst>
          <pc:docMk/>
          <pc:sldMk cId="2900117438" sldId="292"/>
        </pc:sldMkLst>
        <pc:spChg chg="mod">
          <ac:chgData name="Christian Camilo Cano Vasquez" userId="8c73a2a4-758b-4e34-81ed-39462e48bd92" providerId="ADAL" clId="{83A706B2-AA95-4CDC-834C-F4D908C80230}" dt="2025-02-09T23:31:23.910" v="296" actId="20577"/>
          <ac:spMkLst>
            <pc:docMk/>
            <pc:sldMk cId="2900117438" sldId="292"/>
            <ac:spMk id="2" creationId="{82A62DD6-5488-72A1-9926-0CAEE59089A9}"/>
          </ac:spMkLst>
        </pc:spChg>
        <pc:spChg chg="add mod">
          <ac:chgData name="Christian Camilo Cano Vasquez" userId="8c73a2a4-758b-4e34-81ed-39462e48bd92" providerId="ADAL" clId="{83A706B2-AA95-4CDC-834C-F4D908C80230}" dt="2025-02-09T23:30:25.991" v="253"/>
          <ac:spMkLst>
            <pc:docMk/>
            <pc:sldMk cId="2900117438" sldId="292"/>
            <ac:spMk id="4" creationId="{796EDE51-D41E-C23B-F402-2F7357DE8714}"/>
          </ac:spMkLst>
        </pc:spChg>
        <pc:spChg chg="add mod">
          <ac:chgData name="Christian Camilo Cano Vasquez" userId="8c73a2a4-758b-4e34-81ed-39462e48bd92" providerId="ADAL" clId="{83A706B2-AA95-4CDC-834C-F4D908C80230}" dt="2025-02-09T23:30:25.991" v="253"/>
          <ac:spMkLst>
            <pc:docMk/>
            <pc:sldMk cId="2900117438" sldId="292"/>
            <ac:spMk id="5" creationId="{5A3233C9-FE6F-52D8-4D87-224222BDA8E1}"/>
          </ac:spMkLst>
        </pc:spChg>
        <pc:spChg chg="add mod">
          <ac:chgData name="Christian Camilo Cano Vasquez" userId="8c73a2a4-758b-4e34-81ed-39462e48bd92" providerId="ADAL" clId="{83A706B2-AA95-4CDC-834C-F4D908C80230}" dt="2025-02-09T23:30:25.991" v="253"/>
          <ac:spMkLst>
            <pc:docMk/>
            <pc:sldMk cId="2900117438" sldId="292"/>
            <ac:spMk id="6" creationId="{0C016548-01A2-6E58-B80D-148384B98EB3}"/>
          </ac:spMkLst>
        </pc:spChg>
        <pc:spChg chg="del">
          <ac:chgData name="Christian Camilo Cano Vasquez" userId="8c73a2a4-758b-4e34-81ed-39462e48bd92" providerId="ADAL" clId="{83A706B2-AA95-4CDC-834C-F4D908C80230}" dt="2025-02-09T23:30:21.832" v="251" actId="478"/>
          <ac:spMkLst>
            <pc:docMk/>
            <pc:sldMk cId="2900117438" sldId="292"/>
            <ac:spMk id="7" creationId="{FBC7D187-267A-ADD4-764C-D3820B8ED302}"/>
          </ac:spMkLst>
        </pc:spChg>
        <pc:spChg chg="del">
          <ac:chgData name="Christian Camilo Cano Vasquez" userId="8c73a2a4-758b-4e34-81ed-39462e48bd92" providerId="ADAL" clId="{83A706B2-AA95-4CDC-834C-F4D908C80230}" dt="2025-02-09T23:30:25.360" v="252" actId="478"/>
          <ac:spMkLst>
            <pc:docMk/>
            <pc:sldMk cId="2900117438" sldId="292"/>
            <ac:spMk id="8" creationId="{1EF5BFDA-8EC1-8C73-A932-F36C4DB93C73}"/>
          </ac:spMkLst>
        </pc:spChg>
        <pc:spChg chg="add mod">
          <ac:chgData name="Christian Camilo Cano Vasquez" userId="8c73a2a4-758b-4e34-81ed-39462e48bd92" providerId="ADAL" clId="{83A706B2-AA95-4CDC-834C-F4D908C80230}" dt="2025-02-09T23:30:25.991" v="253"/>
          <ac:spMkLst>
            <pc:docMk/>
            <pc:sldMk cId="2900117438" sldId="292"/>
            <ac:spMk id="9" creationId="{075D03BE-0D6A-89E5-3C68-D7BD97B4676E}"/>
          </ac:spMkLst>
        </pc:spChg>
        <pc:spChg chg="add mod">
          <ac:chgData name="Christian Camilo Cano Vasquez" userId="8c73a2a4-758b-4e34-81ed-39462e48bd92" providerId="ADAL" clId="{83A706B2-AA95-4CDC-834C-F4D908C80230}" dt="2025-02-09T23:30:25.991" v="253"/>
          <ac:spMkLst>
            <pc:docMk/>
            <pc:sldMk cId="2900117438" sldId="292"/>
            <ac:spMk id="10" creationId="{AC01EDEE-71CC-C570-700B-076F03FCF7E1}"/>
          </ac:spMkLst>
        </pc:spChg>
        <pc:spChg chg="mod">
          <ac:chgData name="Christian Camilo Cano Vasquez" userId="8c73a2a4-758b-4e34-81ed-39462e48bd92" providerId="ADAL" clId="{83A706B2-AA95-4CDC-834C-F4D908C80230}" dt="2025-02-09T23:29:51.940" v="250" actId="20577"/>
          <ac:spMkLst>
            <pc:docMk/>
            <pc:sldMk cId="2900117438" sldId="292"/>
            <ac:spMk id="16" creationId="{6AA2E789-F7AE-F068-274C-E0F13A22DBCA}"/>
          </ac:spMkLst>
        </pc:spChg>
      </pc:sldChg>
      <pc:sldChg chg="del">
        <pc:chgData name="Christian Camilo Cano Vasquez" userId="8c73a2a4-758b-4e34-81ed-39462e48bd92" providerId="ADAL" clId="{83A706B2-AA95-4CDC-834C-F4D908C80230}" dt="2025-02-09T23:36:40.142" v="343" actId="47"/>
        <pc:sldMkLst>
          <pc:docMk/>
          <pc:sldMk cId="3660438245" sldId="293"/>
        </pc:sldMkLst>
      </pc:sldChg>
      <pc:sldChg chg="addSp delSp modSp mod">
        <pc:chgData name="Christian Camilo Cano Vasquez" userId="8c73a2a4-758b-4e34-81ed-39462e48bd92" providerId="ADAL" clId="{83A706B2-AA95-4CDC-834C-F4D908C80230}" dt="2025-02-09T23:43:58.113" v="517" actId="20577"/>
        <pc:sldMkLst>
          <pc:docMk/>
          <pc:sldMk cId="2815679427" sldId="294"/>
        </pc:sldMkLst>
        <pc:spChg chg="add del mod">
          <ac:chgData name="Christian Camilo Cano Vasquez" userId="8c73a2a4-758b-4e34-81ed-39462e48bd92" providerId="ADAL" clId="{83A706B2-AA95-4CDC-834C-F4D908C80230}" dt="2025-02-09T23:39:50.840" v="385" actId="20577"/>
          <ac:spMkLst>
            <pc:docMk/>
            <pc:sldMk cId="2815679427" sldId="294"/>
            <ac:spMk id="2" creationId="{B5029729-ADF3-3B30-4FF9-83BE1DB82BD7}"/>
          </ac:spMkLst>
        </pc:spChg>
        <pc:spChg chg="add mod">
          <ac:chgData name="Christian Camilo Cano Vasquez" userId="8c73a2a4-758b-4e34-81ed-39462e48bd92" providerId="ADAL" clId="{83A706B2-AA95-4CDC-834C-F4D908C80230}" dt="2025-02-09T23:38:32.744" v="355" actId="1076"/>
          <ac:spMkLst>
            <pc:docMk/>
            <pc:sldMk cId="2815679427" sldId="294"/>
            <ac:spMk id="4" creationId="{06A90612-6654-786D-6F6A-F4EA67014379}"/>
          </ac:spMkLst>
        </pc:spChg>
        <pc:spChg chg="add mod">
          <ac:chgData name="Christian Camilo Cano Vasquez" userId="8c73a2a4-758b-4e34-81ed-39462e48bd92" providerId="ADAL" clId="{83A706B2-AA95-4CDC-834C-F4D908C80230}" dt="2025-02-09T23:38:32.744" v="355" actId="1076"/>
          <ac:spMkLst>
            <pc:docMk/>
            <pc:sldMk cId="2815679427" sldId="294"/>
            <ac:spMk id="5" creationId="{5032AC03-DEF1-DAF0-236E-A42778A7A062}"/>
          </ac:spMkLst>
        </pc:spChg>
        <pc:spChg chg="add mod">
          <ac:chgData name="Christian Camilo Cano Vasquez" userId="8c73a2a4-758b-4e34-81ed-39462e48bd92" providerId="ADAL" clId="{83A706B2-AA95-4CDC-834C-F4D908C80230}" dt="2025-02-09T23:37:46.370" v="351"/>
          <ac:spMkLst>
            <pc:docMk/>
            <pc:sldMk cId="2815679427" sldId="294"/>
            <ac:spMk id="6" creationId="{3338A34B-BF11-73AC-D891-565FD218C2F6}"/>
          </ac:spMkLst>
        </pc:spChg>
        <pc:spChg chg="add del mod">
          <ac:chgData name="Christian Camilo Cano Vasquez" userId="8c73a2a4-758b-4e34-81ed-39462e48bd92" providerId="ADAL" clId="{83A706B2-AA95-4CDC-834C-F4D908C80230}" dt="2025-02-09T23:39:04.073" v="372" actId="1036"/>
          <ac:spMkLst>
            <pc:docMk/>
            <pc:sldMk cId="2815679427" sldId="294"/>
            <ac:spMk id="7" creationId="{98DE5FDA-4E91-E843-E84A-1467BFAA9986}"/>
          </ac:spMkLst>
        </pc:spChg>
        <pc:spChg chg="add del mod">
          <ac:chgData name="Christian Camilo Cano Vasquez" userId="8c73a2a4-758b-4e34-81ed-39462e48bd92" providerId="ADAL" clId="{83A706B2-AA95-4CDC-834C-F4D908C80230}" dt="2025-02-09T23:43:58.113" v="517" actId="20577"/>
          <ac:spMkLst>
            <pc:docMk/>
            <pc:sldMk cId="2815679427" sldId="294"/>
            <ac:spMk id="8" creationId="{0DA14DBA-172E-DA2C-0573-6A00BF18F4A5}"/>
          </ac:spMkLst>
        </pc:spChg>
        <pc:spChg chg="add mod">
          <ac:chgData name="Christian Camilo Cano Vasquez" userId="8c73a2a4-758b-4e34-81ed-39462e48bd92" providerId="ADAL" clId="{83A706B2-AA95-4CDC-834C-F4D908C80230}" dt="2025-02-09T23:38:32.744" v="355" actId="1076"/>
          <ac:spMkLst>
            <pc:docMk/>
            <pc:sldMk cId="2815679427" sldId="294"/>
            <ac:spMk id="9" creationId="{4D1551B0-A822-E426-5721-B1FC37702FCB}"/>
          </ac:spMkLst>
        </pc:spChg>
        <pc:spChg chg="add mod">
          <ac:chgData name="Christian Camilo Cano Vasquez" userId="8c73a2a4-758b-4e34-81ed-39462e48bd92" providerId="ADAL" clId="{83A706B2-AA95-4CDC-834C-F4D908C80230}" dt="2025-02-09T23:38:32.744" v="355" actId="1076"/>
          <ac:spMkLst>
            <pc:docMk/>
            <pc:sldMk cId="2815679427" sldId="294"/>
            <ac:spMk id="11" creationId="{EFED69C0-44A5-9995-03AC-A48118DEE677}"/>
          </ac:spMkLst>
        </pc:spChg>
        <pc:spChg chg="mod">
          <ac:chgData name="Christian Camilo Cano Vasquez" userId="8c73a2a4-758b-4e34-81ed-39462e48bd92" providerId="ADAL" clId="{83A706B2-AA95-4CDC-834C-F4D908C80230}" dt="2025-02-09T23:38:57.830" v="367" actId="20577"/>
          <ac:spMkLst>
            <pc:docMk/>
            <pc:sldMk cId="2815679427" sldId="294"/>
            <ac:spMk id="16" creationId="{2B8D44BF-A3B5-6BED-C39C-FA8260E83536}"/>
          </ac:spMkLst>
        </pc:spChg>
        <pc:picChg chg="add mod">
          <ac:chgData name="Christian Camilo Cano Vasquez" userId="8c73a2a4-758b-4e34-81ed-39462e48bd92" providerId="ADAL" clId="{83A706B2-AA95-4CDC-834C-F4D908C80230}" dt="2025-02-09T23:38:32.744" v="355" actId="1076"/>
          <ac:picMkLst>
            <pc:docMk/>
            <pc:sldMk cId="2815679427" sldId="294"/>
            <ac:picMk id="10" creationId="{EA7B2FC2-D98A-62A1-228C-2882147646FE}"/>
          </ac:picMkLst>
        </pc:picChg>
      </pc:sldChg>
      <pc:sldChg chg="addSp delSp modSp new mod">
        <pc:chgData name="Christian Camilo Cano Vasquez" userId="8c73a2a4-758b-4e34-81ed-39462e48bd92" providerId="ADAL" clId="{83A706B2-AA95-4CDC-834C-F4D908C80230}" dt="2025-02-09T23:17:54.551" v="115" actId="403"/>
        <pc:sldMkLst>
          <pc:docMk/>
          <pc:sldMk cId="1640019522" sldId="295"/>
        </pc:sldMkLst>
        <pc:spChg chg="del">
          <ac:chgData name="Christian Camilo Cano Vasquez" userId="8c73a2a4-758b-4e34-81ed-39462e48bd92" providerId="ADAL" clId="{83A706B2-AA95-4CDC-834C-F4D908C80230}" dt="2025-02-09T23:17:37.829" v="108" actId="478"/>
          <ac:spMkLst>
            <pc:docMk/>
            <pc:sldMk cId="1640019522" sldId="295"/>
            <ac:spMk id="2" creationId="{5D66A4B3-0EC3-435E-57A3-EB664561ABDB}"/>
          </ac:spMkLst>
        </pc:spChg>
        <pc:spChg chg="del">
          <ac:chgData name="Christian Camilo Cano Vasquez" userId="8c73a2a4-758b-4e34-81ed-39462e48bd92" providerId="ADAL" clId="{83A706B2-AA95-4CDC-834C-F4D908C80230}" dt="2025-02-09T23:17:45.590" v="109"/>
          <ac:spMkLst>
            <pc:docMk/>
            <pc:sldMk cId="1640019522" sldId="295"/>
            <ac:spMk id="3" creationId="{A7B12427-6892-E9F1-A7EF-25CEDC14529C}"/>
          </ac:spMkLst>
        </pc:spChg>
        <pc:spChg chg="add mod">
          <ac:chgData name="Christian Camilo Cano Vasquez" userId="8c73a2a4-758b-4e34-81ed-39462e48bd92" providerId="ADAL" clId="{83A706B2-AA95-4CDC-834C-F4D908C80230}" dt="2025-02-09T23:17:54.551" v="115" actId="403"/>
          <ac:spMkLst>
            <pc:docMk/>
            <pc:sldMk cId="1640019522" sldId="295"/>
            <ac:spMk id="6" creationId="{AF6692CA-D0D0-2BAF-E673-933E02AE2BB8}"/>
          </ac:spMkLst>
        </pc:spChg>
      </pc:sldChg>
      <pc:sldChg chg="modSp add mod">
        <pc:chgData name="Christian Camilo Cano Vasquez" userId="8c73a2a4-758b-4e34-81ed-39462e48bd92" providerId="ADAL" clId="{83A706B2-AA95-4CDC-834C-F4D908C80230}" dt="2025-02-09T23:18:46.605" v="158" actId="20577"/>
        <pc:sldMkLst>
          <pc:docMk/>
          <pc:sldMk cId="3873318961" sldId="296"/>
        </pc:sldMkLst>
        <pc:spChg chg="mod">
          <ac:chgData name="Christian Camilo Cano Vasquez" userId="8c73a2a4-758b-4e34-81ed-39462e48bd92" providerId="ADAL" clId="{83A706B2-AA95-4CDC-834C-F4D908C80230}" dt="2025-02-09T23:18:46.605" v="158" actId="20577"/>
          <ac:spMkLst>
            <pc:docMk/>
            <pc:sldMk cId="3873318961" sldId="296"/>
            <ac:spMk id="6" creationId="{8111062F-F9A0-241E-6CCB-6E8BE4D8C60A}"/>
          </ac:spMkLst>
        </pc:spChg>
      </pc:sldChg>
      <pc:sldChg chg="modSp add mod">
        <pc:chgData name="Christian Camilo Cano Vasquez" userId="8c73a2a4-758b-4e34-81ed-39462e48bd92" providerId="ADAL" clId="{83A706B2-AA95-4CDC-834C-F4D908C80230}" dt="2025-02-10T11:46:25.185" v="655" actId="20577"/>
        <pc:sldMkLst>
          <pc:docMk/>
          <pc:sldMk cId="3454032079" sldId="297"/>
        </pc:sldMkLst>
        <pc:spChg chg="mod">
          <ac:chgData name="Christian Camilo Cano Vasquez" userId="8c73a2a4-758b-4e34-81ed-39462e48bd92" providerId="ADAL" clId="{83A706B2-AA95-4CDC-834C-F4D908C80230}" dt="2025-02-09T23:26:45.534" v="237" actId="20577"/>
          <ac:spMkLst>
            <pc:docMk/>
            <pc:sldMk cId="3454032079" sldId="297"/>
            <ac:spMk id="2" creationId="{181326FD-308E-2C47-D5D2-57B3357241AA}"/>
          </ac:spMkLst>
        </pc:spChg>
        <pc:spChg chg="mod">
          <ac:chgData name="Christian Camilo Cano Vasquez" userId="8c73a2a4-758b-4e34-81ed-39462e48bd92" providerId="ADAL" clId="{83A706B2-AA95-4CDC-834C-F4D908C80230}" dt="2025-02-09T23:26:13.591" v="226" actId="20577"/>
          <ac:spMkLst>
            <pc:docMk/>
            <pc:sldMk cId="3454032079" sldId="297"/>
            <ac:spMk id="8" creationId="{B08C2240-8810-4E0A-7DCF-E62A8271EA2E}"/>
          </ac:spMkLst>
        </pc:spChg>
        <pc:spChg chg="mod">
          <ac:chgData name="Christian Camilo Cano Vasquez" userId="8c73a2a4-758b-4e34-81ed-39462e48bd92" providerId="ADAL" clId="{83A706B2-AA95-4CDC-834C-F4D908C80230}" dt="2025-02-09T23:26:17.294" v="229" actId="20577"/>
          <ac:spMkLst>
            <pc:docMk/>
            <pc:sldMk cId="3454032079" sldId="297"/>
            <ac:spMk id="9" creationId="{BBDDC809-0F06-CBE2-4D1A-3A2FA36C33A8}"/>
          </ac:spMkLst>
        </pc:spChg>
        <pc:spChg chg="mod">
          <ac:chgData name="Christian Camilo Cano Vasquez" userId="8c73a2a4-758b-4e34-81ed-39462e48bd92" providerId="ADAL" clId="{83A706B2-AA95-4CDC-834C-F4D908C80230}" dt="2025-02-10T11:46:25.185" v="655" actId="20577"/>
          <ac:spMkLst>
            <pc:docMk/>
            <pc:sldMk cId="3454032079" sldId="297"/>
            <ac:spMk id="16" creationId="{5AC39480-E3E5-69B1-401F-A50C45531EF2}"/>
          </ac:spMkLst>
        </pc:spChg>
      </pc:sldChg>
      <pc:sldChg chg="modSp add mod">
        <pc:chgData name="Christian Camilo Cano Vasquez" userId="8c73a2a4-758b-4e34-81ed-39462e48bd92" providerId="ADAL" clId="{83A706B2-AA95-4CDC-834C-F4D908C80230}" dt="2025-02-09T23:36:30.584" v="342" actId="20577"/>
        <pc:sldMkLst>
          <pc:docMk/>
          <pc:sldMk cId="2103719889" sldId="298"/>
        </pc:sldMkLst>
        <pc:spChg chg="mod">
          <ac:chgData name="Christian Camilo Cano Vasquez" userId="8c73a2a4-758b-4e34-81ed-39462e48bd92" providerId="ADAL" clId="{83A706B2-AA95-4CDC-834C-F4D908C80230}" dt="2025-02-09T23:36:30.584" v="342" actId="20577"/>
          <ac:spMkLst>
            <pc:docMk/>
            <pc:sldMk cId="2103719889" sldId="298"/>
            <ac:spMk id="2" creationId="{8D88CB07-C5F5-9BB7-9F41-E171F0F0E2B9}"/>
          </ac:spMkLst>
        </pc:spChg>
        <pc:spChg chg="mod">
          <ac:chgData name="Christian Camilo Cano Vasquez" userId="8c73a2a4-758b-4e34-81ed-39462e48bd92" providerId="ADAL" clId="{83A706B2-AA95-4CDC-834C-F4D908C80230}" dt="2025-02-09T23:35:30.421" v="324" actId="20577"/>
          <ac:spMkLst>
            <pc:docMk/>
            <pc:sldMk cId="2103719889" sldId="298"/>
            <ac:spMk id="9" creationId="{2BDFECD2-156D-6697-CFBF-8CD783F9B986}"/>
          </ac:spMkLst>
        </pc:spChg>
        <pc:spChg chg="mod">
          <ac:chgData name="Christian Camilo Cano Vasquez" userId="8c73a2a4-758b-4e34-81ed-39462e48bd92" providerId="ADAL" clId="{83A706B2-AA95-4CDC-834C-F4D908C80230}" dt="2025-02-09T23:35:34.437" v="331" actId="20577"/>
          <ac:spMkLst>
            <pc:docMk/>
            <pc:sldMk cId="2103719889" sldId="298"/>
            <ac:spMk id="10" creationId="{3BFC64CA-DE35-A528-CF09-36A26DB3DEE4}"/>
          </ac:spMkLst>
        </pc:spChg>
        <pc:spChg chg="mod">
          <ac:chgData name="Christian Camilo Cano Vasquez" userId="8c73a2a4-758b-4e34-81ed-39462e48bd92" providerId="ADAL" clId="{83A706B2-AA95-4CDC-834C-F4D908C80230}" dt="2025-02-09T23:35:16.010" v="319" actId="20577"/>
          <ac:spMkLst>
            <pc:docMk/>
            <pc:sldMk cId="2103719889" sldId="298"/>
            <ac:spMk id="16" creationId="{53FFBD12-4EFF-41C1-4765-2AD268B2BD94}"/>
          </ac:spMkLst>
        </pc:spChg>
      </pc:sldChg>
      <pc:sldChg chg="modSp add mod">
        <pc:chgData name="Christian Camilo Cano Vasquez" userId="8c73a2a4-758b-4e34-81ed-39462e48bd92" providerId="ADAL" clId="{83A706B2-AA95-4CDC-834C-F4D908C80230}" dt="2025-02-09T23:43:30.035" v="490" actId="20577"/>
        <pc:sldMkLst>
          <pc:docMk/>
          <pc:sldMk cId="2685215753" sldId="299"/>
        </pc:sldMkLst>
        <pc:spChg chg="mod">
          <ac:chgData name="Christian Camilo Cano Vasquez" userId="8c73a2a4-758b-4e34-81ed-39462e48bd92" providerId="ADAL" clId="{83A706B2-AA95-4CDC-834C-F4D908C80230}" dt="2025-02-09T23:43:30.035" v="490" actId="20577"/>
          <ac:spMkLst>
            <pc:docMk/>
            <pc:sldMk cId="2685215753" sldId="299"/>
            <ac:spMk id="2" creationId="{43D7D9E5-DAC3-2BB8-7377-826863CBAD4E}"/>
          </ac:spMkLst>
        </pc:spChg>
        <pc:spChg chg="mod">
          <ac:chgData name="Christian Camilo Cano Vasquez" userId="8c73a2a4-758b-4e34-81ed-39462e48bd92" providerId="ADAL" clId="{83A706B2-AA95-4CDC-834C-F4D908C80230}" dt="2025-02-09T23:43:03.787" v="468" actId="1076"/>
          <ac:spMkLst>
            <pc:docMk/>
            <pc:sldMk cId="2685215753" sldId="299"/>
            <ac:spMk id="8" creationId="{643565A9-7DB6-D6EE-152F-2852C8BA7986}"/>
          </ac:spMkLst>
        </pc:spChg>
        <pc:spChg chg="mod">
          <ac:chgData name="Christian Camilo Cano Vasquez" userId="8c73a2a4-758b-4e34-81ed-39462e48bd92" providerId="ADAL" clId="{83A706B2-AA95-4CDC-834C-F4D908C80230}" dt="2025-02-09T23:43:18.188" v="482" actId="20577"/>
          <ac:spMkLst>
            <pc:docMk/>
            <pc:sldMk cId="2685215753" sldId="299"/>
            <ac:spMk id="16" creationId="{C096193E-AB86-E3CD-BDAC-0F9156C1A3F0}"/>
          </ac:spMkLst>
        </pc:spChg>
      </pc:sldChg>
      <pc:sldChg chg="modSp add mod">
        <pc:chgData name="Christian Camilo Cano Vasquez" userId="8c73a2a4-758b-4e34-81ed-39462e48bd92" providerId="ADAL" clId="{83A706B2-AA95-4CDC-834C-F4D908C80230}" dt="2025-02-09T23:48:20.230" v="543" actId="20577"/>
        <pc:sldMkLst>
          <pc:docMk/>
          <pc:sldMk cId="1023731220" sldId="300"/>
        </pc:sldMkLst>
        <pc:spChg chg="mod">
          <ac:chgData name="Christian Camilo Cano Vasquez" userId="8c73a2a4-758b-4e34-81ed-39462e48bd92" providerId="ADAL" clId="{83A706B2-AA95-4CDC-834C-F4D908C80230}" dt="2025-02-09T23:45:57.548" v="541" actId="20577"/>
          <ac:spMkLst>
            <pc:docMk/>
            <pc:sldMk cId="1023731220" sldId="300"/>
            <ac:spMk id="8" creationId="{B0CFB20A-64F3-A296-71E8-F4FA17D35314}"/>
          </ac:spMkLst>
        </pc:spChg>
        <pc:spChg chg="mod">
          <ac:chgData name="Christian Camilo Cano Vasquez" userId="8c73a2a4-758b-4e34-81ed-39462e48bd92" providerId="ADAL" clId="{83A706B2-AA95-4CDC-834C-F4D908C80230}" dt="2025-02-09T23:48:20.230" v="543" actId="20577"/>
          <ac:spMkLst>
            <pc:docMk/>
            <pc:sldMk cId="1023731220" sldId="300"/>
            <ac:spMk id="16" creationId="{E1662E38-DE72-ADF3-A38E-08ED40DCC2AD}"/>
          </ac:spMkLst>
        </pc:spChg>
      </pc:sldChg>
      <pc:sldChg chg="modSp add mod">
        <pc:chgData name="Christian Camilo Cano Vasquez" userId="8c73a2a4-758b-4e34-81ed-39462e48bd92" providerId="ADAL" clId="{83A706B2-AA95-4CDC-834C-F4D908C80230}" dt="2025-02-10T08:28:14.084" v="652" actId="20577"/>
        <pc:sldMkLst>
          <pc:docMk/>
          <pc:sldMk cId="699864314" sldId="301"/>
        </pc:sldMkLst>
        <pc:spChg chg="mod">
          <ac:chgData name="Christian Camilo Cano Vasquez" userId="8c73a2a4-758b-4e34-81ed-39462e48bd92" providerId="ADAL" clId="{83A706B2-AA95-4CDC-834C-F4D908C80230}" dt="2025-02-09T23:49:32.025" v="650" actId="20577"/>
          <ac:spMkLst>
            <pc:docMk/>
            <pc:sldMk cId="699864314" sldId="301"/>
            <ac:spMk id="2" creationId="{42D73A2E-0E5A-8A39-6B70-F9E94D6DBB70}"/>
          </ac:spMkLst>
        </pc:spChg>
        <pc:spChg chg="mod">
          <ac:chgData name="Christian Camilo Cano Vasquez" userId="8c73a2a4-758b-4e34-81ed-39462e48bd92" providerId="ADAL" clId="{83A706B2-AA95-4CDC-834C-F4D908C80230}" dt="2025-02-10T08:28:14.084" v="652" actId="20577"/>
          <ac:spMkLst>
            <pc:docMk/>
            <pc:sldMk cId="699864314" sldId="301"/>
            <ac:spMk id="16" creationId="{1E256546-3103-104D-A87F-78AEBE5D595E}"/>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a:extLst>
              <a:ext uri="{FF2B5EF4-FFF2-40B4-BE49-F238E27FC236}">
                <a16:creationId xmlns:a16="http://schemas.microsoft.com/office/drawing/2014/main" id="{ADD96E76-517F-B468-04D8-38EFA44947EB}"/>
              </a:ext>
            </a:extLst>
          </p:cNvPr>
          <p:cNvSpPr>
            <a:spLocks noGrp="1"/>
          </p:cNvSpPr>
          <p:nvPr>
            <p:ph type="hdr" sz="quarter"/>
          </p:nvPr>
        </p:nvSpPr>
        <p:spPr>
          <a:xfrm>
            <a:off x="0" y="0"/>
            <a:ext cx="5283200" cy="344488"/>
          </a:xfrm>
          <a:prstGeom prst="rect">
            <a:avLst/>
          </a:prstGeom>
        </p:spPr>
        <p:txBody>
          <a:bodyPr vert="horz" lIns="91440" tIns="45720" rIns="91440" bIns="45720" rtlCol="0"/>
          <a:lstStyle>
            <a:lvl1pPr algn="l">
              <a:defRPr sz="1200"/>
            </a:lvl1pPr>
          </a:lstStyle>
          <a:p>
            <a:endParaRPr lang="es-ES"/>
          </a:p>
        </p:txBody>
      </p:sp>
      <p:sp>
        <p:nvSpPr>
          <p:cNvPr id="3" name="Marcador de fecha 2">
            <a:extLst>
              <a:ext uri="{FF2B5EF4-FFF2-40B4-BE49-F238E27FC236}">
                <a16:creationId xmlns:a16="http://schemas.microsoft.com/office/drawing/2014/main" id="{8678D0B9-782A-7C16-D731-EEB7F991FA76}"/>
              </a:ext>
            </a:extLst>
          </p:cNvPr>
          <p:cNvSpPr>
            <a:spLocks noGrp="1"/>
          </p:cNvSpPr>
          <p:nvPr>
            <p:ph type="dt" sz="quarter" idx="1"/>
          </p:nvPr>
        </p:nvSpPr>
        <p:spPr>
          <a:xfrm>
            <a:off x="6905625" y="0"/>
            <a:ext cx="5283200" cy="344488"/>
          </a:xfrm>
          <a:prstGeom prst="rect">
            <a:avLst/>
          </a:prstGeom>
        </p:spPr>
        <p:txBody>
          <a:bodyPr vert="horz" lIns="91440" tIns="45720" rIns="91440" bIns="45720" rtlCol="0"/>
          <a:lstStyle>
            <a:lvl1pPr algn="r">
              <a:defRPr sz="1200"/>
            </a:lvl1pPr>
          </a:lstStyle>
          <a:p>
            <a:fld id="{8438F8DC-35B0-48E6-A86E-42F1F08DD00F}" type="datetimeFigureOut">
              <a:rPr lang="es-ES" smtClean="0"/>
              <a:t>28/04/2026</a:t>
            </a:fld>
            <a:endParaRPr lang="es-ES"/>
          </a:p>
        </p:txBody>
      </p:sp>
      <p:sp>
        <p:nvSpPr>
          <p:cNvPr id="4" name="Marcador de pie de página 3">
            <a:extLst>
              <a:ext uri="{FF2B5EF4-FFF2-40B4-BE49-F238E27FC236}">
                <a16:creationId xmlns:a16="http://schemas.microsoft.com/office/drawing/2014/main" id="{2F2E7B1C-60E2-8A48-EEE0-6715FC30A8B7}"/>
              </a:ext>
            </a:extLst>
          </p:cNvPr>
          <p:cNvSpPr>
            <a:spLocks noGrp="1"/>
          </p:cNvSpPr>
          <p:nvPr>
            <p:ph type="ftr" sz="quarter" idx="2"/>
          </p:nvPr>
        </p:nvSpPr>
        <p:spPr>
          <a:xfrm>
            <a:off x="0" y="6513513"/>
            <a:ext cx="5283200" cy="344487"/>
          </a:xfrm>
          <a:prstGeom prst="rect">
            <a:avLst/>
          </a:prstGeom>
        </p:spPr>
        <p:txBody>
          <a:bodyPr vert="horz" lIns="91440" tIns="45720" rIns="91440" bIns="45720" rtlCol="0" anchor="b"/>
          <a:lstStyle>
            <a:lvl1pPr algn="l">
              <a:defRPr sz="1200"/>
            </a:lvl1pPr>
          </a:lstStyle>
          <a:p>
            <a:endParaRPr lang="es-ES"/>
          </a:p>
        </p:txBody>
      </p:sp>
      <p:sp>
        <p:nvSpPr>
          <p:cNvPr id="5" name="Marcador de número de diapositiva 4">
            <a:extLst>
              <a:ext uri="{FF2B5EF4-FFF2-40B4-BE49-F238E27FC236}">
                <a16:creationId xmlns:a16="http://schemas.microsoft.com/office/drawing/2014/main" id="{C428D795-4EA2-62F0-B78A-5F215C828C50}"/>
              </a:ext>
            </a:extLst>
          </p:cNvPr>
          <p:cNvSpPr>
            <a:spLocks noGrp="1"/>
          </p:cNvSpPr>
          <p:nvPr>
            <p:ph type="sldNum" sz="quarter" idx="3"/>
          </p:nvPr>
        </p:nvSpPr>
        <p:spPr>
          <a:xfrm>
            <a:off x="6905625" y="6513513"/>
            <a:ext cx="5283200" cy="344487"/>
          </a:xfrm>
          <a:prstGeom prst="rect">
            <a:avLst/>
          </a:prstGeom>
        </p:spPr>
        <p:txBody>
          <a:bodyPr vert="horz" lIns="91440" tIns="45720" rIns="91440" bIns="45720" rtlCol="0" anchor="b"/>
          <a:lstStyle>
            <a:lvl1pPr algn="r">
              <a:defRPr sz="1200"/>
            </a:lvl1pPr>
          </a:lstStyle>
          <a:p>
            <a:fld id="{4116A549-763A-4A89-A454-A94BAF51395E}" type="slidenum">
              <a:rPr lang="es-ES" smtClean="0"/>
              <a:t>‹Nº›</a:t>
            </a:fld>
            <a:endParaRPr lang="es-ES"/>
          </a:p>
        </p:txBody>
      </p:sp>
    </p:spTree>
    <p:extLst>
      <p:ext uri="{BB962C8B-B14F-4D97-AF65-F5344CB8AC3E}">
        <p14:creationId xmlns:p14="http://schemas.microsoft.com/office/powerpoint/2010/main" val="140347774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p:cNvSpPr>
            <a:spLocks noGrp="1"/>
          </p:cNvSpPr>
          <p:nvPr>
            <p:ph type="hdr" sz="quarter"/>
          </p:nvPr>
        </p:nvSpPr>
        <p:spPr>
          <a:xfrm>
            <a:off x="0" y="0"/>
            <a:ext cx="5283200" cy="344488"/>
          </a:xfrm>
          <a:prstGeom prst="rect">
            <a:avLst/>
          </a:prstGeom>
        </p:spPr>
        <p:txBody>
          <a:bodyPr vert="horz" lIns="91440" tIns="45720" rIns="91440" bIns="45720" rtlCol="0"/>
          <a:lstStyle>
            <a:lvl1pPr algn="l">
              <a:defRPr sz="1200"/>
            </a:lvl1pPr>
          </a:lstStyle>
          <a:p>
            <a:endParaRPr lang="es-ES"/>
          </a:p>
        </p:txBody>
      </p:sp>
      <p:sp>
        <p:nvSpPr>
          <p:cNvPr id="3" name="Marcador de fecha 2"/>
          <p:cNvSpPr>
            <a:spLocks noGrp="1"/>
          </p:cNvSpPr>
          <p:nvPr>
            <p:ph type="dt" idx="1"/>
          </p:nvPr>
        </p:nvSpPr>
        <p:spPr>
          <a:xfrm>
            <a:off x="6905625" y="0"/>
            <a:ext cx="5283200" cy="344488"/>
          </a:xfrm>
          <a:prstGeom prst="rect">
            <a:avLst/>
          </a:prstGeom>
        </p:spPr>
        <p:txBody>
          <a:bodyPr vert="horz" lIns="91440" tIns="45720" rIns="91440" bIns="45720" rtlCol="0"/>
          <a:lstStyle>
            <a:lvl1pPr algn="r">
              <a:defRPr sz="1200"/>
            </a:lvl1pPr>
          </a:lstStyle>
          <a:p>
            <a:fld id="{FACBDC12-F39B-4B97-8F4D-6734F9D366FF}" type="datetimeFigureOut">
              <a:rPr lang="es-ES" smtClean="0"/>
              <a:t>28/04/2026</a:t>
            </a:fld>
            <a:endParaRPr lang="es-ES"/>
          </a:p>
        </p:txBody>
      </p:sp>
      <p:sp>
        <p:nvSpPr>
          <p:cNvPr id="4" name="Marcador de imagen de diapositiva 3"/>
          <p:cNvSpPr>
            <a:spLocks noGrp="1" noRot="1" noChangeAspect="1"/>
          </p:cNvSpPr>
          <p:nvPr>
            <p:ph type="sldImg" idx="2"/>
          </p:nvPr>
        </p:nvSpPr>
        <p:spPr>
          <a:xfrm>
            <a:off x="4038600" y="857250"/>
            <a:ext cx="4114800" cy="2314575"/>
          </a:xfrm>
          <a:prstGeom prst="rect">
            <a:avLst/>
          </a:prstGeom>
          <a:noFill/>
          <a:ln w="12700">
            <a:solidFill>
              <a:prstClr val="black"/>
            </a:solidFill>
          </a:ln>
        </p:spPr>
        <p:txBody>
          <a:bodyPr vert="horz" lIns="91440" tIns="45720" rIns="91440" bIns="45720" rtlCol="0" anchor="ctr"/>
          <a:lstStyle/>
          <a:p>
            <a:endParaRPr lang="es-ES"/>
          </a:p>
        </p:txBody>
      </p:sp>
      <p:sp>
        <p:nvSpPr>
          <p:cNvPr id="5" name="Marcador de notas 4"/>
          <p:cNvSpPr>
            <a:spLocks noGrp="1"/>
          </p:cNvSpPr>
          <p:nvPr>
            <p:ph type="body" sz="quarter" idx="3"/>
          </p:nvPr>
        </p:nvSpPr>
        <p:spPr>
          <a:xfrm>
            <a:off x="1219200" y="3300413"/>
            <a:ext cx="9753600" cy="2700337"/>
          </a:xfrm>
          <a:prstGeom prst="rect">
            <a:avLst/>
          </a:prstGeom>
        </p:spPr>
        <p:txBody>
          <a:bodyPr vert="horz" lIns="91440" tIns="45720" rIns="91440" bIns="45720" rtlCol="0"/>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6" name="Marcador de pie de página 5"/>
          <p:cNvSpPr>
            <a:spLocks noGrp="1"/>
          </p:cNvSpPr>
          <p:nvPr>
            <p:ph type="ftr" sz="quarter" idx="4"/>
          </p:nvPr>
        </p:nvSpPr>
        <p:spPr>
          <a:xfrm>
            <a:off x="0" y="6513513"/>
            <a:ext cx="5283200" cy="344487"/>
          </a:xfrm>
          <a:prstGeom prst="rect">
            <a:avLst/>
          </a:prstGeom>
        </p:spPr>
        <p:txBody>
          <a:bodyPr vert="horz" lIns="91440" tIns="45720" rIns="91440" bIns="45720" rtlCol="0" anchor="b"/>
          <a:lstStyle>
            <a:lvl1pPr algn="l">
              <a:defRPr sz="1200"/>
            </a:lvl1pPr>
          </a:lstStyle>
          <a:p>
            <a:endParaRPr lang="es-ES"/>
          </a:p>
        </p:txBody>
      </p:sp>
      <p:sp>
        <p:nvSpPr>
          <p:cNvPr id="7" name="Marcador de número de diapositiva 6"/>
          <p:cNvSpPr>
            <a:spLocks noGrp="1"/>
          </p:cNvSpPr>
          <p:nvPr>
            <p:ph type="sldNum" sz="quarter" idx="5"/>
          </p:nvPr>
        </p:nvSpPr>
        <p:spPr>
          <a:xfrm>
            <a:off x="6905625" y="6513513"/>
            <a:ext cx="5283200" cy="344487"/>
          </a:xfrm>
          <a:prstGeom prst="rect">
            <a:avLst/>
          </a:prstGeom>
        </p:spPr>
        <p:txBody>
          <a:bodyPr vert="horz" lIns="91440" tIns="45720" rIns="91440" bIns="45720" rtlCol="0" anchor="b"/>
          <a:lstStyle>
            <a:lvl1pPr algn="r">
              <a:defRPr sz="1200"/>
            </a:lvl1pPr>
          </a:lstStyle>
          <a:p>
            <a:fld id="{676223B9-C868-4436-87D9-1A3152E1157A}" type="slidenum">
              <a:rPr lang="es-ES" smtClean="0"/>
              <a:t>‹Nº›</a:t>
            </a:fld>
            <a:endParaRPr lang="es-ES"/>
          </a:p>
        </p:txBody>
      </p:sp>
    </p:spTree>
    <p:extLst>
      <p:ext uri="{BB962C8B-B14F-4D97-AF65-F5344CB8AC3E}">
        <p14:creationId xmlns:p14="http://schemas.microsoft.com/office/powerpoint/2010/main" val="283421117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txBody>
          <a:bodyPr/>
          <a:lstStyle/>
          <a:p>
            <a:endParaRPr lang="es-ES"/>
          </a:p>
        </p:txBody>
      </p:sp>
      <p:sp>
        <p:nvSpPr>
          <p:cNvPr id="3" name="Marcador de notas 2"/>
          <p:cNvSpPr>
            <a:spLocks noGrp="1"/>
          </p:cNvSpPr>
          <p:nvPr>
            <p:ph type="body" idx="1"/>
          </p:nvPr>
        </p:nvSpPr>
        <p:spPr/>
        <p:txBody>
          <a:bodyPr/>
          <a:lstStyle/>
          <a:p>
            <a:endParaRPr lang="es-ES" dirty="0"/>
          </a:p>
        </p:txBody>
      </p:sp>
      <p:sp>
        <p:nvSpPr>
          <p:cNvPr id="4" name="Marcador de número de diapositiva 3"/>
          <p:cNvSpPr>
            <a:spLocks noGrp="1"/>
          </p:cNvSpPr>
          <p:nvPr>
            <p:ph type="sldNum" sz="quarter" idx="5"/>
          </p:nvPr>
        </p:nvSpPr>
        <p:spPr/>
        <p:txBody>
          <a:bodyPr/>
          <a:lstStyle/>
          <a:p>
            <a:fld id="{676223B9-C868-4436-87D9-1A3152E1157A}" type="slidenum">
              <a:rPr lang="es-ES" smtClean="0"/>
              <a:t>4</a:t>
            </a:fld>
            <a:endParaRPr lang="es-ES"/>
          </a:p>
        </p:txBody>
      </p:sp>
    </p:spTree>
    <p:extLst>
      <p:ext uri="{BB962C8B-B14F-4D97-AF65-F5344CB8AC3E}">
        <p14:creationId xmlns:p14="http://schemas.microsoft.com/office/powerpoint/2010/main" val="209253237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8B45BD-C169-38C7-AB6A-DB08951CB97F}"/>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3DBCB549-56A2-4EF8-2E44-1F150E68FE17}"/>
              </a:ext>
            </a:extLst>
          </p:cNvPr>
          <p:cNvSpPr>
            <a:spLocks noGrp="1" noRot="1" noChangeAspect="1"/>
          </p:cNvSpPr>
          <p:nvPr>
            <p:ph type="sldImg"/>
          </p:nvPr>
        </p:nvSpPr>
        <p:spPr/>
        <p:txBody>
          <a:bodyPr/>
          <a:lstStyle/>
          <a:p>
            <a:endParaRPr lang="es-ES"/>
          </a:p>
        </p:txBody>
      </p:sp>
      <p:sp>
        <p:nvSpPr>
          <p:cNvPr id="3" name="Marcador de notas 2">
            <a:extLst>
              <a:ext uri="{FF2B5EF4-FFF2-40B4-BE49-F238E27FC236}">
                <a16:creationId xmlns:a16="http://schemas.microsoft.com/office/drawing/2014/main" id="{975C1BBE-EA93-BCAF-26E6-2C5E24CF640A}"/>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D9C8216B-F176-A0CF-CA95-072CEAEF03FF}"/>
              </a:ext>
            </a:extLst>
          </p:cNvPr>
          <p:cNvSpPr>
            <a:spLocks noGrp="1"/>
          </p:cNvSpPr>
          <p:nvPr>
            <p:ph type="sldNum" sz="quarter" idx="5"/>
          </p:nvPr>
        </p:nvSpPr>
        <p:spPr/>
        <p:txBody>
          <a:bodyPr/>
          <a:lstStyle/>
          <a:p>
            <a:fld id="{676223B9-C868-4436-87D9-1A3152E1157A}" type="slidenum">
              <a:rPr lang="es-ES" smtClean="0"/>
              <a:t>5</a:t>
            </a:fld>
            <a:endParaRPr lang="es-ES"/>
          </a:p>
        </p:txBody>
      </p:sp>
    </p:spTree>
    <p:extLst>
      <p:ext uri="{BB962C8B-B14F-4D97-AF65-F5344CB8AC3E}">
        <p14:creationId xmlns:p14="http://schemas.microsoft.com/office/powerpoint/2010/main" val="49874799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EADE44-D640-BE01-78A6-5C5D2165D20E}"/>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8DB2BF37-4B8D-F03B-3C15-436D47CBC4F1}"/>
              </a:ext>
            </a:extLst>
          </p:cNvPr>
          <p:cNvSpPr>
            <a:spLocks noGrp="1" noRot="1" noChangeAspect="1"/>
          </p:cNvSpPr>
          <p:nvPr>
            <p:ph type="sldImg"/>
          </p:nvPr>
        </p:nvSpPr>
        <p:spPr/>
        <p:txBody>
          <a:bodyPr/>
          <a:lstStyle/>
          <a:p>
            <a:endParaRPr lang="es-ES"/>
          </a:p>
        </p:txBody>
      </p:sp>
      <p:sp>
        <p:nvSpPr>
          <p:cNvPr id="3" name="Marcador de notas 2">
            <a:extLst>
              <a:ext uri="{FF2B5EF4-FFF2-40B4-BE49-F238E27FC236}">
                <a16:creationId xmlns:a16="http://schemas.microsoft.com/office/drawing/2014/main" id="{FB13EBB1-DAFB-CED2-A82D-4113A46E9DEA}"/>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E8A6D332-6E5A-66AE-53B7-D5ABE7AC5662}"/>
              </a:ext>
            </a:extLst>
          </p:cNvPr>
          <p:cNvSpPr>
            <a:spLocks noGrp="1"/>
          </p:cNvSpPr>
          <p:nvPr>
            <p:ph type="sldNum" sz="quarter" idx="5"/>
          </p:nvPr>
        </p:nvSpPr>
        <p:spPr/>
        <p:txBody>
          <a:bodyPr/>
          <a:lstStyle/>
          <a:p>
            <a:fld id="{676223B9-C868-4436-87D9-1A3152E1157A}" type="slidenum">
              <a:rPr lang="es-ES" smtClean="0"/>
              <a:t>6</a:t>
            </a:fld>
            <a:endParaRPr lang="es-ES"/>
          </a:p>
        </p:txBody>
      </p:sp>
    </p:spTree>
    <p:extLst>
      <p:ext uri="{BB962C8B-B14F-4D97-AF65-F5344CB8AC3E}">
        <p14:creationId xmlns:p14="http://schemas.microsoft.com/office/powerpoint/2010/main" val="316325516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3C5711-C157-AA5E-1EA1-9F4C3F40B90E}"/>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FFA117F6-F66D-FFD4-422F-EBD94B31F3F1}"/>
              </a:ext>
            </a:extLst>
          </p:cNvPr>
          <p:cNvSpPr>
            <a:spLocks noGrp="1" noRot="1" noChangeAspect="1"/>
          </p:cNvSpPr>
          <p:nvPr>
            <p:ph type="sldImg"/>
          </p:nvPr>
        </p:nvSpPr>
        <p:spPr/>
        <p:txBody>
          <a:bodyPr/>
          <a:lstStyle/>
          <a:p>
            <a:endParaRPr lang="es-ES"/>
          </a:p>
        </p:txBody>
      </p:sp>
      <p:sp>
        <p:nvSpPr>
          <p:cNvPr id="3" name="Marcador de notas 2">
            <a:extLst>
              <a:ext uri="{FF2B5EF4-FFF2-40B4-BE49-F238E27FC236}">
                <a16:creationId xmlns:a16="http://schemas.microsoft.com/office/drawing/2014/main" id="{02B512FE-9F6C-4ABD-23FA-CA518B458D1F}"/>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9624E7A5-CBFC-658B-8E88-8AF8084D5BC4}"/>
              </a:ext>
            </a:extLst>
          </p:cNvPr>
          <p:cNvSpPr>
            <a:spLocks noGrp="1"/>
          </p:cNvSpPr>
          <p:nvPr>
            <p:ph type="sldNum" sz="quarter" idx="5"/>
          </p:nvPr>
        </p:nvSpPr>
        <p:spPr/>
        <p:txBody>
          <a:bodyPr/>
          <a:lstStyle/>
          <a:p>
            <a:fld id="{676223B9-C868-4436-87D9-1A3152E1157A}" type="slidenum">
              <a:rPr lang="es-ES" smtClean="0"/>
              <a:t>7</a:t>
            </a:fld>
            <a:endParaRPr lang="es-ES"/>
          </a:p>
        </p:txBody>
      </p:sp>
    </p:spTree>
    <p:extLst>
      <p:ext uri="{BB962C8B-B14F-4D97-AF65-F5344CB8AC3E}">
        <p14:creationId xmlns:p14="http://schemas.microsoft.com/office/powerpoint/2010/main" val="183296143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993BBE-3704-D894-1C10-5488EE611F08}"/>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19BB04E2-F70F-42F7-9964-3D274C49FB9C}"/>
              </a:ext>
            </a:extLst>
          </p:cNvPr>
          <p:cNvSpPr>
            <a:spLocks noGrp="1" noRot="1" noChangeAspect="1"/>
          </p:cNvSpPr>
          <p:nvPr>
            <p:ph type="sldImg"/>
          </p:nvPr>
        </p:nvSpPr>
        <p:spPr/>
        <p:txBody>
          <a:bodyPr/>
          <a:lstStyle/>
          <a:p>
            <a:endParaRPr lang="es-ES"/>
          </a:p>
        </p:txBody>
      </p:sp>
      <p:sp>
        <p:nvSpPr>
          <p:cNvPr id="3" name="Marcador de notas 2">
            <a:extLst>
              <a:ext uri="{FF2B5EF4-FFF2-40B4-BE49-F238E27FC236}">
                <a16:creationId xmlns:a16="http://schemas.microsoft.com/office/drawing/2014/main" id="{F6664AEC-7D1D-9DDC-3B94-3AE8450C7E5E}"/>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E8F62EEB-2D30-2026-D252-4267AF688251}"/>
              </a:ext>
            </a:extLst>
          </p:cNvPr>
          <p:cNvSpPr>
            <a:spLocks noGrp="1"/>
          </p:cNvSpPr>
          <p:nvPr>
            <p:ph type="sldNum" sz="quarter" idx="5"/>
          </p:nvPr>
        </p:nvSpPr>
        <p:spPr/>
        <p:txBody>
          <a:bodyPr/>
          <a:lstStyle/>
          <a:p>
            <a:fld id="{676223B9-C868-4436-87D9-1A3152E1157A}" type="slidenum">
              <a:rPr lang="es-ES" smtClean="0"/>
              <a:t>8</a:t>
            </a:fld>
            <a:endParaRPr lang="es-ES"/>
          </a:p>
        </p:txBody>
      </p:sp>
    </p:spTree>
    <p:extLst>
      <p:ext uri="{BB962C8B-B14F-4D97-AF65-F5344CB8AC3E}">
        <p14:creationId xmlns:p14="http://schemas.microsoft.com/office/powerpoint/2010/main" val="411607904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544EC2-E276-813B-A2B8-50981116D78F}"/>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A00B0DAD-8ED9-C31E-DF46-016EA80A080C}"/>
              </a:ext>
            </a:extLst>
          </p:cNvPr>
          <p:cNvSpPr>
            <a:spLocks noGrp="1" noRot="1" noChangeAspect="1"/>
          </p:cNvSpPr>
          <p:nvPr>
            <p:ph type="sldImg"/>
          </p:nvPr>
        </p:nvSpPr>
        <p:spPr/>
        <p:txBody>
          <a:bodyPr/>
          <a:lstStyle/>
          <a:p>
            <a:endParaRPr lang="es-ES"/>
          </a:p>
        </p:txBody>
      </p:sp>
      <p:sp>
        <p:nvSpPr>
          <p:cNvPr id="3" name="Marcador de notas 2">
            <a:extLst>
              <a:ext uri="{FF2B5EF4-FFF2-40B4-BE49-F238E27FC236}">
                <a16:creationId xmlns:a16="http://schemas.microsoft.com/office/drawing/2014/main" id="{6D32E1B8-3604-AC6E-AFB1-F7D04299C346}"/>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B92FA8A3-0EAC-BBD9-8E6C-CEB3D97F67A7}"/>
              </a:ext>
            </a:extLst>
          </p:cNvPr>
          <p:cNvSpPr>
            <a:spLocks noGrp="1"/>
          </p:cNvSpPr>
          <p:nvPr>
            <p:ph type="sldNum" sz="quarter" idx="5"/>
          </p:nvPr>
        </p:nvSpPr>
        <p:spPr/>
        <p:txBody>
          <a:bodyPr/>
          <a:lstStyle/>
          <a:p>
            <a:fld id="{676223B9-C868-4436-87D9-1A3152E1157A}" type="slidenum">
              <a:rPr lang="es-ES" smtClean="0"/>
              <a:t>9</a:t>
            </a:fld>
            <a:endParaRPr lang="es-ES"/>
          </a:p>
        </p:txBody>
      </p:sp>
    </p:spTree>
    <p:extLst>
      <p:ext uri="{BB962C8B-B14F-4D97-AF65-F5344CB8AC3E}">
        <p14:creationId xmlns:p14="http://schemas.microsoft.com/office/powerpoint/2010/main" val="331442484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48A979-2B98-79DB-AB84-50A4E943F515}"/>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BEA510CD-4C26-AEF1-F663-A7F4E94308E5}"/>
              </a:ext>
            </a:extLst>
          </p:cNvPr>
          <p:cNvSpPr>
            <a:spLocks noGrp="1" noRot="1" noChangeAspect="1"/>
          </p:cNvSpPr>
          <p:nvPr>
            <p:ph type="sldImg"/>
          </p:nvPr>
        </p:nvSpPr>
        <p:spPr/>
        <p:txBody>
          <a:bodyPr/>
          <a:lstStyle/>
          <a:p>
            <a:endParaRPr lang="es-ES"/>
          </a:p>
        </p:txBody>
      </p:sp>
      <p:sp>
        <p:nvSpPr>
          <p:cNvPr id="3" name="Marcador de notas 2">
            <a:extLst>
              <a:ext uri="{FF2B5EF4-FFF2-40B4-BE49-F238E27FC236}">
                <a16:creationId xmlns:a16="http://schemas.microsoft.com/office/drawing/2014/main" id="{1C36655E-470F-191D-5C45-F0B1D8FAD525}"/>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A2C671B2-73F3-853A-1A96-64A8F7E0895C}"/>
              </a:ext>
            </a:extLst>
          </p:cNvPr>
          <p:cNvSpPr>
            <a:spLocks noGrp="1"/>
          </p:cNvSpPr>
          <p:nvPr>
            <p:ph type="sldNum" sz="quarter" idx="5"/>
          </p:nvPr>
        </p:nvSpPr>
        <p:spPr/>
        <p:txBody>
          <a:bodyPr/>
          <a:lstStyle/>
          <a:p>
            <a:fld id="{676223B9-C868-4436-87D9-1A3152E1157A}" type="slidenum">
              <a:rPr lang="es-ES" smtClean="0"/>
              <a:t>10</a:t>
            </a:fld>
            <a:endParaRPr lang="es-ES"/>
          </a:p>
        </p:txBody>
      </p:sp>
    </p:spTree>
    <p:extLst>
      <p:ext uri="{BB962C8B-B14F-4D97-AF65-F5344CB8AC3E}">
        <p14:creationId xmlns:p14="http://schemas.microsoft.com/office/powerpoint/2010/main" val="209312717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3C5711-C157-AA5E-1EA1-9F4C3F40B90E}"/>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FFA117F6-F66D-FFD4-422F-EBD94B31F3F1}"/>
              </a:ext>
            </a:extLst>
          </p:cNvPr>
          <p:cNvSpPr>
            <a:spLocks noGrp="1" noRot="1" noChangeAspect="1"/>
          </p:cNvSpPr>
          <p:nvPr>
            <p:ph type="sldImg"/>
          </p:nvPr>
        </p:nvSpPr>
        <p:spPr/>
        <p:txBody>
          <a:bodyPr/>
          <a:lstStyle/>
          <a:p>
            <a:endParaRPr lang="es-ES"/>
          </a:p>
        </p:txBody>
      </p:sp>
      <p:sp>
        <p:nvSpPr>
          <p:cNvPr id="3" name="Marcador de notas 2">
            <a:extLst>
              <a:ext uri="{FF2B5EF4-FFF2-40B4-BE49-F238E27FC236}">
                <a16:creationId xmlns:a16="http://schemas.microsoft.com/office/drawing/2014/main" id="{02B512FE-9F6C-4ABD-23FA-CA518B458D1F}"/>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9624E7A5-CBFC-658B-8E88-8AF8084D5BC4}"/>
              </a:ext>
            </a:extLst>
          </p:cNvPr>
          <p:cNvSpPr>
            <a:spLocks noGrp="1"/>
          </p:cNvSpPr>
          <p:nvPr>
            <p:ph type="sldNum" sz="quarter" idx="5"/>
          </p:nvPr>
        </p:nvSpPr>
        <p:spPr/>
        <p:txBody>
          <a:bodyPr/>
          <a:lstStyle/>
          <a:p>
            <a:fld id="{676223B9-C868-4436-87D9-1A3152E1157A}" type="slidenum">
              <a:rPr lang="es-ES" smtClean="0"/>
              <a:t>11</a:t>
            </a:fld>
            <a:endParaRPr lang="es-ES"/>
          </a:p>
        </p:txBody>
      </p:sp>
    </p:spTree>
    <p:extLst>
      <p:ext uri="{BB962C8B-B14F-4D97-AF65-F5344CB8AC3E}">
        <p14:creationId xmlns:p14="http://schemas.microsoft.com/office/powerpoint/2010/main" val="183296143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023B86-D15F-9CD8-C5EA-3EAAD8BACCF7}"/>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5C73881A-26A5-ECF9-C6F2-3DEFA77AEFCC}"/>
              </a:ext>
            </a:extLst>
          </p:cNvPr>
          <p:cNvSpPr>
            <a:spLocks noGrp="1" noRot="1" noChangeAspect="1"/>
          </p:cNvSpPr>
          <p:nvPr>
            <p:ph type="sldImg"/>
          </p:nvPr>
        </p:nvSpPr>
        <p:spPr/>
        <p:txBody>
          <a:bodyPr/>
          <a:lstStyle/>
          <a:p>
            <a:endParaRPr lang="es-ES"/>
          </a:p>
        </p:txBody>
      </p:sp>
      <p:sp>
        <p:nvSpPr>
          <p:cNvPr id="3" name="Marcador de notas 2">
            <a:extLst>
              <a:ext uri="{FF2B5EF4-FFF2-40B4-BE49-F238E27FC236}">
                <a16:creationId xmlns:a16="http://schemas.microsoft.com/office/drawing/2014/main" id="{3B7AFC79-4973-3930-959B-AEF8810CFE6A}"/>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8345D0F3-6273-0338-FCDA-175B73D7C9EB}"/>
              </a:ext>
            </a:extLst>
          </p:cNvPr>
          <p:cNvSpPr>
            <a:spLocks noGrp="1"/>
          </p:cNvSpPr>
          <p:nvPr>
            <p:ph type="sldNum" sz="quarter" idx="5"/>
          </p:nvPr>
        </p:nvSpPr>
        <p:spPr/>
        <p:txBody>
          <a:bodyPr/>
          <a:lstStyle/>
          <a:p>
            <a:fld id="{676223B9-C868-4436-87D9-1A3152E1157A}" type="slidenum">
              <a:rPr lang="es-ES" smtClean="0"/>
              <a:t>13</a:t>
            </a:fld>
            <a:endParaRPr lang="es-ES"/>
          </a:p>
        </p:txBody>
      </p:sp>
    </p:spTree>
    <p:extLst>
      <p:ext uri="{BB962C8B-B14F-4D97-AF65-F5344CB8AC3E}">
        <p14:creationId xmlns:p14="http://schemas.microsoft.com/office/powerpoint/2010/main" val="343311592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4166F1-205C-5D31-E621-5BA91B01F87A}"/>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1982C0A2-C30B-9DDE-68E2-A4E60094FBFB}"/>
              </a:ext>
            </a:extLst>
          </p:cNvPr>
          <p:cNvSpPr>
            <a:spLocks noGrp="1" noRot="1" noChangeAspect="1"/>
          </p:cNvSpPr>
          <p:nvPr>
            <p:ph type="sldImg"/>
          </p:nvPr>
        </p:nvSpPr>
        <p:spPr/>
        <p:txBody>
          <a:bodyPr/>
          <a:lstStyle/>
          <a:p>
            <a:endParaRPr lang="es-ES"/>
          </a:p>
        </p:txBody>
      </p:sp>
      <p:sp>
        <p:nvSpPr>
          <p:cNvPr id="3" name="Marcador de notas 2">
            <a:extLst>
              <a:ext uri="{FF2B5EF4-FFF2-40B4-BE49-F238E27FC236}">
                <a16:creationId xmlns:a16="http://schemas.microsoft.com/office/drawing/2014/main" id="{719BC008-BE2D-9069-F55B-C6845FE43762}"/>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0051A2A4-5119-BA15-FDA7-8096099A2B36}"/>
              </a:ext>
            </a:extLst>
          </p:cNvPr>
          <p:cNvSpPr>
            <a:spLocks noGrp="1"/>
          </p:cNvSpPr>
          <p:nvPr>
            <p:ph type="sldNum" sz="quarter" idx="5"/>
          </p:nvPr>
        </p:nvSpPr>
        <p:spPr/>
        <p:txBody>
          <a:bodyPr/>
          <a:lstStyle/>
          <a:p>
            <a:fld id="{676223B9-C868-4436-87D9-1A3152E1157A}" type="slidenum">
              <a:rPr lang="es-ES" smtClean="0"/>
              <a:t>14</a:t>
            </a:fld>
            <a:endParaRPr lang="es-ES"/>
          </a:p>
        </p:txBody>
      </p:sp>
    </p:spTree>
    <p:extLst>
      <p:ext uri="{BB962C8B-B14F-4D97-AF65-F5344CB8AC3E}">
        <p14:creationId xmlns:p14="http://schemas.microsoft.com/office/powerpoint/2010/main" val="184960936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6764C4-4FD2-1A8B-448F-1FF8C2A21CED}"/>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896BFCD0-B352-C32A-B44C-5B8F7E634E8A}"/>
              </a:ext>
            </a:extLst>
          </p:cNvPr>
          <p:cNvSpPr>
            <a:spLocks noGrp="1" noRot="1" noChangeAspect="1"/>
          </p:cNvSpPr>
          <p:nvPr>
            <p:ph type="sldImg"/>
          </p:nvPr>
        </p:nvSpPr>
        <p:spPr/>
        <p:txBody>
          <a:bodyPr/>
          <a:lstStyle/>
          <a:p>
            <a:endParaRPr lang="es-ES"/>
          </a:p>
        </p:txBody>
      </p:sp>
      <p:sp>
        <p:nvSpPr>
          <p:cNvPr id="3" name="Marcador de notas 2">
            <a:extLst>
              <a:ext uri="{FF2B5EF4-FFF2-40B4-BE49-F238E27FC236}">
                <a16:creationId xmlns:a16="http://schemas.microsoft.com/office/drawing/2014/main" id="{CA2BE434-3325-69BE-2A77-4B2A549E9E1B}"/>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F1F6555B-C51E-6342-E42A-25FBFA6C0F3B}"/>
              </a:ext>
            </a:extLst>
          </p:cNvPr>
          <p:cNvSpPr>
            <a:spLocks noGrp="1"/>
          </p:cNvSpPr>
          <p:nvPr>
            <p:ph type="sldNum" sz="quarter" idx="5"/>
          </p:nvPr>
        </p:nvSpPr>
        <p:spPr/>
        <p:txBody>
          <a:bodyPr/>
          <a:lstStyle/>
          <a:p>
            <a:fld id="{676223B9-C868-4436-87D9-1A3152E1157A}" type="slidenum">
              <a:rPr lang="es-ES" smtClean="0"/>
              <a:t>15</a:t>
            </a:fld>
            <a:endParaRPr lang="es-ES"/>
          </a:p>
        </p:txBody>
      </p:sp>
    </p:spTree>
    <p:extLst>
      <p:ext uri="{BB962C8B-B14F-4D97-AF65-F5344CB8AC3E}">
        <p14:creationId xmlns:p14="http://schemas.microsoft.com/office/powerpoint/2010/main" val="362887958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F12144-FCBE-6A8A-A0AE-4B9D57DA8E19}"/>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D8B7E8D5-CF3D-FB31-A479-FE9B4678B44C}"/>
              </a:ext>
            </a:extLst>
          </p:cNvPr>
          <p:cNvSpPr>
            <a:spLocks noGrp="1" noRot="1" noChangeAspect="1"/>
          </p:cNvSpPr>
          <p:nvPr>
            <p:ph type="sldImg"/>
          </p:nvPr>
        </p:nvSpPr>
        <p:spPr/>
        <p:txBody>
          <a:bodyPr/>
          <a:lstStyle/>
          <a:p>
            <a:endParaRPr lang="es-ES"/>
          </a:p>
        </p:txBody>
      </p:sp>
      <p:sp>
        <p:nvSpPr>
          <p:cNvPr id="3" name="Marcador de notas 2">
            <a:extLst>
              <a:ext uri="{FF2B5EF4-FFF2-40B4-BE49-F238E27FC236}">
                <a16:creationId xmlns:a16="http://schemas.microsoft.com/office/drawing/2014/main" id="{F6E98ECD-779C-B147-FA65-387301E8BDD7}"/>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A4D029A2-BBAC-779C-5358-BB9C7A2A122B}"/>
              </a:ext>
            </a:extLst>
          </p:cNvPr>
          <p:cNvSpPr>
            <a:spLocks noGrp="1"/>
          </p:cNvSpPr>
          <p:nvPr>
            <p:ph type="sldNum" sz="quarter" idx="5"/>
          </p:nvPr>
        </p:nvSpPr>
        <p:spPr/>
        <p:txBody>
          <a:bodyPr/>
          <a:lstStyle/>
          <a:p>
            <a:fld id="{676223B9-C868-4436-87D9-1A3152E1157A}" type="slidenum">
              <a:rPr lang="es-ES" smtClean="0"/>
              <a:t>16</a:t>
            </a:fld>
            <a:endParaRPr lang="es-ES"/>
          </a:p>
        </p:txBody>
      </p:sp>
    </p:spTree>
    <p:extLst>
      <p:ext uri="{BB962C8B-B14F-4D97-AF65-F5344CB8AC3E}">
        <p14:creationId xmlns:p14="http://schemas.microsoft.com/office/powerpoint/2010/main" val="366451984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46B1C6-3682-4180-87C4-06A6C4E8012F}"/>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7AAE3208-A690-FD1F-E94C-D310F334A7EB}"/>
              </a:ext>
            </a:extLst>
          </p:cNvPr>
          <p:cNvSpPr>
            <a:spLocks noGrp="1" noRot="1" noChangeAspect="1"/>
          </p:cNvSpPr>
          <p:nvPr>
            <p:ph type="sldImg"/>
          </p:nvPr>
        </p:nvSpPr>
        <p:spPr/>
        <p:txBody>
          <a:bodyPr/>
          <a:lstStyle/>
          <a:p>
            <a:endParaRPr lang="es-ES"/>
          </a:p>
        </p:txBody>
      </p:sp>
      <p:sp>
        <p:nvSpPr>
          <p:cNvPr id="3" name="Marcador de notas 2">
            <a:extLst>
              <a:ext uri="{FF2B5EF4-FFF2-40B4-BE49-F238E27FC236}">
                <a16:creationId xmlns:a16="http://schemas.microsoft.com/office/drawing/2014/main" id="{08F7B85C-6C72-3DDD-289B-E766AA64E93D}"/>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B91AFB1E-8F28-1193-6909-CAB4A27B11F0}"/>
              </a:ext>
            </a:extLst>
          </p:cNvPr>
          <p:cNvSpPr>
            <a:spLocks noGrp="1"/>
          </p:cNvSpPr>
          <p:nvPr>
            <p:ph type="sldNum" sz="quarter" idx="5"/>
          </p:nvPr>
        </p:nvSpPr>
        <p:spPr/>
        <p:txBody>
          <a:bodyPr/>
          <a:lstStyle/>
          <a:p>
            <a:fld id="{676223B9-C868-4436-87D9-1A3152E1157A}" type="slidenum">
              <a:rPr lang="es-ES" smtClean="0"/>
              <a:t>17</a:t>
            </a:fld>
            <a:endParaRPr lang="es-ES"/>
          </a:p>
        </p:txBody>
      </p:sp>
    </p:spTree>
    <p:extLst>
      <p:ext uri="{BB962C8B-B14F-4D97-AF65-F5344CB8AC3E}">
        <p14:creationId xmlns:p14="http://schemas.microsoft.com/office/powerpoint/2010/main" val="2835170996"/>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90BA22-DBA9-14F1-E21B-ACB4C6B7F323}"/>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7316E6B2-214F-F40F-258D-FF87081027D2}"/>
              </a:ext>
            </a:extLst>
          </p:cNvPr>
          <p:cNvSpPr>
            <a:spLocks noGrp="1" noRot="1" noChangeAspect="1"/>
          </p:cNvSpPr>
          <p:nvPr>
            <p:ph type="sldImg"/>
          </p:nvPr>
        </p:nvSpPr>
        <p:spPr/>
        <p:txBody>
          <a:bodyPr/>
          <a:lstStyle/>
          <a:p>
            <a:endParaRPr lang="es-ES"/>
          </a:p>
        </p:txBody>
      </p:sp>
      <p:sp>
        <p:nvSpPr>
          <p:cNvPr id="3" name="Marcador de notas 2">
            <a:extLst>
              <a:ext uri="{FF2B5EF4-FFF2-40B4-BE49-F238E27FC236}">
                <a16:creationId xmlns:a16="http://schemas.microsoft.com/office/drawing/2014/main" id="{1DB75D3B-42C9-35E9-99BA-0268BA71467A}"/>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1A531B01-1E40-9F79-3CC8-FA6E8156BAFE}"/>
              </a:ext>
            </a:extLst>
          </p:cNvPr>
          <p:cNvSpPr>
            <a:spLocks noGrp="1"/>
          </p:cNvSpPr>
          <p:nvPr>
            <p:ph type="sldNum" sz="quarter" idx="5"/>
          </p:nvPr>
        </p:nvSpPr>
        <p:spPr/>
        <p:txBody>
          <a:bodyPr/>
          <a:lstStyle/>
          <a:p>
            <a:fld id="{676223B9-C868-4436-87D9-1A3152E1157A}" type="slidenum">
              <a:rPr lang="es-ES" smtClean="0"/>
              <a:t>18</a:t>
            </a:fld>
            <a:endParaRPr lang="es-ES"/>
          </a:p>
        </p:txBody>
      </p:sp>
    </p:spTree>
    <p:extLst>
      <p:ext uri="{BB962C8B-B14F-4D97-AF65-F5344CB8AC3E}">
        <p14:creationId xmlns:p14="http://schemas.microsoft.com/office/powerpoint/2010/main" val="71495306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918B0B-1527-F1CE-B7C6-3A4EEEE44FB1}"/>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BD26890C-BFDE-EB57-C86A-5199A0D96212}"/>
              </a:ext>
            </a:extLst>
          </p:cNvPr>
          <p:cNvSpPr>
            <a:spLocks noGrp="1" noRot="1" noChangeAspect="1"/>
          </p:cNvSpPr>
          <p:nvPr>
            <p:ph type="sldImg"/>
          </p:nvPr>
        </p:nvSpPr>
        <p:spPr/>
        <p:txBody>
          <a:bodyPr/>
          <a:lstStyle/>
          <a:p>
            <a:endParaRPr lang="es-ES"/>
          </a:p>
        </p:txBody>
      </p:sp>
      <p:sp>
        <p:nvSpPr>
          <p:cNvPr id="3" name="Marcador de notas 2">
            <a:extLst>
              <a:ext uri="{FF2B5EF4-FFF2-40B4-BE49-F238E27FC236}">
                <a16:creationId xmlns:a16="http://schemas.microsoft.com/office/drawing/2014/main" id="{2EEF1C62-7FB2-EC14-4109-CC2B3204CEBD}"/>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388CFB6A-4B50-8F81-53B5-44C94D279BC8}"/>
              </a:ext>
            </a:extLst>
          </p:cNvPr>
          <p:cNvSpPr>
            <a:spLocks noGrp="1"/>
          </p:cNvSpPr>
          <p:nvPr>
            <p:ph type="sldNum" sz="quarter" idx="5"/>
          </p:nvPr>
        </p:nvSpPr>
        <p:spPr/>
        <p:txBody>
          <a:bodyPr/>
          <a:lstStyle/>
          <a:p>
            <a:fld id="{676223B9-C868-4436-87D9-1A3152E1157A}" type="slidenum">
              <a:rPr lang="es-ES" smtClean="0"/>
              <a:t>19</a:t>
            </a:fld>
            <a:endParaRPr lang="es-ES"/>
          </a:p>
        </p:txBody>
      </p:sp>
    </p:spTree>
    <p:extLst>
      <p:ext uri="{BB962C8B-B14F-4D97-AF65-F5344CB8AC3E}">
        <p14:creationId xmlns:p14="http://schemas.microsoft.com/office/powerpoint/2010/main" val="915560842"/>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txBody>
          <a:bodyPr/>
          <a:lstStyle/>
          <a:p>
            <a:endParaRPr lang="es-ES"/>
          </a:p>
        </p:txBody>
      </p:sp>
      <p:sp>
        <p:nvSpPr>
          <p:cNvPr id="3" name="Marcador de notas 2"/>
          <p:cNvSpPr>
            <a:spLocks noGrp="1"/>
          </p:cNvSpPr>
          <p:nvPr>
            <p:ph type="body" idx="1"/>
          </p:nvPr>
        </p:nvSpPr>
        <p:spPr/>
        <p:txBody>
          <a:bodyPr/>
          <a:lstStyle/>
          <a:p>
            <a:endParaRPr lang="es-ES" dirty="0"/>
          </a:p>
        </p:txBody>
      </p:sp>
      <p:sp>
        <p:nvSpPr>
          <p:cNvPr id="4" name="Marcador de número de diapositiva 3"/>
          <p:cNvSpPr>
            <a:spLocks noGrp="1"/>
          </p:cNvSpPr>
          <p:nvPr>
            <p:ph type="sldNum" sz="quarter" idx="5"/>
          </p:nvPr>
        </p:nvSpPr>
        <p:spPr/>
        <p:txBody>
          <a:bodyPr/>
          <a:lstStyle/>
          <a:p>
            <a:fld id="{676223B9-C868-4436-87D9-1A3152E1157A}" type="slidenum">
              <a:rPr lang="es-ES" smtClean="0"/>
              <a:t>20</a:t>
            </a:fld>
            <a:endParaRPr lang="es-ES"/>
          </a:p>
        </p:txBody>
      </p:sp>
    </p:spTree>
    <p:extLst>
      <p:ext uri="{BB962C8B-B14F-4D97-AF65-F5344CB8AC3E}">
        <p14:creationId xmlns:p14="http://schemas.microsoft.com/office/powerpoint/2010/main" val="942232946"/>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C9112F-7FB7-4F49-F4F6-C1D0DC6ADBEE}"/>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5190F532-536D-B583-3561-FD0C56234D42}"/>
              </a:ext>
            </a:extLst>
          </p:cNvPr>
          <p:cNvSpPr>
            <a:spLocks noGrp="1" noRot="1" noChangeAspect="1"/>
          </p:cNvSpPr>
          <p:nvPr>
            <p:ph type="sldImg"/>
          </p:nvPr>
        </p:nvSpPr>
        <p:spPr/>
        <p:txBody>
          <a:bodyPr/>
          <a:lstStyle/>
          <a:p>
            <a:endParaRPr lang="es-ES"/>
          </a:p>
        </p:txBody>
      </p:sp>
      <p:sp>
        <p:nvSpPr>
          <p:cNvPr id="3" name="Marcador de notas 2">
            <a:extLst>
              <a:ext uri="{FF2B5EF4-FFF2-40B4-BE49-F238E27FC236}">
                <a16:creationId xmlns:a16="http://schemas.microsoft.com/office/drawing/2014/main" id="{CC233B1A-142E-BC7B-FE19-6D22CE4082B2}"/>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685087E6-8FC6-B2E3-2D74-B3C5168F5568}"/>
              </a:ext>
            </a:extLst>
          </p:cNvPr>
          <p:cNvSpPr>
            <a:spLocks noGrp="1"/>
          </p:cNvSpPr>
          <p:nvPr>
            <p:ph type="sldNum" sz="quarter" idx="5"/>
          </p:nvPr>
        </p:nvSpPr>
        <p:spPr/>
        <p:txBody>
          <a:bodyPr/>
          <a:lstStyle/>
          <a:p>
            <a:fld id="{676223B9-C868-4436-87D9-1A3152E1157A}" type="slidenum">
              <a:rPr lang="es-ES" smtClean="0"/>
              <a:t>21</a:t>
            </a:fld>
            <a:endParaRPr lang="es-ES"/>
          </a:p>
        </p:txBody>
      </p:sp>
    </p:spTree>
    <p:extLst>
      <p:ext uri="{BB962C8B-B14F-4D97-AF65-F5344CB8AC3E}">
        <p14:creationId xmlns:p14="http://schemas.microsoft.com/office/powerpoint/2010/main" val="1581859005"/>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993BBE-3704-D894-1C10-5488EE611F08}"/>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19BB04E2-F70F-42F7-9964-3D274C49FB9C}"/>
              </a:ext>
            </a:extLst>
          </p:cNvPr>
          <p:cNvSpPr>
            <a:spLocks noGrp="1" noRot="1" noChangeAspect="1"/>
          </p:cNvSpPr>
          <p:nvPr>
            <p:ph type="sldImg"/>
          </p:nvPr>
        </p:nvSpPr>
        <p:spPr/>
        <p:txBody>
          <a:bodyPr/>
          <a:lstStyle/>
          <a:p>
            <a:endParaRPr lang="es-ES"/>
          </a:p>
        </p:txBody>
      </p:sp>
      <p:sp>
        <p:nvSpPr>
          <p:cNvPr id="3" name="Marcador de notas 2">
            <a:extLst>
              <a:ext uri="{FF2B5EF4-FFF2-40B4-BE49-F238E27FC236}">
                <a16:creationId xmlns:a16="http://schemas.microsoft.com/office/drawing/2014/main" id="{F6664AEC-7D1D-9DDC-3B94-3AE8450C7E5E}"/>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E8F62EEB-2D30-2026-D252-4267AF688251}"/>
              </a:ext>
            </a:extLst>
          </p:cNvPr>
          <p:cNvSpPr>
            <a:spLocks noGrp="1"/>
          </p:cNvSpPr>
          <p:nvPr>
            <p:ph type="sldNum" sz="quarter" idx="5"/>
          </p:nvPr>
        </p:nvSpPr>
        <p:spPr/>
        <p:txBody>
          <a:bodyPr/>
          <a:lstStyle/>
          <a:p>
            <a:fld id="{676223B9-C868-4436-87D9-1A3152E1157A}" type="slidenum">
              <a:rPr lang="es-ES" smtClean="0"/>
              <a:t>22</a:t>
            </a:fld>
            <a:endParaRPr lang="es-ES"/>
          </a:p>
        </p:txBody>
      </p:sp>
    </p:spTree>
    <p:extLst>
      <p:ext uri="{BB962C8B-B14F-4D97-AF65-F5344CB8AC3E}">
        <p14:creationId xmlns:p14="http://schemas.microsoft.com/office/powerpoint/2010/main" val="2905953062"/>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E3BE0A-4FED-FF2A-A29F-A3D3BA9386AE}"/>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F78D4508-C900-33E0-69A9-12D9A5EC8BE2}"/>
              </a:ext>
            </a:extLst>
          </p:cNvPr>
          <p:cNvSpPr>
            <a:spLocks noGrp="1" noRot="1" noChangeAspect="1"/>
          </p:cNvSpPr>
          <p:nvPr>
            <p:ph type="sldImg"/>
          </p:nvPr>
        </p:nvSpPr>
        <p:spPr/>
        <p:txBody>
          <a:bodyPr/>
          <a:lstStyle/>
          <a:p>
            <a:endParaRPr lang="es-ES"/>
          </a:p>
        </p:txBody>
      </p:sp>
      <p:sp>
        <p:nvSpPr>
          <p:cNvPr id="3" name="Marcador de notas 2">
            <a:extLst>
              <a:ext uri="{FF2B5EF4-FFF2-40B4-BE49-F238E27FC236}">
                <a16:creationId xmlns:a16="http://schemas.microsoft.com/office/drawing/2014/main" id="{23678FD2-F52A-F464-A6DC-9AE4044DCA67}"/>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A6FF2B29-AFFB-903E-D5AD-4E4E99BA5701}"/>
              </a:ext>
            </a:extLst>
          </p:cNvPr>
          <p:cNvSpPr>
            <a:spLocks noGrp="1"/>
          </p:cNvSpPr>
          <p:nvPr>
            <p:ph type="sldNum" sz="quarter" idx="5"/>
          </p:nvPr>
        </p:nvSpPr>
        <p:spPr/>
        <p:txBody>
          <a:bodyPr/>
          <a:lstStyle/>
          <a:p>
            <a:fld id="{676223B9-C868-4436-87D9-1A3152E1157A}" type="slidenum">
              <a:rPr lang="es-ES" smtClean="0"/>
              <a:t>23</a:t>
            </a:fld>
            <a:endParaRPr lang="es-ES"/>
          </a:p>
        </p:txBody>
      </p:sp>
    </p:spTree>
    <p:extLst>
      <p:ext uri="{BB962C8B-B14F-4D97-AF65-F5344CB8AC3E}">
        <p14:creationId xmlns:p14="http://schemas.microsoft.com/office/powerpoint/2010/main" val="108329863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obj" preserve="1">
  <p:cSld name="Title Slide">
    <p:spTree>
      <p:nvGrpSpPr>
        <p:cNvPr id="1" name=""/>
        <p:cNvGrpSpPr/>
        <p:nvPr/>
      </p:nvGrpSpPr>
      <p:grpSpPr>
        <a:xfrm>
          <a:off x="0" y="0"/>
          <a:ext cx="0" cy="0"/>
          <a:chOff x="0" y="0"/>
          <a:chExt cx="0" cy="0"/>
        </a:xfrm>
      </p:grpSpPr>
      <p:sp>
        <p:nvSpPr>
          <p:cNvPr id="2" name="Holder 2"/>
          <p:cNvSpPr>
            <a:spLocks noGrp="1"/>
          </p:cNvSpPr>
          <p:nvPr>
            <p:ph type="ctrTitle"/>
          </p:nvPr>
        </p:nvSpPr>
        <p:spPr>
          <a:xfrm>
            <a:off x="914400" y="2125980"/>
            <a:ext cx="10363200" cy="1440180"/>
          </a:xfrm>
          <a:prstGeom prst="rect">
            <a:avLst/>
          </a:prstGeom>
        </p:spPr>
        <p:txBody>
          <a:bodyPr wrap="square" lIns="0" tIns="0" rIns="0" bIns="0">
            <a:spAutoFit/>
          </a:bodyPr>
          <a:lstStyle>
            <a:lvl1pPr>
              <a:defRPr/>
            </a:lvl1pPr>
          </a:lstStyle>
          <a:p>
            <a:endParaRPr/>
          </a:p>
        </p:txBody>
      </p:sp>
      <p:sp>
        <p:nvSpPr>
          <p:cNvPr id="3" name="Holder 3"/>
          <p:cNvSpPr>
            <a:spLocks noGrp="1"/>
          </p:cNvSpPr>
          <p:nvPr>
            <p:ph type="subTitle" idx="4"/>
          </p:nvPr>
        </p:nvSpPr>
        <p:spPr>
          <a:xfrm>
            <a:off x="1828800" y="3840480"/>
            <a:ext cx="8534400" cy="1714500"/>
          </a:xfrm>
          <a:prstGeom prst="rect">
            <a:avLst/>
          </a:prstGeom>
        </p:spPr>
        <p:txBody>
          <a:bodyPr wrap="square" lIns="0" tIns="0" rIns="0" bIns="0">
            <a:spAutoFit/>
          </a:bodyPr>
          <a:lstStyle>
            <a:lvl1pPr>
              <a:defRPr/>
            </a:lvl1pPr>
          </a:lstStyle>
          <a:p>
            <a:endParaRPr/>
          </a:p>
        </p:txBody>
      </p:sp>
      <p:sp>
        <p:nvSpPr>
          <p:cNvPr id="4" name="Holder 4"/>
          <p:cNvSpPr>
            <a:spLocks noGrp="1"/>
          </p:cNvSpPr>
          <p:nvPr>
            <p:ph type="ftr" sz="quarter" idx="5"/>
          </p:nvPr>
        </p:nvSpPr>
        <p:spPr/>
        <p:txBody>
          <a:bodyPr lIns="0" tIns="0" rIns="0" bIns="0"/>
          <a:lstStyle>
            <a:lvl1pPr>
              <a:defRPr sz="900" b="0" i="0">
                <a:solidFill>
                  <a:srgbClr val="585858"/>
                </a:solidFill>
                <a:latin typeface="Arial"/>
                <a:cs typeface="Arial"/>
              </a:defRPr>
            </a:lvl1pPr>
          </a:lstStyle>
          <a:p>
            <a:pPr marL="12700">
              <a:lnSpc>
                <a:spcPct val="100000"/>
              </a:lnSpc>
              <a:spcBef>
                <a:spcPts val="15"/>
              </a:spcBef>
            </a:pPr>
            <a:r>
              <a:rPr lang="es-ES" spc="-5"/>
              <a:t>LAB 2.0. COUPLERS</a:t>
            </a:r>
            <a:endParaRPr spc="-5" dirty="0"/>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endParaRPr lang="en-US"/>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‹Nº›</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Holder 2"/>
          <p:cNvSpPr>
            <a:spLocks noGrp="1"/>
          </p:cNvSpPr>
          <p:nvPr>
            <p:ph type="title"/>
          </p:nvPr>
        </p:nvSpPr>
        <p:spPr>
          <a:xfrm>
            <a:off x="590550" y="206752"/>
            <a:ext cx="10991850" cy="307777"/>
          </a:xfrm>
        </p:spPr>
        <p:txBody>
          <a:bodyPr lIns="0" tIns="0" rIns="0" bIns="0"/>
          <a:lstStyle>
            <a:lvl1pPr>
              <a:defRPr sz="2000" b="1" i="0">
                <a:solidFill>
                  <a:schemeClr val="tx1"/>
                </a:solidFill>
                <a:latin typeface="Calibri"/>
                <a:cs typeface="Calibri"/>
              </a:defRPr>
            </a:lvl1pPr>
          </a:lstStyle>
          <a:p>
            <a:endParaRPr dirty="0"/>
          </a:p>
        </p:txBody>
      </p:sp>
      <p:sp>
        <p:nvSpPr>
          <p:cNvPr id="3" name="Holder 3"/>
          <p:cNvSpPr>
            <a:spLocks noGrp="1"/>
          </p:cNvSpPr>
          <p:nvPr>
            <p:ph type="body" idx="1"/>
          </p:nvPr>
        </p:nvSpPr>
        <p:spPr>
          <a:xfrm>
            <a:off x="609600" y="2152910"/>
            <a:ext cx="10972800" cy="3950710"/>
          </a:xfrm>
        </p:spPr>
        <p:txBody>
          <a:bodyPr lIns="0" tIns="0" rIns="0" bIns="0"/>
          <a:lstStyle>
            <a:lvl1pPr>
              <a:defRPr/>
            </a:lvl1pPr>
          </a:lstStyle>
          <a:p>
            <a:endParaRPr dirty="0"/>
          </a:p>
        </p:txBody>
      </p:sp>
      <p:sp>
        <p:nvSpPr>
          <p:cNvPr id="4" name="Holder 4"/>
          <p:cNvSpPr>
            <a:spLocks noGrp="1"/>
          </p:cNvSpPr>
          <p:nvPr>
            <p:ph type="ftr" sz="quarter" idx="5"/>
          </p:nvPr>
        </p:nvSpPr>
        <p:spPr>
          <a:xfrm>
            <a:off x="609600" y="6457057"/>
            <a:ext cx="2743200" cy="184666"/>
          </a:xfrm>
        </p:spPr>
        <p:txBody>
          <a:bodyPr lIns="0" tIns="0" rIns="0" bIns="0" anchor="ctr"/>
          <a:lstStyle>
            <a:lvl1pPr>
              <a:defRPr sz="1200" b="0" i="0">
                <a:solidFill>
                  <a:srgbClr val="585858"/>
                </a:solidFill>
                <a:latin typeface="Arial"/>
                <a:cs typeface="Arial"/>
              </a:defRPr>
            </a:lvl1pPr>
          </a:lstStyle>
          <a:p>
            <a:pPr marL="12700">
              <a:spcBef>
                <a:spcPts val="15"/>
              </a:spcBef>
            </a:pPr>
            <a:r>
              <a:rPr lang="es-ES" spc="-5"/>
              <a:t>LAB 2.0. COUPLERS</a:t>
            </a:r>
            <a:endParaRPr lang="es-ES" spc="-5" dirty="0"/>
          </a:p>
        </p:txBody>
      </p:sp>
      <p:sp>
        <p:nvSpPr>
          <p:cNvPr id="6" name="Holder 6"/>
          <p:cNvSpPr>
            <a:spLocks noGrp="1"/>
          </p:cNvSpPr>
          <p:nvPr>
            <p:ph type="sldNum" sz="quarter" idx="7"/>
          </p:nvPr>
        </p:nvSpPr>
        <p:spPr>
          <a:xfrm>
            <a:off x="9311640" y="6377940"/>
            <a:ext cx="2804160" cy="342900"/>
          </a:xfrm>
        </p:spPr>
        <p:txBody>
          <a:bodyPr lIns="0" tIns="0" rIns="0" bIns="0"/>
          <a:lstStyle>
            <a:lvl1pPr algn="r">
              <a:defRPr>
                <a:solidFill>
                  <a:schemeClr val="tx1">
                    <a:tint val="75000"/>
                  </a:schemeClr>
                </a:solidFill>
              </a:defRPr>
            </a:lvl1pPr>
          </a:lstStyle>
          <a:p>
            <a:fld id="{B6F15528-21DE-4FAA-801E-634DDDAF4B2B}" type="slidenum">
              <a:t>‹Nº›</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wo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1600" b="0" i="0">
                <a:solidFill>
                  <a:schemeClr val="tx1"/>
                </a:solidFill>
                <a:latin typeface="Calibri"/>
                <a:cs typeface="Calibri"/>
              </a:defRPr>
            </a:lvl1pPr>
          </a:lstStyle>
          <a:p>
            <a:endParaRPr/>
          </a:p>
        </p:txBody>
      </p:sp>
      <p:sp>
        <p:nvSpPr>
          <p:cNvPr id="3" name="Holder 3"/>
          <p:cNvSpPr>
            <a:spLocks noGrp="1"/>
          </p:cNvSpPr>
          <p:nvPr>
            <p:ph sz="half" idx="2"/>
          </p:nvPr>
        </p:nvSpPr>
        <p:spPr>
          <a:xfrm>
            <a:off x="609600" y="1577340"/>
            <a:ext cx="5303520" cy="4526280"/>
          </a:xfrm>
          <a:prstGeom prst="rect">
            <a:avLst/>
          </a:prstGeom>
        </p:spPr>
        <p:txBody>
          <a:bodyPr wrap="square" lIns="0" tIns="0" rIns="0" bIns="0">
            <a:spAutoFit/>
          </a:bodyPr>
          <a:lstStyle>
            <a:lvl1pPr>
              <a:defRPr/>
            </a:lvl1pPr>
          </a:lstStyle>
          <a:p>
            <a:endParaRPr/>
          </a:p>
        </p:txBody>
      </p:sp>
      <p:sp>
        <p:nvSpPr>
          <p:cNvPr id="4" name="Holder 4"/>
          <p:cNvSpPr>
            <a:spLocks noGrp="1"/>
          </p:cNvSpPr>
          <p:nvPr>
            <p:ph sz="half" idx="3"/>
          </p:nvPr>
        </p:nvSpPr>
        <p:spPr>
          <a:xfrm>
            <a:off x="6278880" y="1577340"/>
            <a:ext cx="5303520" cy="4526280"/>
          </a:xfrm>
          <a:prstGeom prst="rect">
            <a:avLst/>
          </a:prstGeom>
        </p:spPr>
        <p:txBody>
          <a:bodyPr wrap="square" lIns="0" tIns="0" rIns="0" bIns="0">
            <a:spAutoFit/>
          </a:bodyPr>
          <a:lstStyle>
            <a:lvl1pPr>
              <a:defRPr/>
            </a:lvl1pPr>
          </a:lstStyle>
          <a:p>
            <a:endParaRPr/>
          </a:p>
        </p:txBody>
      </p:sp>
      <p:sp>
        <p:nvSpPr>
          <p:cNvPr id="5" name="Holder 5"/>
          <p:cNvSpPr>
            <a:spLocks noGrp="1"/>
          </p:cNvSpPr>
          <p:nvPr>
            <p:ph type="ftr" sz="quarter" idx="5"/>
          </p:nvPr>
        </p:nvSpPr>
        <p:spPr/>
        <p:txBody>
          <a:bodyPr lIns="0" tIns="0" rIns="0" bIns="0"/>
          <a:lstStyle>
            <a:lvl1pPr>
              <a:defRPr sz="900" b="0" i="0">
                <a:solidFill>
                  <a:srgbClr val="585858"/>
                </a:solidFill>
                <a:latin typeface="Arial"/>
                <a:cs typeface="Arial"/>
              </a:defRPr>
            </a:lvl1pPr>
          </a:lstStyle>
          <a:p>
            <a:pPr marL="12700">
              <a:lnSpc>
                <a:spcPct val="100000"/>
              </a:lnSpc>
              <a:spcBef>
                <a:spcPts val="15"/>
              </a:spcBef>
            </a:pPr>
            <a:r>
              <a:rPr lang="es-ES" spc="-5"/>
              <a:t>LAB 2.0. COUPLERS</a:t>
            </a:r>
            <a:endParaRPr spc="-5" dirty="0"/>
          </a:p>
        </p:txBody>
      </p:sp>
      <p:sp>
        <p:nvSpPr>
          <p:cNvPr id="6" name="Holder 6"/>
          <p:cNvSpPr>
            <a:spLocks noGrp="1"/>
          </p:cNvSpPr>
          <p:nvPr>
            <p:ph type="dt" sz="half" idx="6"/>
          </p:nvPr>
        </p:nvSpPr>
        <p:spPr/>
        <p:txBody>
          <a:bodyPr lIns="0" tIns="0" rIns="0" bIns="0"/>
          <a:lstStyle>
            <a:lvl1pPr algn="l">
              <a:defRPr>
                <a:solidFill>
                  <a:schemeClr val="tx1">
                    <a:tint val="75000"/>
                  </a:schemeClr>
                </a:solidFill>
              </a:defRPr>
            </a:lvl1pPr>
          </a:lstStyle>
          <a:p>
            <a:endParaRPr lang="en-US"/>
          </a:p>
        </p:txBody>
      </p:sp>
      <p:sp>
        <p:nvSpPr>
          <p:cNvPr id="7" name="Holder 7"/>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‹Nº›</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type="obj" preserve="1">
  <p:cSld name="Title Only">
    <p:bg>
      <p:bgPr>
        <a:solidFill>
          <a:schemeClr val="bg1"/>
        </a:solidFill>
        <a:effectLst/>
      </p:bgPr>
    </p:bg>
    <p:spTree>
      <p:nvGrpSpPr>
        <p:cNvPr id="1" name=""/>
        <p:cNvGrpSpPr/>
        <p:nvPr/>
      </p:nvGrpSpPr>
      <p:grpSpPr>
        <a:xfrm>
          <a:off x="0" y="0"/>
          <a:ext cx="0" cy="0"/>
          <a:chOff x="0" y="0"/>
          <a:chExt cx="0" cy="0"/>
        </a:xfrm>
      </p:grpSpPr>
      <p:sp>
        <p:nvSpPr>
          <p:cNvPr id="16" name="bk object 16"/>
          <p:cNvSpPr/>
          <p:nvPr/>
        </p:nvSpPr>
        <p:spPr>
          <a:xfrm>
            <a:off x="0" y="2636520"/>
            <a:ext cx="3944620" cy="1584960"/>
          </a:xfrm>
          <a:custGeom>
            <a:avLst/>
            <a:gdLst/>
            <a:ahLst/>
            <a:cxnLst/>
            <a:rect l="l" t="t" r="r" b="b"/>
            <a:pathLst>
              <a:path w="3944620" h="1584960">
                <a:moveTo>
                  <a:pt x="0" y="1584959"/>
                </a:moveTo>
                <a:lnTo>
                  <a:pt x="3944112" y="1584959"/>
                </a:lnTo>
                <a:lnTo>
                  <a:pt x="3944112" y="0"/>
                </a:lnTo>
                <a:lnTo>
                  <a:pt x="0" y="0"/>
                </a:lnTo>
                <a:lnTo>
                  <a:pt x="0" y="1584959"/>
                </a:lnTo>
                <a:close/>
              </a:path>
            </a:pathLst>
          </a:custGeom>
          <a:solidFill>
            <a:srgbClr val="000000"/>
          </a:solidFill>
        </p:spPr>
        <p:txBody>
          <a:bodyPr wrap="square" lIns="0" tIns="0" rIns="0" bIns="0" rtlCol="0"/>
          <a:lstStyle/>
          <a:p>
            <a:endParaRPr/>
          </a:p>
        </p:txBody>
      </p:sp>
      <p:sp>
        <p:nvSpPr>
          <p:cNvPr id="17" name="bk object 17"/>
          <p:cNvSpPr/>
          <p:nvPr/>
        </p:nvSpPr>
        <p:spPr>
          <a:xfrm>
            <a:off x="771144" y="2951988"/>
            <a:ext cx="2403348" cy="954024"/>
          </a:xfrm>
          <a:prstGeom prst="rect">
            <a:avLst/>
          </a:prstGeom>
          <a:blipFill>
            <a:blip r:embed="rId2" cstate="print"/>
            <a:stretch>
              <a:fillRect/>
            </a:stretch>
          </a:blipFill>
        </p:spPr>
        <p:txBody>
          <a:bodyPr wrap="square" lIns="0" tIns="0" rIns="0" bIns="0" rtlCol="0"/>
          <a:lstStyle/>
          <a:p>
            <a:endParaRPr/>
          </a:p>
        </p:txBody>
      </p:sp>
      <p:sp>
        <p:nvSpPr>
          <p:cNvPr id="2" name="Holder 2"/>
          <p:cNvSpPr>
            <a:spLocks noGrp="1"/>
          </p:cNvSpPr>
          <p:nvPr>
            <p:ph type="title"/>
          </p:nvPr>
        </p:nvSpPr>
        <p:spPr/>
        <p:txBody>
          <a:bodyPr lIns="0" tIns="0" rIns="0" bIns="0"/>
          <a:lstStyle>
            <a:lvl1pPr>
              <a:defRPr sz="1600" b="0" i="0">
                <a:solidFill>
                  <a:schemeClr val="tx1"/>
                </a:solidFill>
                <a:latin typeface="Calibri"/>
                <a:cs typeface="Calibri"/>
              </a:defRPr>
            </a:lvl1pPr>
          </a:lstStyle>
          <a:p>
            <a:endParaRPr/>
          </a:p>
        </p:txBody>
      </p:sp>
      <p:sp>
        <p:nvSpPr>
          <p:cNvPr id="4" name="Holder 4"/>
          <p:cNvSpPr>
            <a:spLocks noGrp="1"/>
          </p:cNvSpPr>
          <p:nvPr>
            <p:ph type="dt" sz="half" idx="6"/>
          </p:nvPr>
        </p:nvSpPr>
        <p:spPr/>
        <p:txBody>
          <a:bodyPr lIns="0" tIns="0" rIns="0" bIns="0"/>
          <a:lstStyle>
            <a:lvl1pPr algn="l">
              <a:defRPr>
                <a:solidFill>
                  <a:schemeClr val="tx1">
                    <a:tint val="75000"/>
                  </a:schemeClr>
                </a:solidFill>
              </a:defRPr>
            </a:lvl1pPr>
          </a:lstStyle>
          <a:p>
            <a:endParaRPr lang="en-US"/>
          </a:p>
        </p:txBody>
      </p:sp>
      <p:sp>
        <p:nvSpPr>
          <p:cNvPr id="5" name="Holder 5"/>
          <p:cNvSpPr>
            <a:spLocks noGrp="1"/>
          </p:cNvSpPr>
          <p:nvPr>
            <p:ph type="sldNum" sz="quarter" idx="7"/>
          </p:nvPr>
        </p:nvSpPr>
        <p:spPr>
          <a:xfrm>
            <a:off x="9296400" y="6377940"/>
            <a:ext cx="2804160" cy="342900"/>
          </a:xfrm>
        </p:spPr>
        <p:txBody>
          <a:bodyPr lIns="0" tIns="0" rIns="0" bIns="0"/>
          <a:lstStyle>
            <a:lvl1pPr algn="r">
              <a:defRPr>
                <a:solidFill>
                  <a:schemeClr val="tx1">
                    <a:tint val="75000"/>
                  </a:schemeClr>
                </a:solidFill>
              </a:defRPr>
            </a:lvl1pPr>
          </a:lstStyle>
          <a:p>
            <a:fld id="{B6F15528-21DE-4FAA-801E-634DDDAF4B2B}" type="slidenum">
              <a:t>‹Nº›</a:t>
            </a:fld>
            <a:endParaRPr/>
          </a:p>
        </p:txBody>
      </p:sp>
      <p:pic>
        <p:nvPicPr>
          <p:cNvPr id="6" name="Gráfico 5">
            <a:extLst>
              <a:ext uri="{FF2B5EF4-FFF2-40B4-BE49-F238E27FC236}">
                <a16:creationId xmlns:a16="http://schemas.microsoft.com/office/drawing/2014/main" id="{F5CB4B75-CC85-5F87-B13B-97FD63FFBC56}"/>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2891213" y="6357666"/>
            <a:ext cx="6409575" cy="363174"/>
          </a:xfrm>
          <a:prstGeom prst="rect">
            <a:avLst/>
          </a:prstGeom>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type="obj" preserve="1">
  <p:cSld name="Blank">
    <p:bg>
      <p:bgPr>
        <a:solidFill>
          <a:schemeClr val="bg1"/>
        </a:solidFill>
        <a:effectLst/>
      </p:bgPr>
    </p:bg>
    <p:spTree>
      <p:nvGrpSpPr>
        <p:cNvPr id="1" name=""/>
        <p:cNvGrpSpPr/>
        <p:nvPr/>
      </p:nvGrpSpPr>
      <p:grpSpPr>
        <a:xfrm>
          <a:off x="0" y="0"/>
          <a:ext cx="0" cy="0"/>
          <a:chOff x="0" y="0"/>
          <a:chExt cx="0" cy="0"/>
        </a:xfrm>
      </p:grpSpPr>
      <p:sp>
        <p:nvSpPr>
          <p:cNvPr id="16" name="bk object 16"/>
          <p:cNvSpPr/>
          <p:nvPr/>
        </p:nvSpPr>
        <p:spPr>
          <a:xfrm>
            <a:off x="594327" y="4722313"/>
            <a:ext cx="1521016" cy="1253853"/>
          </a:xfrm>
          <a:prstGeom prst="rect">
            <a:avLst/>
          </a:prstGeom>
          <a:blipFill>
            <a:blip r:embed="rId2" cstate="print"/>
            <a:stretch>
              <a:fillRect/>
            </a:stretch>
          </a:blipFill>
        </p:spPr>
        <p:txBody>
          <a:bodyPr wrap="square" lIns="0" tIns="0" rIns="0" bIns="0" rtlCol="0"/>
          <a:lstStyle/>
          <a:p>
            <a:endParaRPr/>
          </a:p>
        </p:txBody>
      </p:sp>
      <p:sp>
        <p:nvSpPr>
          <p:cNvPr id="3" name="Holder 3"/>
          <p:cNvSpPr>
            <a:spLocks noGrp="1"/>
          </p:cNvSpPr>
          <p:nvPr>
            <p:ph type="dt" sz="half" idx="6"/>
          </p:nvPr>
        </p:nvSpPr>
        <p:spPr/>
        <p:txBody>
          <a:bodyPr lIns="0" tIns="0" rIns="0" bIns="0"/>
          <a:lstStyle>
            <a:lvl1pPr algn="l">
              <a:defRPr>
                <a:solidFill>
                  <a:schemeClr val="tx1">
                    <a:tint val="75000"/>
                  </a:schemeClr>
                </a:solidFill>
              </a:defRPr>
            </a:lvl1pPr>
          </a:lstStyle>
          <a:p>
            <a:endParaRPr lang="en-US"/>
          </a:p>
        </p:txBody>
      </p:sp>
      <p:sp>
        <p:nvSpPr>
          <p:cNvPr id="4" name="Holder 4"/>
          <p:cNvSpPr>
            <a:spLocks noGrp="1"/>
          </p:cNvSpPr>
          <p:nvPr>
            <p:ph type="sldNum" sz="quarter" idx="7"/>
          </p:nvPr>
        </p:nvSpPr>
        <p:spPr>
          <a:xfrm>
            <a:off x="9372600" y="6377940"/>
            <a:ext cx="2804160" cy="342900"/>
          </a:xfrm>
        </p:spPr>
        <p:txBody>
          <a:bodyPr lIns="0" tIns="0" rIns="0" bIns="0"/>
          <a:lstStyle>
            <a:lvl1pPr algn="r">
              <a:defRPr>
                <a:solidFill>
                  <a:schemeClr val="tx1">
                    <a:tint val="75000"/>
                  </a:schemeClr>
                </a:solidFill>
              </a:defRPr>
            </a:lvl1pPr>
          </a:lstStyle>
          <a:p>
            <a:fld id="{B6F15528-21DE-4FAA-801E-634DDDAF4B2B}" type="slidenum">
              <a:t>‹Nº›</a:t>
            </a:fld>
            <a:endParaRPr/>
          </a:p>
        </p:txBody>
      </p:sp>
      <p:pic>
        <p:nvPicPr>
          <p:cNvPr id="5" name="Gráfico 4">
            <a:extLst>
              <a:ext uri="{FF2B5EF4-FFF2-40B4-BE49-F238E27FC236}">
                <a16:creationId xmlns:a16="http://schemas.microsoft.com/office/drawing/2014/main" id="{9F3DE434-B07E-429D-5547-0D42DA9B05A1}"/>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1.png"/><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6" name="bk object 16"/>
          <p:cNvSpPr/>
          <p:nvPr/>
        </p:nvSpPr>
        <p:spPr>
          <a:xfrm>
            <a:off x="891539" y="5283707"/>
            <a:ext cx="2624328" cy="1574289"/>
          </a:xfrm>
          <a:prstGeom prst="rect">
            <a:avLst/>
          </a:prstGeom>
          <a:blipFill>
            <a:blip r:embed="rId7" cstate="print"/>
            <a:stretch>
              <a:fillRect/>
            </a:stretch>
          </a:blipFill>
        </p:spPr>
        <p:txBody>
          <a:bodyPr wrap="square" lIns="0" tIns="0" rIns="0" bIns="0" rtlCol="0"/>
          <a:lstStyle/>
          <a:p>
            <a:endParaRPr/>
          </a:p>
        </p:txBody>
      </p:sp>
      <p:sp>
        <p:nvSpPr>
          <p:cNvPr id="2" name="Holder 2"/>
          <p:cNvSpPr>
            <a:spLocks noGrp="1"/>
          </p:cNvSpPr>
          <p:nvPr>
            <p:ph type="title"/>
          </p:nvPr>
        </p:nvSpPr>
        <p:spPr>
          <a:xfrm>
            <a:off x="3986910" y="1699005"/>
            <a:ext cx="2599054" cy="269239"/>
          </a:xfrm>
          <a:prstGeom prst="rect">
            <a:avLst/>
          </a:prstGeom>
        </p:spPr>
        <p:txBody>
          <a:bodyPr wrap="square" lIns="0" tIns="0" rIns="0" bIns="0">
            <a:spAutoFit/>
          </a:bodyPr>
          <a:lstStyle>
            <a:lvl1pPr>
              <a:defRPr sz="1600" b="0" i="0">
                <a:solidFill>
                  <a:schemeClr val="tx1"/>
                </a:solidFill>
                <a:latin typeface="Calibri"/>
                <a:cs typeface="Calibri"/>
              </a:defRPr>
            </a:lvl1pPr>
          </a:lstStyle>
          <a:p>
            <a:endParaRPr/>
          </a:p>
        </p:txBody>
      </p:sp>
      <p:sp>
        <p:nvSpPr>
          <p:cNvPr id="3" name="Holder 3"/>
          <p:cNvSpPr>
            <a:spLocks noGrp="1"/>
          </p:cNvSpPr>
          <p:nvPr>
            <p:ph type="body" idx="1"/>
          </p:nvPr>
        </p:nvSpPr>
        <p:spPr>
          <a:xfrm>
            <a:off x="609600" y="1577340"/>
            <a:ext cx="10972800" cy="4526280"/>
          </a:xfrm>
          <a:prstGeom prst="rect">
            <a:avLst/>
          </a:prstGeom>
        </p:spPr>
        <p:txBody>
          <a:bodyPr wrap="square" lIns="0" tIns="0" rIns="0" bIns="0">
            <a:spAutoFit/>
          </a:bodyPr>
          <a:lstStyle>
            <a:lvl1pPr>
              <a:defRPr/>
            </a:lvl1pPr>
          </a:lstStyle>
          <a:p>
            <a:endParaRPr/>
          </a:p>
        </p:txBody>
      </p:sp>
      <p:sp>
        <p:nvSpPr>
          <p:cNvPr id="4" name="Holder 4"/>
          <p:cNvSpPr>
            <a:spLocks noGrp="1"/>
          </p:cNvSpPr>
          <p:nvPr>
            <p:ph type="ftr" sz="quarter" idx="5"/>
          </p:nvPr>
        </p:nvSpPr>
        <p:spPr>
          <a:xfrm>
            <a:off x="5695950" y="6465068"/>
            <a:ext cx="1210945" cy="153670"/>
          </a:xfrm>
          <a:prstGeom prst="rect">
            <a:avLst/>
          </a:prstGeom>
        </p:spPr>
        <p:txBody>
          <a:bodyPr wrap="square" lIns="0" tIns="0" rIns="0" bIns="0">
            <a:spAutoFit/>
          </a:bodyPr>
          <a:lstStyle>
            <a:lvl1pPr>
              <a:defRPr sz="900" b="0" i="0">
                <a:solidFill>
                  <a:srgbClr val="585858"/>
                </a:solidFill>
                <a:latin typeface="Arial"/>
                <a:cs typeface="Arial"/>
              </a:defRPr>
            </a:lvl1pPr>
          </a:lstStyle>
          <a:p>
            <a:pPr marL="12700">
              <a:lnSpc>
                <a:spcPct val="100000"/>
              </a:lnSpc>
              <a:spcBef>
                <a:spcPts val="15"/>
              </a:spcBef>
            </a:pPr>
            <a:r>
              <a:rPr lang="es-ES" spc="-5"/>
              <a:t>LAB 2.0. COUPLERS</a:t>
            </a:r>
            <a:endParaRPr spc="-5" dirty="0"/>
          </a:p>
        </p:txBody>
      </p:sp>
      <p:sp>
        <p:nvSpPr>
          <p:cNvPr id="5" name="Holder 5"/>
          <p:cNvSpPr>
            <a:spLocks noGrp="1"/>
          </p:cNvSpPr>
          <p:nvPr>
            <p:ph type="dt" sz="half" idx="6"/>
          </p:nvPr>
        </p:nvSpPr>
        <p:spPr>
          <a:xfrm>
            <a:off x="609600" y="6377940"/>
            <a:ext cx="2804160" cy="342900"/>
          </a:xfrm>
          <a:prstGeom prst="rect">
            <a:avLst/>
          </a:prstGeom>
        </p:spPr>
        <p:txBody>
          <a:bodyPr wrap="square" lIns="0" tIns="0" rIns="0" bIns="0">
            <a:spAutoFit/>
          </a:bodyPr>
          <a:lstStyle>
            <a:lvl1pPr algn="l">
              <a:defRPr>
                <a:solidFill>
                  <a:schemeClr val="tx1">
                    <a:tint val="75000"/>
                  </a:schemeClr>
                </a:solidFill>
              </a:defRPr>
            </a:lvl1pPr>
          </a:lstStyle>
          <a:p>
            <a:endParaRPr lang="en-US"/>
          </a:p>
        </p:txBody>
      </p:sp>
      <p:sp>
        <p:nvSpPr>
          <p:cNvPr id="6" name="Holder 6"/>
          <p:cNvSpPr>
            <a:spLocks noGrp="1"/>
          </p:cNvSpPr>
          <p:nvPr>
            <p:ph type="sldNum" sz="quarter" idx="7"/>
          </p:nvPr>
        </p:nvSpPr>
        <p:spPr>
          <a:xfrm>
            <a:off x="9311640" y="6377940"/>
            <a:ext cx="2804160" cy="342900"/>
          </a:xfrm>
          <a:prstGeom prst="rect">
            <a:avLst/>
          </a:prstGeom>
        </p:spPr>
        <p:txBody>
          <a:bodyPr wrap="square" lIns="0" tIns="0" rIns="0" bIns="0">
            <a:spAutoFit/>
          </a:bodyPr>
          <a:lstStyle>
            <a:lvl1pPr algn="r">
              <a:defRPr>
                <a:solidFill>
                  <a:schemeClr val="tx1">
                    <a:tint val="75000"/>
                  </a:schemeClr>
                </a:solidFill>
              </a:defRPr>
            </a:lvl1pPr>
          </a:lstStyle>
          <a:p>
            <a:fld id="{B6F15528-21DE-4FAA-801E-634DDDAF4B2B}" type="slidenum">
              <a:t>‹Nº›</a:t>
            </a:fld>
            <a:endParaRPr/>
          </a:p>
        </p:txBody>
      </p:sp>
    </p:spTree>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Lst>
  <p:hf hdr="0" dt="0"/>
  <p:txStyles>
    <p:titleStyle>
      <a:lvl1pPr>
        <a:defRPr>
          <a:latin typeface="+mj-lt"/>
          <a:ea typeface="+mj-ea"/>
          <a:cs typeface="+mj-cs"/>
        </a:defRPr>
      </a:lvl1pPr>
    </p:titleStyle>
    <p:body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bodyStyle>
    <p:other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5.xml"/></Relationships>
</file>

<file path=ppt/slides/_rels/slide2.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1.xml"/><Relationship Id="rId1" Type="http://schemas.openxmlformats.org/officeDocument/2006/relationships/slideLayout" Target="../slideLayouts/slideLayout2.xml"/><Relationship Id="rId5" Type="http://schemas.openxmlformats.org/officeDocument/2006/relationships/image" Target="NULL"/></Relationships>
</file>

<file path=ppt/slides/_rels/slide5.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image" Target="../media/image8.png"/><Relationship Id="rId5" Type="http://schemas.openxmlformats.org/officeDocument/2006/relationships/image" Target="../media/image7.png"/><Relationship Id="rId4" Type="http://schemas.openxmlformats.org/officeDocument/2006/relationships/image" Target="../media/image6.png"/></Relationships>
</file>

<file path=ppt/slides/_rels/slide6.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3.xml"/><Relationship Id="rId1" Type="http://schemas.openxmlformats.org/officeDocument/2006/relationships/slideLayout" Target="../slideLayouts/slideLayout2.xml"/><Relationship Id="rId5" Type="http://schemas.openxmlformats.org/officeDocument/2006/relationships/image" Target="../media/image10.png"/><Relationship Id="rId4" Type="http://schemas.openxmlformats.org/officeDocument/2006/relationships/image" Target="../media/image9.png"/></Relationships>
</file>

<file path=ppt/slides/_rels/slide7.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4.xml"/><Relationship Id="rId1" Type="http://schemas.openxmlformats.org/officeDocument/2006/relationships/slideLayout" Target="../slideLayouts/slideLayout2.xml"/><Relationship Id="rId5" Type="http://schemas.openxmlformats.org/officeDocument/2006/relationships/image" Target="../media/image12.png"/><Relationship Id="rId4" Type="http://schemas.openxmlformats.org/officeDocument/2006/relationships/image" Target="../media/image11.png"/></Relationships>
</file>

<file path=ppt/slides/_rels/slide8.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5.xml"/><Relationship Id="rId1" Type="http://schemas.openxmlformats.org/officeDocument/2006/relationships/slideLayout" Target="../slideLayouts/slideLayout2.xml"/><Relationship Id="rId5" Type="http://schemas.openxmlformats.org/officeDocument/2006/relationships/image" Target="../media/image14.png"/><Relationship Id="rId4" Type="http://schemas.openxmlformats.org/officeDocument/2006/relationships/image" Target="../media/image13.png"/></Relationships>
</file>

<file path=ppt/slides/_rels/slide9.xml.rels><?xml version="1.0" encoding="UTF-8" standalone="yes"?>
<Relationships xmlns="http://schemas.openxmlformats.org/package/2006/relationships"><Relationship Id="rId8" Type="http://schemas.openxmlformats.org/officeDocument/2006/relationships/image" Target="../media/image19.png"/><Relationship Id="rId3" Type="http://schemas.openxmlformats.org/officeDocument/2006/relationships/image" Target="../media/image3.svg"/><Relationship Id="rId7" Type="http://schemas.openxmlformats.org/officeDocument/2006/relationships/image" Target="../media/image18.png"/><Relationship Id="rId2" Type="http://schemas.openxmlformats.org/officeDocument/2006/relationships/notesSlide" Target="../notesSlides/notesSlide6.xml"/><Relationship Id="rId1" Type="http://schemas.openxmlformats.org/officeDocument/2006/relationships/slideLayout" Target="../slideLayouts/slideLayout2.xml"/><Relationship Id="rId6" Type="http://schemas.openxmlformats.org/officeDocument/2006/relationships/image" Target="../media/image17.png"/><Relationship Id="rId5" Type="http://schemas.openxmlformats.org/officeDocument/2006/relationships/image" Target="../media/image16.png"/><Relationship Id="rId4" Type="http://schemas.openxmlformats.org/officeDocument/2006/relationships/image" Target="../media/image15.png"/><Relationship Id="rId9" Type="http://schemas.openxmlformats.org/officeDocument/2006/relationships/image" Target="../media/image20.png"/></Relationships>
</file>

<file path=ppt/slides/_rels/slide10.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7.xml"/><Relationship Id="rId1" Type="http://schemas.openxmlformats.org/officeDocument/2006/relationships/slideLayout" Target="../slideLayouts/slideLayout2.xml"/><Relationship Id="rId4" Type="http://schemas.openxmlformats.org/officeDocument/2006/relationships/image" Target="../media/image21.png"/></Relationships>
</file>

<file path=ppt/slides/_rels/slide11.xml.rels><?xml version="1.0" encoding="UTF-8" standalone="yes"?>
<Relationships xmlns="http://schemas.openxmlformats.org/package/2006/relationships"><Relationship Id="rId8" Type="http://schemas.openxmlformats.org/officeDocument/2006/relationships/image" Target="../media/image23.png"/><Relationship Id="rId3" Type="http://schemas.openxmlformats.org/officeDocument/2006/relationships/image" Target="../media/image3.svg"/><Relationship Id="rId7" Type="http://schemas.openxmlformats.org/officeDocument/2006/relationships/image" Target="../media/image22.png"/><Relationship Id="rId2" Type="http://schemas.openxmlformats.org/officeDocument/2006/relationships/notesSlide" Target="../notesSlides/notesSlide8.xml"/><Relationship Id="rId1" Type="http://schemas.openxmlformats.org/officeDocument/2006/relationships/slideLayout" Target="../slideLayouts/slideLayout2.xml"/><Relationship Id="rId6" Type="http://schemas.openxmlformats.org/officeDocument/2006/relationships/image" Target="../media/image81.png"/><Relationship Id="rId5" Type="http://schemas.openxmlformats.org/officeDocument/2006/relationships/image" Target="../media/image110.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9.xml"/><Relationship Id="rId1" Type="http://schemas.openxmlformats.org/officeDocument/2006/relationships/slideLayout" Target="../slideLayouts/slideLayout2.xml"/><Relationship Id="rId5" Type="http://schemas.openxmlformats.org/officeDocument/2006/relationships/image" Target="../media/image91.png"/></Relationships>
</file>

<file path=ppt/slides/_rels/slide14.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10.xml"/><Relationship Id="rId1" Type="http://schemas.openxmlformats.org/officeDocument/2006/relationships/slideLayout" Target="../slideLayouts/slideLayout2.xml"/><Relationship Id="rId6" Type="http://schemas.openxmlformats.org/officeDocument/2006/relationships/image" Target="../media/image26.png"/><Relationship Id="rId5" Type="http://schemas.openxmlformats.org/officeDocument/2006/relationships/image" Target="../media/image25.png"/><Relationship Id="rId4" Type="http://schemas.openxmlformats.org/officeDocument/2006/relationships/image" Target="../media/image24.png"/></Relationships>
</file>

<file path=ppt/slides/_rels/slide15.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11.xml"/><Relationship Id="rId1" Type="http://schemas.openxmlformats.org/officeDocument/2006/relationships/slideLayout" Target="../slideLayouts/slideLayout2.xml"/><Relationship Id="rId5" Type="http://schemas.openxmlformats.org/officeDocument/2006/relationships/image" Target="../media/image28.png"/><Relationship Id="rId4" Type="http://schemas.openxmlformats.org/officeDocument/2006/relationships/image" Target="../media/image27.png"/></Relationships>
</file>

<file path=ppt/slides/_rels/slide16.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12.xml"/><Relationship Id="rId1" Type="http://schemas.openxmlformats.org/officeDocument/2006/relationships/slideLayout" Target="../slideLayouts/slideLayout2.xml"/><Relationship Id="rId6" Type="http://schemas.openxmlformats.org/officeDocument/2006/relationships/image" Target="../media/image31.png"/><Relationship Id="rId5" Type="http://schemas.openxmlformats.org/officeDocument/2006/relationships/image" Target="../media/image30.png"/><Relationship Id="rId4" Type="http://schemas.openxmlformats.org/officeDocument/2006/relationships/image" Target="../media/image29.png"/></Relationships>
</file>

<file path=ppt/slides/_rels/slide17.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13.xml"/><Relationship Id="rId1" Type="http://schemas.openxmlformats.org/officeDocument/2006/relationships/slideLayout" Target="../slideLayouts/slideLayout2.xml"/><Relationship Id="rId5" Type="http://schemas.openxmlformats.org/officeDocument/2006/relationships/image" Target="../media/image33.png"/><Relationship Id="rId4" Type="http://schemas.openxmlformats.org/officeDocument/2006/relationships/image" Target="../media/image32.png"/></Relationships>
</file>

<file path=ppt/slides/_rels/slide18.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16.xml"/><Relationship Id="rId1" Type="http://schemas.openxmlformats.org/officeDocument/2006/relationships/slideLayout" Target="../slideLayouts/slideLayout2.xml"/><Relationship Id="rId6" Type="http://schemas.openxmlformats.org/officeDocument/2006/relationships/image" Target="../media/image100.png"/><Relationship Id="rId5" Type="http://schemas.openxmlformats.org/officeDocument/2006/relationships/image" Target="../media/image90.png"/></Relationships>
</file>

<file path=ppt/slides/_rels/slide21.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17.xml"/><Relationship Id="rId1" Type="http://schemas.openxmlformats.org/officeDocument/2006/relationships/slideLayout" Target="../slideLayouts/slideLayout2.xml"/><Relationship Id="rId6" Type="http://schemas.openxmlformats.org/officeDocument/2006/relationships/image" Target="../media/image80.png"/><Relationship Id="rId5" Type="http://schemas.openxmlformats.org/officeDocument/2006/relationships/image" Target="../media/image70.png"/></Relationships>
</file>

<file path=ppt/slides/_rels/slide22.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18.xml"/><Relationship Id="rId1" Type="http://schemas.openxmlformats.org/officeDocument/2006/relationships/slideLayout" Target="../slideLayouts/slideLayout2.xml"/><Relationship Id="rId6" Type="http://schemas.openxmlformats.org/officeDocument/2006/relationships/image" Target="../media/image80.png"/><Relationship Id="rId5" Type="http://schemas.openxmlformats.org/officeDocument/2006/relationships/image" Target="../media/image70.png"/></Relationships>
</file>

<file path=ppt/slides/_rels/slide23.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19.xml"/><Relationship Id="rId1" Type="http://schemas.openxmlformats.org/officeDocument/2006/relationships/slideLayout" Target="../slideLayouts/slideLayout2.xml"/><Relationship Id="rId6" Type="http://schemas.openxmlformats.org/officeDocument/2006/relationships/image" Target="../media/image140.png"/><Relationship Id="rId5" Type="http://schemas.openxmlformats.org/officeDocument/2006/relationships/image" Target="../media/image130.png"/></Relationships>
</file>

<file path=ppt/slides/_rels/slide24.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bject 3"/>
          <p:cNvSpPr txBox="1"/>
          <p:nvPr/>
        </p:nvSpPr>
        <p:spPr>
          <a:xfrm>
            <a:off x="2749676" y="4919853"/>
            <a:ext cx="6106795" cy="513715"/>
          </a:xfrm>
          <a:prstGeom prst="rect">
            <a:avLst/>
          </a:prstGeom>
        </p:spPr>
        <p:txBody>
          <a:bodyPr vert="horz" wrap="square" lIns="0" tIns="12700" rIns="0" bIns="0" rtlCol="0">
            <a:spAutoFit/>
          </a:bodyPr>
          <a:lstStyle/>
          <a:p>
            <a:pPr marL="12700">
              <a:lnSpc>
                <a:spcPct val="100000"/>
              </a:lnSpc>
              <a:spcBef>
                <a:spcPts val="100"/>
              </a:spcBef>
            </a:pPr>
            <a:r>
              <a:rPr lang="es-ES" sz="3200" b="1" dirty="0" err="1">
                <a:latin typeface="Lucida Sans"/>
                <a:cs typeface="Lucida Sans"/>
              </a:rPr>
              <a:t>Lab</a:t>
            </a:r>
            <a:r>
              <a:rPr lang="es-ES" sz="3200" b="1" dirty="0">
                <a:latin typeface="Lucida Sans"/>
                <a:cs typeface="Lucida Sans"/>
              </a:rPr>
              <a:t> Book 2.0. </a:t>
            </a:r>
            <a:r>
              <a:rPr lang="es-ES" sz="3200" b="1" dirty="0" err="1">
                <a:latin typeface="Lucida Sans"/>
                <a:cs typeface="Lucida Sans"/>
              </a:rPr>
              <a:t>Couplers</a:t>
            </a:r>
            <a:endParaRPr sz="3200" dirty="0">
              <a:latin typeface="Lucida Sans"/>
              <a:cs typeface="Lucida Sans"/>
            </a:endParaRPr>
          </a:p>
        </p:txBody>
      </p:sp>
      <p:sp>
        <p:nvSpPr>
          <p:cNvPr id="4" name="object 4"/>
          <p:cNvSpPr txBox="1"/>
          <p:nvPr/>
        </p:nvSpPr>
        <p:spPr>
          <a:xfrm>
            <a:off x="2749676" y="5610250"/>
            <a:ext cx="8223124" cy="579646"/>
          </a:xfrm>
          <a:prstGeom prst="rect">
            <a:avLst/>
          </a:prstGeom>
        </p:spPr>
        <p:txBody>
          <a:bodyPr vert="horz" wrap="square" lIns="0" tIns="12700" rIns="0" bIns="0" rtlCol="0">
            <a:spAutoFit/>
          </a:bodyPr>
          <a:lstStyle/>
          <a:p>
            <a:pPr marL="12700">
              <a:lnSpc>
                <a:spcPct val="100000"/>
              </a:lnSpc>
              <a:spcBef>
                <a:spcPts val="100"/>
              </a:spcBef>
            </a:pPr>
            <a:r>
              <a:rPr lang="pt-BR" spc="165" dirty="0" err="1">
                <a:latin typeface="Arial"/>
                <a:cs typeface="Arial"/>
              </a:rPr>
              <a:t>Student</a:t>
            </a:r>
            <a:r>
              <a:rPr lang="pt-BR" spc="165" dirty="0">
                <a:latin typeface="Arial"/>
                <a:cs typeface="Arial"/>
              </a:rPr>
              <a:t>: José Alberto Peña Cruz, Pablo de Manuel Vicente</a:t>
            </a:r>
          </a:p>
          <a:p>
            <a:pPr marL="12700">
              <a:lnSpc>
                <a:spcPct val="100000"/>
              </a:lnSpc>
              <a:spcBef>
                <a:spcPts val="100"/>
              </a:spcBef>
            </a:pPr>
            <a:r>
              <a:rPr lang="pt-BR" spc="165" dirty="0" err="1">
                <a:latin typeface="Arial"/>
                <a:cs typeface="Arial"/>
              </a:rPr>
              <a:t>Group</a:t>
            </a:r>
            <a:r>
              <a:rPr lang="pt-BR" spc="165" dirty="0">
                <a:latin typeface="Arial"/>
                <a:cs typeface="Arial"/>
              </a:rPr>
              <a:t>: B1 </a:t>
            </a:r>
            <a:endParaRPr lang="pt-BR" dirty="0">
              <a:latin typeface="Arial"/>
              <a:cs typeface="Arial"/>
            </a:endParaRPr>
          </a:p>
        </p:txBody>
      </p:sp>
      <p:sp>
        <p:nvSpPr>
          <p:cNvPr id="5" name="object 5"/>
          <p:cNvSpPr/>
          <p:nvPr/>
        </p:nvSpPr>
        <p:spPr>
          <a:xfrm>
            <a:off x="0" y="0"/>
            <a:ext cx="12192000" cy="4189476"/>
          </a:xfrm>
          <a:prstGeom prst="rect">
            <a:avLst/>
          </a:prstGeom>
          <a:blipFill>
            <a:blip r:embed="rId2" cstate="print"/>
            <a:stretch>
              <a:fillRect/>
            </a:stretch>
          </a:blipFill>
        </p:spPr>
        <p:txBody>
          <a:bodyPr wrap="square" lIns="0" tIns="0" rIns="0" bIns="0" rtlCol="0"/>
          <a:lstStyle/>
          <a:p>
            <a:endParaRPr/>
          </a:p>
        </p:txBody>
      </p:sp>
      <p:sp>
        <p:nvSpPr>
          <p:cNvPr id="7" name="Marcador de número de diapositiva 6">
            <a:extLst>
              <a:ext uri="{FF2B5EF4-FFF2-40B4-BE49-F238E27FC236}">
                <a16:creationId xmlns:a16="http://schemas.microsoft.com/office/drawing/2014/main" id="{F6F66F51-9238-50FE-85C2-BAC3DA79D767}"/>
              </a:ext>
            </a:extLst>
          </p:cNvPr>
          <p:cNvSpPr>
            <a:spLocks noGrp="1"/>
          </p:cNvSpPr>
          <p:nvPr>
            <p:ph type="sldNum" sz="quarter" idx="7"/>
          </p:nvPr>
        </p:nvSpPr>
        <p:spPr/>
        <p:txBody>
          <a:bodyPr/>
          <a:lstStyle/>
          <a:p>
            <a:fld id="{B6F15528-21DE-4FAA-801E-634DDDAF4B2B}" type="slidenum">
              <a:rPr lang="es-ES" smtClean="0"/>
              <a:t>1</a:t>
            </a:fld>
            <a:endParaRPr lang="es-E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48A4D4-C3C4-085B-A7AD-EA04D83F480F}"/>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1B7433F1-7A0E-D925-6140-7305139D053A}"/>
              </a:ext>
            </a:extLst>
          </p:cNvPr>
          <p:cNvSpPr txBox="1">
            <a:spLocks noGrp="1"/>
          </p:cNvSpPr>
          <p:nvPr>
            <p:ph type="title"/>
          </p:nvPr>
        </p:nvSpPr>
        <p:spPr>
          <a:xfrm>
            <a:off x="685800" y="408883"/>
            <a:ext cx="6153785" cy="705321"/>
          </a:xfrm>
          <a:prstGeom prst="rect">
            <a:avLst/>
          </a:prstGeom>
        </p:spPr>
        <p:txBody>
          <a:bodyPr vert="horz" wrap="square" lIns="0" tIns="12700" rIns="0" bIns="0" rtlCol="0">
            <a:spAutoFit/>
          </a:bodyPr>
          <a:lstStyle/>
          <a:p>
            <a:pPr marL="12700">
              <a:lnSpc>
                <a:spcPct val="100000"/>
              </a:lnSpc>
              <a:spcBef>
                <a:spcPts val="100"/>
              </a:spcBef>
            </a:pPr>
            <a:r>
              <a:rPr lang="es-ES" sz="2500" u="sng" spc="-5" dirty="0" err="1">
                <a:latin typeface="+mj-lt"/>
                <a:cs typeface="Lucida Sans"/>
              </a:rPr>
              <a:t>Instructions</a:t>
            </a:r>
            <a:br>
              <a:rPr lang="es-ES" sz="2400" spc="-5" dirty="0">
                <a:latin typeface="+mj-lt"/>
                <a:cs typeface="Lucida Sans"/>
              </a:rPr>
            </a:br>
            <a:r>
              <a:rPr lang="es-ES" b="0" spc="-5" dirty="0">
                <a:latin typeface="+mj-lt"/>
                <a:cs typeface="Lucida Sans"/>
              </a:rPr>
              <a:t>General</a:t>
            </a:r>
            <a:endParaRPr sz="2400" b="0" dirty="0">
              <a:latin typeface="+mj-lt"/>
              <a:cs typeface="Lucida Sans"/>
            </a:endParaRPr>
          </a:p>
        </p:txBody>
      </p:sp>
      <p:pic>
        <p:nvPicPr>
          <p:cNvPr id="83" name="Gráfico 82">
            <a:extLst>
              <a:ext uri="{FF2B5EF4-FFF2-40B4-BE49-F238E27FC236}">
                <a16:creationId xmlns:a16="http://schemas.microsoft.com/office/drawing/2014/main" id="{E518E73B-CE22-A00C-9C86-634FB762EE69}"/>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1E163A6B-DFE4-C67D-5F3E-A56ACEF2EA4C}"/>
              </a:ext>
            </a:extLst>
          </p:cNvPr>
          <p:cNvSpPr>
            <a:spLocks noGrp="1"/>
          </p:cNvSpPr>
          <p:nvPr>
            <p:ph type="sldNum" sz="quarter" idx="7"/>
          </p:nvPr>
        </p:nvSpPr>
        <p:spPr/>
        <p:txBody>
          <a:bodyPr/>
          <a:lstStyle/>
          <a:p>
            <a:fld id="{B6F15528-21DE-4FAA-801E-634DDDAF4B2B}" type="slidenum">
              <a:rPr lang="es-ES" smtClean="0"/>
              <a:t>2</a:t>
            </a:fld>
            <a:endParaRPr lang="es-ES"/>
          </a:p>
        </p:txBody>
      </p:sp>
      <p:sp>
        <p:nvSpPr>
          <p:cNvPr id="3" name="Marcador de pie de página 2">
            <a:extLst>
              <a:ext uri="{FF2B5EF4-FFF2-40B4-BE49-F238E27FC236}">
                <a16:creationId xmlns:a16="http://schemas.microsoft.com/office/drawing/2014/main" id="{95FC84FF-30D3-FDAB-0A5A-0F07F8EE1161}"/>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4" name="Marcador de texto 2">
            <a:extLst>
              <a:ext uri="{FF2B5EF4-FFF2-40B4-BE49-F238E27FC236}">
                <a16:creationId xmlns:a16="http://schemas.microsoft.com/office/drawing/2014/main" id="{9F7BC140-B3D8-C3CB-55AD-9064C7CDE9CA}"/>
              </a:ext>
            </a:extLst>
          </p:cNvPr>
          <p:cNvSpPr txBox="1">
            <a:spLocks/>
          </p:cNvSpPr>
          <p:nvPr/>
        </p:nvSpPr>
        <p:spPr>
          <a:xfrm>
            <a:off x="608011" y="1163263"/>
            <a:ext cx="11048999" cy="4958137"/>
          </a:xfrm>
          <a:prstGeom prst="rect">
            <a:avLst/>
          </a:prstGeom>
        </p:spPr>
        <p:txBody>
          <a:bodyPr>
            <a:normAutofit/>
          </a:bodyPr>
          <a:lst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a:lstStyle>
          <a:p>
            <a:pPr algn="just"/>
            <a:r>
              <a:rPr lang="en-US" sz="2000" b="1" kern="0" dirty="0">
                <a:solidFill>
                  <a:sysClr val="windowText" lastClr="000000"/>
                </a:solidFill>
                <a:sym typeface="Wingdings" pitchFamily="2" charset="2"/>
              </a:rPr>
              <a:t>SCRIPTS</a:t>
            </a:r>
          </a:p>
          <a:p>
            <a:pPr marL="342900" indent="-342900" algn="just">
              <a:buFont typeface="Arial" panose="020B0604020202020204" pitchFamily="34" charset="0"/>
              <a:buChar char="•"/>
            </a:pPr>
            <a:r>
              <a:rPr lang="en-US" kern="0" dirty="0">
                <a:solidFill>
                  <a:sysClr val="windowText" lastClr="000000"/>
                </a:solidFill>
                <a:sym typeface="Wingdings" pitchFamily="2" charset="2"/>
              </a:rPr>
              <a:t>From 	GitHub  </a:t>
            </a:r>
          </a:p>
          <a:p>
            <a:pPr marL="800100" lvl="1" indent="-342900" algn="just">
              <a:buFont typeface="Arial" panose="020B0604020202020204" pitchFamily="34" charset="0"/>
              <a:buChar char="•"/>
            </a:pPr>
            <a:r>
              <a:rPr lang="en-US" kern="0" dirty="0">
                <a:solidFill>
                  <a:sysClr val="windowText" lastClr="000000"/>
                </a:solidFill>
                <a:sym typeface="Wingdings" pitchFamily="2" charset="2"/>
              </a:rPr>
              <a:t>Fork the repo: https://github.com/cccanvas-upv/cifoin-lab2.git</a:t>
            </a:r>
          </a:p>
          <a:p>
            <a:pPr marL="800100" lvl="1" indent="-342900" algn="just">
              <a:buFont typeface="Arial" panose="020B0604020202020204" pitchFamily="34" charset="0"/>
              <a:buChar char="•"/>
            </a:pPr>
            <a:r>
              <a:rPr lang="en-US" kern="0" dirty="0">
                <a:solidFill>
                  <a:sysClr val="windowText" lastClr="000000"/>
                </a:solidFill>
                <a:sym typeface="Wingdings" pitchFamily="2" charset="2"/>
              </a:rPr>
              <a:t>Clone the repo using </a:t>
            </a:r>
            <a:r>
              <a:rPr lang="en-US" kern="0" dirty="0" err="1">
                <a:solidFill>
                  <a:sysClr val="windowText" lastClr="000000"/>
                </a:solidFill>
                <a:sym typeface="Wingdings" pitchFamily="2" charset="2"/>
              </a:rPr>
              <a:t>VSCode</a:t>
            </a:r>
            <a:endParaRPr lang="en-US" kern="0" dirty="0">
              <a:solidFill>
                <a:sysClr val="windowText" lastClr="000000"/>
              </a:solidFill>
              <a:sym typeface="Wingdings" pitchFamily="2" charset="2"/>
            </a:endParaRPr>
          </a:p>
          <a:p>
            <a:pPr marL="342900" indent="-342900" algn="just">
              <a:buFont typeface="Arial" panose="020B0604020202020204" pitchFamily="34" charset="0"/>
              <a:buChar char="•"/>
            </a:pPr>
            <a:r>
              <a:rPr lang="en-US" kern="0" dirty="0">
                <a:solidFill>
                  <a:sysClr val="windowText" lastClr="000000"/>
                </a:solidFill>
              </a:rPr>
              <a:t>Run the </a:t>
            </a:r>
            <a:r>
              <a:rPr lang="en-US" kern="0" dirty="0" err="1">
                <a:solidFill>
                  <a:sysClr val="windowText" lastClr="000000"/>
                </a:solidFill>
              </a:rPr>
              <a:t>Jupyter</a:t>
            </a:r>
            <a:r>
              <a:rPr lang="en-US" kern="0" dirty="0">
                <a:solidFill>
                  <a:sysClr val="windowText" lastClr="000000"/>
                </a:solidFill>
              </a:rPr>
              <a:t> Notebook: </a:t>
            </a:r>
          </a:p>
          <a:p>
            <a:pPr marL="800100" lvl="1" indent="-342900" algn="just">
              <a:buFont typeface="Arial" panose="020B0604020202020204" pitchFamily="34" charset="0"/>
              <a:buChar char="•"/>
            </a:pPr>
            <a:r>
              <a:rPr lang="en-US" kern="0" dirty="0" err="1">
                <a:solidFill>
                  <a:sysClr val="windowText" lastClr="000000"/>
                </a:solidFill>
              </a:rPr>
              <a:t>COUPLERS_Student.ipynb</a:t>
            </a:r>
            <a:r>
              <a:rPr lang="en-US" kern="0" dirty="0">
                <a:solidFill>
                  <a:sysClr val="windowText" lastClr="000000"/>
                </a:solidFill>
              </a:rPr>
              <a:t> </a:t>
            </a:r>
          </a:p>
          <a:p>
            <a:pPr algn="just"/>
            <a:endParaRPr lang="en-US" b="1" i="1" dirty="0"/>
          </a:p>
          <a:p>
            <a:pPr algn="just"/>
            <a:r>
              <a:rPr lang="en-US" b="1" i="1" dirty="0"/>
              <a:t>Cross-Sections </a:t>
            </a:r>
            <a:r>
              <a:rPr lang="en-US" i="1" dirty="0"/>
              <a:t>to be studied:</a:t>
            </a:r>
            <a:endParaRPr lang="en-US" b="1" i="1" dirty="0"/>
          </a:p>
          <a:p>
            <a:pPr algn="just"/>
            <a:endParaRPr lang="en-US" sz="2000" b="1" i="1" dirty="0"/>
          </a:p>
          <a:p>
            <a:pPr algn="just"/>
            <a:endParaRPr lang="en-US" sz="2000" kern="0" dirty="0">
              <a:solidFill>
                <a:sysClr val="windowText" lastClr="000000"/>
              </a:solidFill>
            </a:endParaRPr>
          </a:p>
        </p:txBody>
      </p:sp>
      <p:sp>
        <p:nvSpPr>
          <p:cNvPr id="96" name="object 7">
            <a:extLst>
              <a:ext uri="{FF2B5EF4-FFF2-40B4-BE49-F238E27FC236}">
                <a16:creationId xmlns:a16="http://schemas.microsoft.com/office/drawing/2014/main" id="{BB459788-0671-D4BA-B6DB-A3544D24EA92}"/>
              </a:ext>
            </a:extLst>
          </p:cNvPr>
          <p:cNvSpPr/>
          <p:nvPr/>
        </p:nvSpPr>
        <p:spPr>
          <a:xfrm>
            <a:off x="1241591" y="3685362"/>
            <a:ext cx="3929379" cy="1902460"/>
          </a:xfrm>
          <a:custGeom>
            <a:avLst/>
            <a:gdLst/>
            <a:ahLst/>
            <a:cxnLst/>
            <a:rect l="l" t="t" r="r" b="b"/>
            <a:pathLst>
              <a:path w="3929379" h="1902460">
                <a:moveTo>
                  <a:pt x="0" y="1901952"/>
                </a:moveTo>
                <a:lnTo>
                  <a:pt x="3928872" y="1901952"/>
                </a:lnTo>
                <a:lnTo>
                  <a:pt x="3928872" y="0"/>
                </a:lnTo>
                <a:lnTo>
                  <a:pt x="0" y="0"/>
                </a:lnTo>
                <a:lnTo>
                  <a:pt x="0" y="1901952"/>
                </a:lnTo>
                <a:close/>
              </a:path>
            </a:pathLst>
          </a:custGeom>
          <a:solidFill>
            <a:srgbClr val="F1F1F1"/>
          </a:solidFill>
        </p:spPr>
        <p:txBody>
          <a:bodyPr wrap="square" lIns="0" tIns="0" rIns="0" bIns="0" rtlCol="0"/>
          <a:lstStyle/>
          <a:p>
            <a:endParaRPr dirty="0"/>
          </a:p>
        </p:txBody>
      </p:sp>
      <p:sp>
        <p:nvSpPr>
          <p:cNvPr id="97" name="object 62">
            <a:extLst>
              <a:ext uri="{FF2B5EF4-FFF2-40B4-BE49-F238E27FC236}">
                <a16:creationId xmlns:a16="http://schemas.microsoft.com/office/drawing/2014/main" id="{13E0425E-CEDF-CBC4-B34B-0CC3951920EA}"/>
              </a:ext>
            </a:extLst>
          </p:cNvPr>
          <p:cNvSpPr/>
          <p:nvPr/>
        </p:nvSpPr>
        <p:spPr>
          <a:xfrm>
            <a:off x="1795778" y="4331380"/>
            <a:ext cx="67949" cy="610424"/>
          </a:xfrm>
          <a:custGeom>
            <a:avLst/>
            <a:gdLst/>
            <a:ahLst/>
            <a:cxnLst/>
            <a:rect l="l" t="t" r="r" b="b"/>
            <a:pathLst>
              <a:path w="76200" h="986155">
                <a:moveTo>
                  <a:pt x="31750" y="909827"/>
                </a:moveTo>
                <a:lnTo>
                  <a:pt x="0" y="909827"/>
                </a:lnTo>
                <a:lnTo>
                  <a:pt x="38100" y="986027"/>
                </a:lnTo>
                <a:lnTo>
                  <a:pt x="69850" y="922527"/>
                </a:lnTo>
                <a:lnTo>
                  <a:pt x="31750" y="922527"/>
                </a:lnTo>
                <a:lnTo>
                  <a:pt x="31750" y="909827"/>
                </a:lnTo>
                <a:close/>
              </a:path>
              <a:path w="76200" h="986155">
                <a:moveTo>
                  <a:pt x="44450" y="63500"/>
                </a:moveTo>
                <a:lnTo>
                  <a:pt x="31750" y="63500"/>
                </a:lnTo>
                <a:lnTo>
                  <a:pt x="31750" y="922527"/>
                </a:lnTo>
                <a:lnTo>
                  <a:pt x="44450" y="922527"/>
                </a:lnTo>
                <a:lnTo>
                  <a:pt x="44450" y="63500"/>
                </a:lnTo>
                <a:close/>
              </a:path>
              <a:path w="76200" h="986155">
                <a:moveTo>
                  <a:pt x="76200" y="909827"/>
                </a:moveTo>
                <a:lnTo>
                  <a:pt x="44450" y="909827"/>
                </a:lnTo>
                <a:lnTo>
                  <a:pt x="44450" y="922527"/>
                </a:lnTo>
                <a:lnTo>
                  <a:pt x="69850" y="922527"/>
                </a:lnTo>
                <a:lnTo>
                  <a:pt x="76200" y="909827"/>
                </a:lnTo>
                <a:close/>
              </a:path>
              <a:path w="76200" h="986155">
                <a:moveTo>
                  <a:pt x="38100" y="0"/>
                </a:moveTo>
                <a:lnTo>
                  <a:pt x="0" y="76200"/>
                </a:lnTo>
                <a:lnTo>
                  <a:pt x="31750" y="76200"/>
                </a:lnTo>
                <a:lnTo>
                  <a:pt x="31750" y="63500"/>
                </a:lnTo>
                <a:lnTo>
                  <a:pt x="69850" y="63500"/>
                </a:lnTo>
                <a:lnTo>
                  <a:pt x="38100" y="0"/>
                </a:lnTo>
                <a:close/>
              </a:path>
              <a:path w="76200" h="986155">
                <a:moveTo>
                  <a:pt x="69850" y="63500"/>
                </a:moveTo>
                <a:lnTo>
                  <a:pt x="44450" y="63500"/>
                </a:lnTo>
                <a:lnTo>
                  <a:pt x="44450" y="76200"/>
                </a:lnTo>
                <a:lnTo>
                  <a:pt x="76200" y="76200"/>
                </a:lnTo>
                <a:lnTo>
                  <a:pt x="69850" y="63500"/>
                </a:lnTo>
                <a:close/>
              </a:path>
            </a:pathLst>
          </a:custGeom>
          <a:solidFill>
            <a:srgbClr val="000000"/>
          </a:solidFill>
        </p:spPr>
        <p:txBody>
          <a:bodyPr wrap="square" lIns="0" tIns="0" rIns="0" bIns="0" rtlCol="0"/>
          <a:lstStyle/>
          <a:p>
            <a:endParaRPr/>
          </a:p>
        </p:txBody>
      </p:sp>
      <p:sp>
        <p:nvSpPr>
          <p:cNvPr id="98" name="object 63">
            <a:extLst>
              <a:ext uri="{FF2B5EF4-FFF2-40B4-BE49-F238E27FC236}">
                <a16:creationId xmlns:a16="http://schemas.microsoft.com/office/drawing/2014/main" id="{FDE45797-C0E3-ACE0-F66B-057BDEDB9070}"/>
              </a:ext>
            </a:extLst>
          </p:cNvPr>
          <p:cNvSpPr txBox="1"/>
          <p:nvPr/>
        </p:nvSpPr>
        <p:spPr>
          <a:xfrm>
            <a:off x="1229760" y="4389164"/>
            <a:ext cx="577850" cy="454025"/>
          </a:xfrm>
          <a:prstGeom prst="rect">
            <a:avLst/>
          </a:prstGeom>
        </p:spPr>
        <p:txBody>
          <a:bodyPr vert="horz" wrap="square" lIns="0" tIns="13335" rIns="0" bIns="0" rtlCol="0">
            <a:spAutoFit/>
          </a:bodyPr>
          <a:lstStyle/>
          <a:p>
            <a:pPr marR="3175" algn="ctr">
              <a:lnSpc>
                <a:spcPct val="100000"/>
              </a:lnSpc>
              <a:spcBef>
                <a:spcPts val="105"/>
              </a:spcBef>
            </a:pPr>
            <a:r>
              <a:rPr sz="1400" dirty="0">
                <a:latin typeface="Calibri"/>
                <a:cs typeface="Calibri"/>
              </a:rPr>
              <a:t>h</a:t>
            </a:r>
          </a:p>
          <a:p>
            <a:pPr marR="5080" algn="ctr">
              <a:lnSpc>
                <a:spcPct val="100000"/>
              </a:lnSpc>
              <a:spcBef>
                <a:spcPts val="5"/>
              </a:spcBef>
            </a:pPr>
            <a:r>
              <a:rPr sz="1400" spc="-10" dirty="0">
                <a:latin typeface="Calibri"/>
                <a:cs typeface="Calibri"/>
              </a:rPr>
              <a:t>(h</a:t>
            </a:r>
            <a:r>
              <a:rPr sz="1400" dirty="0">
                <a:latin typeface="Calibri"/>
                <a:cs typeface="Calibri"/>
              </a:rPr>
              <a:t>eig</a:t>
            </a:r>
            <a:r>
              <a:rPr sz="1400" spc="-25" dirty="0">
                <a:latin typeface="Calibri"/>
                <a:cs typeface="Calibri"/>
              </a:rPr>
              <a:t>h</a:t>
            </a:r>
            <a:r>
              <a:rPr sz="1400" spc="-5" dirty="0">
                <a:latin typeface="Calibri"/>
                <a:cs typeface="Calibri"/>
              </a:rPr>
              <a:t>t</a:t>
            </a:r>
            <a:r>
              <a:rPr sz="1400" dirty="0">
                <a:latin typeface="Calibri"/>
                <a:cs typeface="Calibri"/>
              </a:rPr>
              <a:t>)</a:t>
            </a:r>
          </a:p>
        </p:txBody>
      </p:sp>
      <p:sp>
        <p:nvSpPr>
          <p:cNvPr id="99" name="object 64">
            <a:extLst>
              <a:ext uri="{FF2B5EF4-FFF2-40B4-BE49-F238E27FC236}">
                <a16:creationId xmlns:a16="http://schemas.microsoft.com/office/drawing/2014/main" id="{ABAAA5DD-56CA-BF94-2180-F0866658B6B3}"/>
              </a:ext>
            </a:extLst>
          </p:cNvPr>
          <p:cNvSpPr/>
          <p:nvPr/>
        </p:nvSpPr>
        <p:spPr>
          <a:xfrm>
            <a:off x="1948179" y="4155787"/>
            <a:ext cx="914400" cy="89266"/>
          </a:xfrm>
          <a:custGeom>
            <a:avLst/>
            <a:gdLst/>
            <a:ahLst/>
            <a:cxnLst/>
            <a:rect l="l" t="t" r="r" b="b"/>
            <a:pathLst>
              <a:path w="1758314" h="76200">
                <a:moveTo>
                  <a:pt x="76200" y="0"/>
                </a:moveTo>
                <a:lnTo>
                  <a:pt x="0" y="38100"/>
                </a:lnTo>
                <a:lnTo>
                  <a:pt x="76200" y="76200"/>
                </a:lnTo>
                <a:lnTo>
                  <a:pt x="76200" y="44450"/>
                </a:lnTo>
                <a:lnTo>
                  <a:pt x="63500" y="44450"/>
                </a:lnTo>
                <a:lnTo>
                  <a:pt x="63500" y="31750"/>
                </a:lnTo>
                <a:lnTo>
                  <a:pt x="76200" y="31750"/>
                </a:lnTo>
                <a:lnTo>
                  <a:pt x="76200" y="0"/>
                </a:lnTo>
                <a:close/>
              </a:path>
              <a:path w="1758314" h="76200">
                <a:moveTo>
                  <a:pt x="1682114" y="0"/>
                </a:moveTo>
                <a:lnTo>
                  <a:pt x="1682114" y="76200"/>
                </a:lnTo>
                <a:lnTo>
                  <a:pt x="1745614" y="44450"/>
                </a:lnTo>
                <a:lnTo>
                  <a:pt x="1694814" y="44450"/>
                </a:lnTo>
                <a:lnTo>
                  <a:pt x="1694814" y="31750"/>
                </a:lnTo>
                <a:lnTo>
                  <a:pt x="1745614" y="31750"/>
                </a:lnTo>
                <a:lnTo>
                  <a:pt x="1682114" y="0"/>
                </a:lnTo>
                <a:close/>
              </a:path>
              <a:path w="1758314" h="76200">
                <a:moveTo>
                  <a:pt x="76200" y="31750"/>
                </a:moveTo>
                <a:lnTo>
                  <a:pt x="63500" y="31750"/>
                </a:lnTo>
                <a:lnTo>
                  <a:pt x="63500" y="44450"/>
                </a:lnTo>
                <a:lnTo>
                  <a:pt x="76200" y="44450"/>
                </a:lnTo>
                <a:lnTo>
                  <a:pt x="76200" y="31750"/>
                </a:lnTo>
                <a:close/>
              </a:path>
              <a:path w="1758314" h="76200">
                <a:moveTo>
                  <a:pt x="1682114" y="31750"/>
                </a:moveTo>
                <a:lnTo>
                  <a:pt x="76200" y="31750"/>
                </a:lnTo>
                <a:lnTo>
                  <a:pt x="76200" y="44450"/>
                </a:lnTo>
                <a:lnTo>
                  <a:pt x="1682114" y="44450"/>
                </a:lnTo>
                <a:lnTo>
                  <a:pt x="1682114" y="31750"/>
                </a:lnTo>
                <a:close/>
              </a:path>
              <a:path w="1758314" h="76200">
                <a:moveTo>
                  <a:pt x="1745614" y="31750"/>
                </a:moveTo>
                <a:lnTo>
                  <a:pt x="1694814" y="31750"/>
                </a:lnTo>
                <a:lnTo>
                  <a:pt x="1694814" y="44450"/>
                </a:lnTo>
                <a:lnTo>
                  <a:pt x="1745614" y="44450"/>
                </a:lnTo>
                <a:lnTo>
                  <a:pt x="1758314" y="38100"/>
                </a:lnTo>
                <a:lnTo>
                  <a:pt x="1745614" y="31750"/>
                </a:lnTo>
                <a:close/>
              </a:path>
            </a:pathLst>
          </a:custGeom>
          <a:solidFill>
            <a:srgbClr val="000000"/>
          </a:solidFill>
        </p:spPr>
        <p:txBody>
          <a:bodyPr wrap="square" lIns="0" tIns="0" rIns="0" bIns="0" rtlCol="0"/>
          <a:lstStyle/>
          <a:p>
            <a:endParaRPr/>
          </a:p>
        </p:txBody>
      </p:sp>
      <p:sp>
        <p:nvSpPr>
          <p:cNvPr id="100" name="object 65">
            <a:extLst>
              <a:ext uri="{FF2B5EF4-FFF2-40B4-BE49-F238E27FC236}">
                <a16:creationId xmlns:a16="http://schemas.microsoft.com/office/drawing/2014/main" id="{A1EF013C-5123-D9A7-DC76-FEFD731E96E2}"/>
              </a:ext>
            </a:extLst>
          </p:cNvPr>
          <p:cNvSpPr txBox="1"/>
          <p:nvPr/>
        </p:nvSpPr>
        <p:spPr>
          <a:xfrm>
            <a:off x="2073955" y="3856694"/>
            <a:ext cx="733425" cy="228909"/>
          </a:xfrm>
          <a:prstGeom prst="rect">
            <a:avLst/>
          </a:prstGeom>
        </p:spPr>
        <p:txBody>
          <a:bodyPr vert="horz" wrap="square" lIns="0" tIns="13335" rIns="0" bIns="0" rtlCol="0">
            <a:spAutoFit/>
          </a:bodyPr>
          <a:lstStyle/>
          <a:p>
            <a:pPr>
              <a:lnSpc>
                <a:spcPct val="100000"/>
              </a:lnSpc>
              <a:spcBef>
                <a:spcPts val="105"/>
              </a:spcBef>
            </a:pPr>
            <a:r>
              <a:rPr lang="es-ES" sz="1400" spc="5" dirty="0">
                <a:latin typeface="Calibri"/>
                <a:cs typeface="Calibri"/>
              </a:rPr>
              <a:t>w</a:t>
            </a:r>
            <a:r>
              <a:rPr sz="1400" spc="-65" dirty="0">
                <a:latin typeface="Calibri"/>
                <a:cs typeface="Calibri"/>
              </a:rPr>
              <a:t> </a:t>
            </a:r>
            <a:r>
              <a:rPr sz="1400" spc="-5" dirty="0">
                <a:latin typeface="Calibri"/>
                <a:cs typeface="Calibri"/>
              </a:rPr>
              <a:t>(width)</a:t>
            </a:r>
            <a:endParaRPr sz="1400" dirty="0">
              <a:latin typeface="Calibri"/>
              <a:cs typeface="Calibri"/>
            </a:endParaRPr>
          </a:p>
        </p:txBody>
      </p:sp>
      <p:sp>
        <p:nvSpPr>
          <p:cNvPr id="101" name="object 73">
            <a:extLst>
              <a:ext uri="{FF2B5EF4-FFF2-40B4-BE49-F238E27FC236}">
                <a16:creationId xmlns:a16="http://schemas.microsoft.com/office/drawing/2014/main" id="{4C5C0871-D9B5-E642-7661-FFBCAD75720B}"/>
              </a:ext>
            </a:extLst>
          </p:cNvPr>
          <p:cNvSpPr txBox="1"/>
          <p:nvPr/>
        </p:nvSpPr>
        <p:spPr>
          <a:xfrm>
            <a:off x="3523559" y="4331380"/>
            <a:ext cx="984979" cy="610424"/>
          </a:xfrm>
          <a:prstGeom prst="rect">
            <a:avLst/>
          </a:prstGeom>
          <a:solidFill>
            <a:srgbClr val="CCB657"/>
          </a:solidFill>
        </p:spPr>
        <p:txBody>
          <a:bodyPr vert="horz" wrap="square" lIns="0" tIns="2540" rIns="0" bIns="0" rtlCol="0">
            <a:spAutoFit/>
          </a:bodyPr>
          <a:lstStyle/>
          <a:p>
            <a:pPr>
              <a:lnSpc>
                <a:spcPct val="100000"/>
              </a:lnSpc>
              <a:spcBef>
                <a:spcPts val="20"/>
              </a:spcBef>
            </a:pPr>
            <a:endParaRPr sz="2350" dirty="0">
              <a:latin typeface="Times New Roman"/>
              <a:cs typeface="Times New Roman"/>
            </a:endParaRPr>
          </a:p>
          <a:p>
            <a:pPr marL="18415" algn="ctr">
              <a:lnSpc>
                <a:spcPct val="100000"/>
              </a:lnSpc>
            </a:pPr>
            <a:r>
              <a:rPr sz="1600" b="1" spc="-10" dirty="0">
                <a:latin typeface="Calibri"/>
                <a:cs typeface="Calibri"/>
              </a:rPr>
              <a:t>Core</a:t>
            </a:r>
            <a:endParaRPr sz="1600" dirty="0">
              <a:latin typeface="Calibri"/>
              <a:cs typeface="Calibri"/>
            </a:endParaRPr>
          </a:p>
        </p:txBody>
      </p:sp>
      <p:sp>
        <p:nvSpPr>
          <p:cNvPr id="102" name="object 74">
            <a:extLst>
              <a:ext uri="{FF2B5EF4-FFF2-40B4-BE49-F238E27FC236}">
                <a16:creationId xmlns:a16="http://schemas.microsoft.com/office/drawing/2014/main" id="{10CC4DBA-05F4-4CDC-BA0E-6200AF622CA9}"/>
              </a:ext>
            </a:extLst>
          </p:cNvPr>
          <p:cNvSpPr txBox="1"/>
          <p:nvPr/>
        </p:nvSpPr>
        <p:spPr>
          <a:xfrm>
            <a:off x="4421819" y="5309818"/>
            <a:ext cx="741045" cy="269240"/>
          </a:xfrm>
          <a:prstGeom prst="rect">
            <a:avLst/>
          </a:prstGeom>
        </p:spPr>
        <p:txBody>
          <a:bodyPr vert="horz" wrap="square" lIns="0" tIns="12065" rIns="0" bIns="0" rtlCol="0">
            <a:spAutoFit/>
          </a:bodyPr>
          <a:lstStyle/>
          <a:p>
            <a:pPr>
              <a:lnSpc>
                <a:spcPct val="100000"/>
              </a:lnSpc>
              <a:spcBef>
                <a:spcPts val="95"/>
              </a:spcBef>
            </a:pPr>
            <a:r>
              <a:rPr sz="1600" b="1" spc="-10" dirty="0">
                <a:latin typeface="Calibri"/>
                <a:cs typeface="Calibri"/>
              </a:rPr>
              <a:t>Cladding</a:t>
            </a:r>
            <a:endParaRPr sz="1600" dirty="0">
              <a:latin typeface="Calibri"/>
              <a:cs typeface="Calibri"/>
            </a:endParaRPr>
          </a:p>
        </p:txBody>
      </p:sp>
      <p:sp>
        <p:nvSpPr>
          <p:cNvPr id="111" name="object 7">
            <a:extLst>
              <a:ext uri="{FF2B5EF4-FFF2-40B4-BE49-F238E27FC236}">
                <a16:creationId xmlns:a16="http://schemas.microsoft.com/office/drawing/2014/main" id="{06801468-6F27-A16A-64E3-D7AD4B6B6B96}"/>
              </a:ext>
            </a:extLst>
          </p:cNvPr>
          <p:cNvSpPr/>
          <p:nvPr/>
        </p:nvSpPr>
        <p:spPr>
          <a:xfrm>
            <a:off x="7239000" y="3685362"/>
            <a:ext cx="3929379" cy="1902460"/>
          </a:xfrm>
          <a:custGeom>
            <a:avLst/>
            <a:gdLst/>
            <a:ahLst/>
            <a:cxnLst/>
            <a:rect l="l" t="t" r="r" b="b"/>
            <a:pathLst>
              <a:path w="3929379" h="1902460">
                <a:moveTo>
                  <a:pt x="0" y="1901952"/>
                </a:moveTo>
                <a:lnTo>
                  <a:pt x="3928872" y="1901952"/>
                </a:lnTo>
                <a:lnTo>
                  <a:pt x="3928872" y="0"/>
                </a:lnTo>
                <a:lnTo>
                  <a:pt x="0" y="0"/>
                </a:lnTo>
                <a:lnTo>
                  <a:pt x="0" y="1901952"/>
                </a:lnTo>
                <a:close/>
              </a:path>
            </a:pathLst>
          </a:custGeom>
          <a:solidFill>
            <a:srgbClr val="F1F1F1"/>
          </a:solidFill>
        </p:spPr>
        <p:txBody>
          <a:bodyPr wrap="square" lIns="0" tIns="0" rIns="0" bIns="0" rtlCol="0"/>
          <a:lstStyle/>
          <a:p>
            <a:endParaRPr dirty="0"/>
          </a:p>
        </p:txBody>
      </p:sp>
      <p:sp>
        <p:nvSpPr>
          <p:cNvPr id="114" name="object 64">
            <a:extLst>
              <a:ext uri="{FF2B5EF4-FFF2-40B4-BE49-F238E27FC236}">
                <a16:creationId xmlns:a16="http://schemas.microsoft.com/office/drawing/2014/main" id="{D9E5D738-CA47-1898-E0D8-DFBC514F5A50}"/>
              </a:ext>
            </a:extLst>
          </p:cNvPr>
          <p:cNvSpPr/>
          <p:nvPr/>
        </p:nvSpPr>
        <p:spPr>
          <a:xfrm>
            <a:off x="7663179" y="4163346"/>
            <a:ext cx="3165333" cy="48374"/>
          </a:xfrm>
          <a:custGeom>
            <a:avLst/>
            <a:gdLst/>
            <a:ahLst/>
            <a:cxnLst/>
            <a:rect l="l" t="t" r="r" b="b"/>
            <a:pathLst>
              <a:path w="1758314" h="76200">
                <a:moveTo>
                  <a:pt x="76200" y="0"/>
                </a:moveTo>
                <a:lnTo>
                  <a:pt x="0" y="38100"/>
                </a:lnTo>
                <a:lnTo>
                  <a:pt x="76200" y="76200"/>
                </a:lnTo>
                <a:lnTo>
                  <a:pt x="76200" y="44450"/>
                </a:lnTo>
                <a:lnTo>
                  <a:pt x="63500" y="44450"/>
                </a:lnTo>
                <a:lnTo>
                  <a:pt x="63500" y="31750"/>
                </a:lnTo>
                <a:lnTo>
                  <a:pt x="76200" y="31750"/>
                </a:lnTo>
                <a:lnTo>
                  <a:pt x="76200" y="0"/>
                </a:lnTo>
                <a:close/>
              </a:path>
              <a:path w="1758314" h="76200">
                <a:moveTo>
                  <a:pt x="1682114" y="0"/>
                </a:moveTo>
                <a:lnTo>
                  <a:pt x="1682114" y="76200"/>
                </a:lnTo>
                <a:lnTo>
                  <a:pt x="1745614" y="44450"/>
                </a:lnTo>
                <a:lnTo>
                  <a:pt x="1694814" y="44450"/>
                </a:lnTo>
                <a:lnTo>
                  <a:pt x="1694814" y="31750"/>
                </a:lnTo>
                <a:lnTo>
                  <a:pt x="1745614" y="31750"/>
                </a:lnTo>
                <a:lnTo>
                  <a:pt x="1682114" y="0"/>
                </a:lnTo>
                <a:close/>
              </a:path>
              <a:path w="1758314" h="76200">
                <a:moveTo>
                  <a:pt x="76200" y="31750"/>
                </a:moveTo>
                <a:lnTo>
                  <a:pt x="63500" y="31750"/>
                </a:lnTo>
                <a:lnTo>
                  <a:pt x="63500" y="44450"/>
                </a:lnTo>
                <a:lnTo>
                  <a:pt x="76200" y="44450"/>
                </a:lnTo>
                <a:lnTo>
                  <a:pt x="76200" y="31750"/>
                </a:lnTo>
                <a:close/>
              </a:path>
              <a:path w="1758314" h="76200">
                <a:moveTo>
                  <a:pt x="1682114" y="31750"/>
                </a:moveTo>
                <a:lnTo>
                  <a:pt x="76200" y="31750"/>
                </a:lnTo>
                <a:lnTo>
                  <a:pt x="76200" y="44450"/>
                </a:lnTo>
                <a:lnTo>
                  <a:pt x="1682114" y="44450"/>
                </a:lnTo>
                <a:lnTo>
                  <a:pt x="1682114" y="31750"/>
                </a:lnTo>
                <a:close/>
              </a:path>
              <a:path w="1758314" h="76200">
                <a:moveTo>
                  <a:pt x="1745614" y="31750"/>
                </a:moveTo>
                <a:lnTo>
                  <a:pt x="1694814" y="31750"/>
                </a:lnTo>
                <a:lnTo>
                  <a:pt x="1694814" y="44450"/>
                </a:lnTo>
                <a:lnTo>
                  <a:pt x="1745614" y="44450"/>
                </a:lnTo>
                <a:lnTo>
                  <a:pt x="1758314" y="38100"/>
                </a:lnTo>
                <a:lnTo>
                  <a:pt x="1745614" y="31750"/>
                </a:lnTo>
                <a:close/>
              </a:path>
            </a:pathLst>
          </a:custGeom>
          <a:solidFill>
            <a:srgbClr val="000000"/>
          </a:solidFill>
        </p:spPr>
        <p:txBody>
          <a:bodyPr wrap="square" lIns="0" tIns="0" rIns="0" bIns="0" rtlCol="0"/>
          <a:lstStyle/>
          <a:p>
            <a:endParaRPr/>
          </a:p>
        </p:txBody>
      </p:sp>
      <p:sp>
        <p:nvSpPr>
          <p:cNvPr id="115" name="object 65">
            <a:extLst>
              <a:ext uri="{FF2B5EF4-FFF2-40B4-BE49-F238E27FC236}">
                <a16:creationId xmlns:a16="http://schemas.microsoft.com/office/drawing/2014/main" id="{74A4CAE1-BC33-1BCD-6F24-54F1DFA8AEDB}"/>
              </a:ext>
            </a:extLst>
          </p:cNvPr>
          <p:cNvSpPr txBox="1"/>
          <p:nvPr/>
        </p:nvSpPr>
        <p:spPr>
          <a:xfrm>
            <a:off x="8910954" y="3926878"/>
            <a:ext cx="733425" cy="228909"/>
          </a:xfrm>
          <a:prstGeom prst="rect">
            <a:avLst/>
          </a:prstGeom>
        </p:spPr>
        <p:txBody>
          <a:bodyPr vert="horz" wrap="square" lIns="0" tIns="13335" rIns="0" bIns="0" rtlCol="0">
            <a:spAutoFit/>
          </a:bodyPr>
          <a:lstStyle/>
          <a:p>
            <a:pPr>
              <a:lnSpc>
                <a:spcPct val="100000"/>
              </a:lnSpc>
              <a:spcBef>
                <a:spcPts val="105"/>
              </a:spcBef>
            </a:pPr>
            <a:r>
              <a:rPr lang="es-ES" sz="1400" spc="5" dirty="0">
                <a:latin typeface="Calibri"/>
                <a:cs typeface="Calibri"/>
              </a:rPr>
              <a:t>w</a:t>
            </a:r>
            <a:r>
              <a:rPr sz="1400" spc="-65" dirty="0">
                <a:latin typeface="Calibri"/>
                <a:cs typeface="Calibri"/>
              </a:rPr>
              <a:t> </a:t>
            </a:r>
            <a:r>
              <a:rPr sz="1400" spc="-5" dirty="0">
                <a:latin typeface="Calibri"/>
                <a:cs typeface="Calibri"/>
              </a:rPr>
              <a:t>(width)</a:t>
            </a:r>
            <a:endParaRPr sz="1400" dirty="0">
              <a:latin typeface="Calibri"/>
              <a:cs typeface="Calibri"/>
            </a:endParaRPr>
          </a:p>
        </p:txBody>
      </p:sp>
      <p:sp>
        <p:nvSpPr>
          <p:cNvPr id="116" name="object 73">
            <a:extLst>
              <a:ext uri="{FF2B5EF4-FFF2-40B4-BE49-F238E27FC236}">
                <a16:creationId xmlns:a16="http://schemas.microsoft.com/office/drawing/2014/main" id="{CC9D2269-0CA8-143F-4E45-F3AF594A2ED3}"/>
              </a:ext>
            </a:extLst>
          </p:cNvPr>
          <p:cNvSpPr txBox="1"/>
          <p:nvPr/>
        </p:nvSpPr>
        <p:spPr>
          <a:xfrm>
            <a:off x="7663179" y="4325314"/>
            <a:ext cx="3165333" cy="610424"/>
          </a:xfrm>
          <a:prstGeom prst="rect">
            <a:avLst/>
          </a:prstGeom>
          <a:solidFill>
            <a:srgbClr val="CCB657"/>
          </a:solidFill>
        </p:spPr>
        <p:txBody>
          <a:bodyPr vert="horz" wrap="square" lIns="0" tIns="2540" rIns="0" bIns="0" rtlCol="0">
            <a:spAutoFit/>
          </a:bodyPr>
          <a:lstStyle/>
          <a:p>
            <a:pPr>
              <a:lnSpc>
                <a:spcPct val="100000"/>
              </a:lnSpc>
              <a:spcBef>
                <a:spcPts val="20"/>
              </a:spcBef>
            </a:pPr>
            <a:endParaRPr sz="2350" dirty="0">
              <a:latin typeface="Times New Roman"/>
              <a:cs typeface="Times New Roman"/>
            </a:endParaRPr>
          </a:p>
          <a:p>
            <a:pPr marL="18415" algn="ctr">
              <a:lnSpc>
                <a:spcPct val="100000"/>
              </a:lnSpc>
            </a:pPr>
            <a:r>
              <a:rPr lang="es-ES" sz="1600" b="1" spc="-10" dirty="0">
                <a:latin typeface="Calibri"/>
                <a:cs typeface="Calibri"/>
              </a:rPr>
              <a:t>MMI </a:t>
            </a:r>
            <a:r>
              <a:rPr lang="es-ES" sz="1600" b="1" spc="-10" dirty="0" err="1">
                <a:latin typeface="Calibri"/>
                <a:cs typeface="Calibri"/>
              </a:rPr>
              <a:t>Body</a:t>
            </a:r>
            <a:endParaRPr sz="1600" dirty="0">
              <a:latin typeface="Calibri"/>
              <a:cs typeface="Calibri"/>
            </a:endParaRPr>
          </a:p>
        </p:txBody>
      </p:sp>
      <p:sp>
        <p:nvSpPr>
          <p:cNvPr id="117" name="object 74">
            <a:extLst>
              <a:ext uri="{FF2B5EF4-FFF2-40B4-BE49-F238E27FC236}">
                <a16:creationId xmlns:a16="http://schemas.microsoft.com/office/drawing/2014/main" id="{8A3332FF-25D4-1955-323F-BBD1D30324AC}"/>
              </a:ext>
            </a:extLst>
          </p:cNvPr>
          <p:cNvSpPr txBox="1"/>
          <p:nvPr/>
        </p:nvSpPr>
        <p:spPr>
          <a:xfrm>
            <a:off x="7284458" y="5303772"/>
            <a:ext cx="741045" cy="269240"/>
          </a:xfrm>
          <a:prstGeom prst="rect">
            <a:avLst/>
          </a:prstGeom>
        </p:spPr>
        <p:txBody>
          <a:bodyPr vert="horz" wrap="square" lIns="0" tIns="12065" rIns="0" bIns="0" rtlCol="0">
            <a:spAutoFit/>
          </a:bodyPr>
          <a:lstStyle/>
          <a:p>
            <a:pPr>
              <a:lnSpc>
                <a:spcPct val="100000"/>
              </a:lnSpc>
              <a:spcBef>
                <a:spcPts val="95"/>
              </a:spcBef>
            </a:pPr>
            <a:r>
              <a:rPr sz="1600" b="1" spc="-10" dirty="0">
                <a:latin typeface="Calibri"/>
                <a:cs typeface="Calibri"/>
              </a:rPr>
              <a:t>Cladding</a:t>
            </a:r>
            <a:endParaRPr sz="1600" dirty="0">
              <a:latin typeface="Calibri"/>
              <a:cs typeface="Calibri"/>
            </a:endParaRPr>
          </a:p>
        </p:txBody>
      </p:sp>
      <p:sp>
        <p:nvSpPr>
          <p:cNvPr id="2" name="CuadroTexto 1">
            <a:extLst>
              <a:ext uri="{FF2B5EF4-FFF2-40B4-BE49-F238E27FC236}">
                <a16:creationId xmlns:a16="http://schemas.microsoft.com/office/drawing/2014/main" id="{57D9AFBE-EF33-9078-9CE3-5C8B079B0C36}"/>
              </a:ext>
            </a:extLst>
          </p:cNvPr>
          <p:cNvSpPr txBox="1"/>
          <p:nvPr/>
        </p:nvSpPr>
        <p:spPr>
          <a:xfrm>
            <a:off x="7377675" y="5580458"/>
            <a:ext cx="3954288" cy="369332"/>
          </a:xfrm>
          <a:prstGeom prst="rect">
            <a:avLst/>
          </a:prstGeom>
          <a:noFill/>
        </p:spPr>
        <p:txBody>
          <a:bodyPr wrap="none" rtlCol="0">
            <a:spAutoFit/>
          </a:bodyPr>
          <a:lstStyle/>
          <a:p>
            <a:pPr algn="r"/>
            <a:r>
              <a:rPr lang="en-US" b="1" dirty="0"/>
              <a:t>Multimode Interference (MMI) </a:t>
            </a:r>
            <a:r>
              <a:rPr lang="en-US" dirty="0"/>
              <a:t>coupler</a:t>
            </a:r>
            <a:r>
              <a:rPr lang="en-US" b="1" dirty="0"/>
              <a:t> </a:t>
            </a:r>
            <a:endParaRPr lang="en-US" dirty="0"/>
          </a:p>
        </p:txBody>
      </p:sp>
      <p:sp>
        <p:nvSpPr>
          <p:cNvPr id="8" name="CuadroTexto 7">
            <a:extLst>
              <a:ext uri="{FF2B5EF4-FFF2-40B4-BE49-F238E27FC236}">
                <a16:creationId xmlns:a16="http://schemas.microsoft.com/office/drawing/2014/main" id="{7336B5D8-2D70-3E7A-336D-AF55EC49DEB8}"/>
              </a:ext>
            </a:extLst>
          </p:cNvPr>
          <p:cNvSpPr txBox="1"/>
          <p:nvPr/>
        </p:nvSpPr>
        <p:spPr>
          <a:xfrm>
            <a:off x="1168826" y="5579058"/>
            <a:ext cx="2743199" cy="369332"/>
          </a:xfrm>
          <a:prstGeom prst="rect">
            <a:avLst/>
          </a:prstGeom>
          <a:noFill/>
        </p:spPr>
        <p:txBody>
          <a:bodyPr wrap="square">
            <a:spAutoFit/>
          </a:bodyPr>
          <a:lstStyle/>
          <a:p>
            <a:r>
              <a:rPr lang="en-US" b="1" dirty="0"/>
              <a:t>Directional </a:t>
            </a:r>
            <a:r>
              <a:rPr lang="en-US" dirty="0"/>
              <a:t>coupler (DC)</a:t>
            </a:r>
          </a:p>
        </p:txBody>
      </p:sp>
      <p:sp>
        <p:nvSpPr>
          <p:cNvPr id="7" name="object 73">
            <a:extLst>
              <a:ext uri="{FF2B5EF4-FFF2-40B4-BE49-F238E27FC236}">
                <a16:creationId xmlns:a16="http://schemas.microsoft.com/office/drawing/2014/main" id="{9404A65A-9F07-371B-17B4-56EE1381567B}"/>
              </a:ext>
            </a:extLst>
          </p:cNvPr>
          <p:cNvSpPr txBox="1"/>
          <p:nvPr/>
        </p:nvSpPr>
        <p:spPr>
          <a:xfrm>
            <a:off x="1948179" y="4331380"/>
            <a:ext cx="984979" cy="610424"/>
          </a:xfrm>
          <a:prstGeom prst="rect">
            <a:avLst/>
          </a:prstGeom>
          <a:solidFill>
            <a:srgbClr val="CCB657"/>
          </a:solidFill>
        </p:spPr>
        <p:txBody>
          <a:bodyPr vert="horz" wrap="square" lIns="0" tIns="2540" rIns="0" bIns="0" rtlCol="0">
            <a:spAutoFit/>
          </a:bodyPr>
          <a:lstStyle/>
          <a:p>
            <a:pPr>
              <a:lnSpc>
                <a:spcPct val="100000"/>
              </a:lnSpc>
              <a:spcBef>
                <a:spcPts val="20"/>
              </a:spcBef>
            </a:pPr>
            <a:endParaRPr sz="2350" dirty="0">
              <a:latin typeface="Times New Roman"/>
              <a:cs typeface="Times New Roman"/>
            </a:endParaRPr>
          </a:p>
          <a:p>
            <a:pPr marL="18415" algn="ctr">
              <a:lnSpc>
                <a:spcPct val="100000"/>
              </a:lnSpc>
            </a:pPr>
            <a:r>
              <a:rPr sz="1600" b="1" spc="-10" dirty="0">
                <a:latin typeface="Calibri"/>
                <a:cs typeface="Calibri"/>
              </a:rPr>
              <a:t>Core</a:t>
            </a:r>
            <a:endParaRPr sz="1600" dirty="0">
              <a:latin typeface="Calibri"/>
              <a:cs typeface="Calibri"/>
            </a:endParaRPr>
          </a:p>
        </p:txBody>
      </p:sp>
      <p:sp>
        <p:nvSpPr>
          <p:cNvPr id="9" name="object 64">
            <a:extLst>
              <a:ext uri="{FF2B5EF4-FFF2-40B4-BE49-F238E27FC236}">
                <a16:creationId xmlns:a16="http://schemas.microsoft.com/office/drawing/2014/main" id="{B06C28EB-4BF4-A40B-513B-ACC7E468CDC3}"/>
              </a:ext>
            </a:extLst>
          </p:cNvPr>
          <p:cNvSpPr/>
          <p:nvPr/>
        </p:nvSpPr>
        <p:spPr>
          <a:xfrm flipV="1">
            <a:off x="2911079" y="5067632"/>
            <a:ext cx="590401" cy="45719"/>
          </a:xfrm>
          <a:custGeom>
            <a:avLst/>
            <a:gdLst/>
            <a:ahLst/>
            <a:cxnLst/>
            <a:rect l="l" t="t" r="r" b="b"/>
            <a:pathLst>
              <a:path w="1758314" h="76200">
                <a:moveTo>
                  <a:pt x="76200" y="0"/>
                </a:moveTo>
                <a:lnTo>
                  <a:pt x="0" y="38100"/>
                </a:lnTo>
                <a:lnTo>
                  <a:pt x="76200" y="76200"/>
                </a:lnTo>
                <a:lnTo>
                  <a:pt x="76200" y="44450"/>
                </a:lnTo>
                <a:lnTo>
                  <a:pt x="63500" y="44450"/>
                </a:lnTo>
                <a:lnTo>
                  <a:pt x="63500" y="31750"/>
                </a:lnTo>
                <a:lnTo>
                  <a:pt x="76200" y="31750"/>
                </a:lnTo>
                <a:lnTo>
                  <a:pt x="76200" y="0"/>
                </a:lnTo>
                <a:close/>
              </a:path>
              <a:path w="1758314" h="76200">
                <a:moveTo>
                  <a:pt x="1682114" y="0"/>
                </a:moveTo>
                <a:lnTo>
                  <a:pt x="1682114" y="76200"/>
                </a:lnTo>
                <a:lnTo>
                  <a:pt x="1745614" y="44450"/>
                </a:lnTo>
                <a:lnTo>
                  <a:pt x="1694814" y="44450"/>
                </a:lnTo>
                <a:lnTo>
                  <a:pt x="1694814" y="31750"/>
                </a:lnTo>
                <a:lnTo>
                  <a:pt x="1745614" y="31750"/>
                </a:lnTo>
                <a:lnTo>
                  <a:pt x="1682114" y="0"/>
                </a:lnTo>
                <a:close/>
              </a:path>
              <a:path w="1758314" h="76200">
                <a:moveTo>
                  <a:pt x="76200" y="31750"/>
                </a:moveTo>
                <a:lnTo>
                  <a:pt x="63500" y="31750"/>
                </a:lnTo>
                <a:lnTo>
                  <a:pt x="63500" y="44450"/>
                </a:lnTo>
                <a:lnTo>
                  <a:pt x="76200" y="44450"/>
                </a:lnTo>
                <a:lnTo>
                  <a:pt x="76200" y="31750"/>
                </a:lnTo>
                <a:close/>
              </a:path>
              <a:path w="1758314" h="76200">
                <a:moveTo>
                  <a:pt x="1682114" y="31750"/>
                </a:moveTo>
                <a:lnTo>
                  <a:pt x="76200" y="31750"/>
                </a:lnTo>
                <a:lnTo>
                  <a:pt x="76200" y="44450"/>
                </a:lnTo>
                <a:lnTo>
                  <a:pt x="1682114" y="44450"/>
                </a:lnTo>
                <a:lnTo>
                  <a:pt x="1682114" y="31750"/>
                </a:lnTo>
                <a:close/>
              </a:path>
              <a:path w="1758314" h="76200">
                <a:moveTo>
                  <a:pt x="1745614" y="31750"/>
                </a:moveTo>
                <a:lnTo>
                  <a:pt x="1694814" y="31750"/>
                </a:lnTo>
                <a:lnTo>
                  <a:pt x="1694814" y="44450"/>
                </a:lnTo>
                <a:lnTo>
                  <a:pt x="1745614" y="44450"/>
                </a:lnTo>
                <a:lnTo>
                  <a:pt x="1758314" y="38100"/>
                </a:lnTo>
                <a:lnTo>
                  <a:pt x="1745614" y="31750"/>
                </a:lnTo>
                <a:close/>
              </a:path>
            </a:pathLst>
          </a:custGeom>
          <a:solidFill>
            <a:srgbClr val="000000"/>
          </a:solidFill>
        </p:spPr>
        <p:txBody>
          <a:bodyPr wrap="square" lIns="0" tIns="0" rIns="0" bIns="0" rtlCol="0"/>
          <a:lstStyle/>
          <a:p>
            <a:endParaRPr/>
          </a:p>
        </p:txBody>
      </p:sp>
      <p:sp>
        <p:nvSpPr>
          <p:cNvPr id="10" name="object 63">
            <a:extLst>
              <a:ext uri="{FF2B5EF4-FFF2-40B4-BE49-F238E27FC236}">
                <a16:creationId xmlns:a16="http://schemas.microsoft.com/office/drawing/2014/main" id="{4601CBDA-CF6C-DA98-1398-C31497498862}"/>
              </a:ext>
            </a:extLst>
          </p:cNvPr>
          <p:cNvSpPr txBox="1"/>
          <p:nvPr/>
        </p:nvSpPr>
        <p:spPr>
          <a:xfrm>
            <a:off x="2939643" y="5090491"/>
            <a:ext cx="577850" cy="454025"/>
          </a:xfrm>
          <a:prstGeom prst="rect">
            <a:avLst/>
          </a:prstGeom>
        </p:spPr>
        <p:txBody>
          <a:bodyPr vert="horz" wrap="square" lIns="0" tIns="13335" rIns="0" bIns="0" rtlCol="0">
            <a:spAutoFit/>
          </a:bodyPr>
          <a:lstStyle/>
          <a:p>
            <a:pPr marR="3175" algn="ctr">
              <a:lnSpc>
                <a:spcPct val="100000"/>
              </a:lnSpc>
              <a:spcBef>
                <a:spcPts val="105"/>
              </a:spcBef>
            </a:pPr>
            <a:r>
              <a:rPr lang="es-ES" sz="1400" dirty="0">
                <a:latin typeface="Calibri"/>
                <a:cs typeface="Calibri"/>
              </a:rPr>
              <a:t>g</a:t>
            </a:r>
            <a:endParaRPr sz="1400" dirty="0">
              <a:latin typeface="Calibri"/>
              <a:cs typeface="Calibri"/>
            </a:endParaRPr>
          </a:p>
          <a:p>
            <a:pPr marR="5080" algn="ctr">
              <a:lnSpc>
                <a:spcPct val="100000"/>
              </a:lnSpc>
              <a:spcBef>
                <a:spcPts val="5"/>
              </a:spcBef>
            </a:pPr>
            <a:r>
              <a:rPr sz="1400" spc="-10" dirty="0">
                <a:latin typeface="Calibri"/>
                <a:cs typeface="Calibri"/>
              </a:rPr>
              <a:t>(</a:t>
            </a:r>
            <a:r>
              <a:rPr lang="es-ES" sz="1400" spc="-10" dirty="0">
                <a:latin typeface="Calibri"/>
                <a:cs typeface="Calibri"/>
              </a:rPr>
              <a:t>gap</a:t>
            </a:r>
            <a:r>
              <a:rPr sz="1400" dirty="0">
                <a:latin typeface="Calibri"/>
                <a:cs typeface="Calibri"/>
              </a:rPr>
              <a:t>)</a:t>
            </a:r>
          </a:p>
        </p:txBody>
      </p:sp>
      <p:sp>
        <p:nvSpPr>
          <p:cNvPr id="11" name="object 62">
            <a:extLst>
              <a:ext uri="{FF2B5EF4-FFF2-40B4-BE49-F238E27FC236}">
                <a16:creationId xmlns:a16="http://schemas.microsoft.com/office/drawing/2014/main" id="{F1DAA8E2-74AD-BD39-C248-2324458F6D54}"/>
              </a:ext>
            </a:extLst>
          </p:cNvPr>
          <p:cNvSpPr/>
          <p:nvPr/>
        </p:nvSpPr>
        <p:spPr>
          <a:xfrm>
            <a:off x="7448782" y="4331380"/>
            <a:ext cx="67949" cy="610424"/>
          </a:xfrm>
          <a:custGeom>
            <a:avLst/>
            <a:gdLst/>
            <a:ahLst/>
            <a:cxnLst/>
            <a:rect l="l" t="t" r="r" b="b"/>
            <a:pathLst>
              <a:path w="76200" h="986155">
                <a:moveTo>
                  <a:pt x="31750" y="909827"/>
                </a:moveTo>
                <a:lnTo>
                  <a:pt x="0" y="909827"/>
                </a:lnTo>
                <a:lnTo>
                  <a:pt x="38100" y="986027"/>
                </a:lnTo>
                <a:lnTo>
                  <a:pt x="69850" y="922527"/>
                </a:lnTo>
                <a:lnTo>
                  <a:pt x="31750" y="922527"/>
                </a:lnTo>
                <a:lnTo>
                  <a:pt x="31750" y="909827"/>
                </a:lnTo>
                <a:close/>
              </a:path>
              <a:path w="76200" h="986155">
                <a:moveTo>
                  <a:pt x="44450" y="63500"/>
                </a:moveTo>
                <a:lnTo>
                  <a:pt x="31750" y="63500"/>
                </a:lnTo>
                <a:lnTo>
                  <a:pt x="31750" y="922527"/>
                </a:lnTo>
                <a:lnTo>
                  <a:pt x="44450" y="922527"/>
                </a:lnTo>
                <a:lnTo>
                  <a:pt x="44450" y="63500"/>
                </a:lnTo>
                <a:close/>
              </a:path>
              <a:path w="76200" h="986155">
                <a:moveTo>
                  <a:pt x="76200" y="909827"/>
                </a:moveTo>
                <a:lnTo>
                  <a:pt x="44450" y="909827"/>
                </a:lnTo>
                <a:lnTo>
                  <a:pt x="44450" y="922527"/>
                </a:lnTo>
                <a:lnTo>
                  <a:pt x="69850" y="922527"/>
                </a:lnTo>
                <a:lnTo>
                  <a:pt x="76200" y="909827"/>
                </a:lnTo>
                <a:close/>
              </a:path>
              <a:path w="76200" h="986155">
                <a:moveTo>
                  <a:pt x="38100" y="0"/>
                </a:moveTo>
                <a:lnTo>
                  <a:pt x="0" y="76200"/>
                </a:lnTo>
                <a:lnTo>
                  <a:pt x="31750" y="76200"/>
                </a:lnTo>
                <a:lnTo>
                  <a:pt x="31750" y="63500"/>
                </a:lnTo>
                <a:lnTo>
                  <a:pt x="69850" y="63500"/>
                </a:lnTo>
                <a:lnTo>
                  <a:pt x="38100" y="0"/>
                </a:lnTo>
                <a:close/>
              </a:path>
              <a:path w="76200" h="986155">
                <a:moveTo>
                  <a:pt x="69850" y="63500"/>
                </a:moveTo>
                <a:lnTo>
                  <a:pt x="44450" y="63500"/>
                </a:lnTo>
                <a:lnTo>
                  <a:pt x="44450" y="76200"/>
                </a:lnTo>
                <a:lnTo>
                  <a:pt x="76200" y="76200"/>
                </a:lnTo>
                <a:lnTo>
                  <a:pt x="69850" y="63500"/>
                </a:lnTo>
                <a:close/>
              </a:path>
            </a:pathLst>
          </a:custGeom>
          <a:solidFill>
            <a:srgbClr val="000000"/>
          </a:solidFill>
        </p:spPr>
        <p:txBody>
          <a:bodyPr wrap="square" lIns="0" tIns="0" rIns="0" bIns="0" rtlCol="0"/>
          <a:lstStyle/>
          <a:p>
            <a:endParaRPr/>
          </a:p>
        </p:txBody>
      </p:sp>
      <p:sp>
        <p:nvSpPr>
          <p:cNvPr id="12" name="object 63">
            <a:extLst>
              <a:ext uri="{FF2B5EF4-FFF2-40B4-BE49-F238E27FC236}">
                <a16:creationId xmlns:a16="http://schemas.microsoft.com/office/drawing/2014/main" id="{FCE9BE8C-E2F4-7CBE-236B-A2E5451F5C01}"/>
              </a:ext>
            </a:extLst>
          </p:cNvPr>
          <p:cNvSpPr txBox="1"/>
          <p:nvPr/>
        </p:nvSpPr>
        <p:spPr>
          <a:xfrm>
            <a:off x="6882764" y="4389164"/>
            <a:ext cx="577850" cy="454025"/>
          </a:xfrm>
          <a:prstGeom prst="rect">
            <a:avLst/>
          </a:prstGeom>
        </p:spPr>
        <p:txBody>
          <a:bodyPr vert="horz" wrap="square" lIns="0" tIns="13335" rIns="0" bIns="0" rtlCol="0">
            <a:spAutoFit/>
          </a:bodyPr>
          <a:lstStyle/>
          <a:p>
            <a:pPr marR="3175" algn="ctr">
              <a:lnSpc>
                <a:spcPct val="100000"/>
              </a:lnSpc>
              <a:spcBef>
                <a:spcPts val="105"/>
              </a:spcBef>
            </a:pPr>
            <a:r>
              <a:rPr sz="1400" dirty="0">
                <a:latin typeface="Calibri"/>
                <a:cs typeface="Calibri"/>
              </a:rPr>
              <a:t>h</a:t>
            </a:r>
          </a:p>
          <a:p>
            <a:pPr marR="5080" algn="ctr">
              <a:lnSpc>
                <a:spcPct val="100000"/>
              </a:lnSpc>
              <a:spcBef>
                <a:spcPts val="5"/>
              </a:spcBef>
            </a:pPr>
            <a:r>
              <a:rPr sz="1400" spc="-10" dirty="0">
                <a:latin typeface="Calibri"/>
                <a:cs typeface="Calibri"/>
              </a:rPr>
              <a:t>(h</a:t>
            </a:r>
            <a:r>
              <a:rPr sz="1400" dirty="0">
                <a:latin typeface="Calibri"/>
                <a:cs typeface="Calibri"/>
              </a:rPr>
              <a:t>eig</a:t>
            </a:r>
            <a:r>
              <a:rPr sz="1400" spc="-25" dirty="0">
                <a:latin typeface="Calibri"/>
                <a:cs typeface="Calibri"/>
              </a:rPr>
              <a:t>h</a:t>
            </a:r>
            <a:r>
              <a:rPr sz="1400" spc="-5" dirty="0">
                <a:latin typeface="Calibri"/>
                <a:cs typeface="Calibri"/>
              </a:rPr>
              <a:t>t</a:t>
            </a:r>
            <a:r>
              <a:rPr sz="1400" dirty="0">
                <a:latin typeface="Calibri"/>
                <a:cs typeface="Calibri"/>
              </a:rPr>
              <a:t>)</a:t>
            </a:r>
          </a:p>
        </p:txBody>
      </p:sp>
    </p:spTree>
    <p:extLst>
      <p:ext uri="{BB962C8B-B14F-4D97-AF65-F5344CB8AC3E}">
        <p14:creationId xmlns:p14="http://schemas.microsoft.com/office/powerpoint/2010/main" val="56023462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Marcador de pie de página 3">
            <a:extLst>
              <a:ext uri="{FF2B5EF4-FFF2-40B4-BE49-F238E27FC236}">
                <a16:creationId xmlns:a16="http://schemas.microsoft.com/office/drawing/2014/main" id="{1F74687F-7302-3F32-F9D1-0566D05F33AE}"/>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5" name="Marcador de número de diapositiva 4">
            <a:extLst>
              <a:ext uri="{FF2B5EF4-FFF2-40B4-BE49-F238E27FC236}">
                <a16:creationId xmlns:a16="http://schemas.microsoft.com/office/drawing/2014/main" id="{78335A49-ACE2-C055-50CA-8DD755D2E76D}"/>
              </a:ext>
            </a:extLst>
          </p:cNvPr>
          <p:cNvSpPr>
            <a:spLocks noGrp="1"/>
          </p:cNvSpPr>
          <p:nvPr>
            <p:ph type="sldNum" sz="quarter" idx="7"/>
          </p:nvPr>
        </p:nvSpPr>
        <p:spPr/>
        <p:txBody>
          <a:bodyPr/>
          <a:lstStyle/>
          <a:p>
            <a:fld id="{B6F15528-21DE-4FAA-801E-634DDDAF4B2B}" type="slidenum">
              <a:rPr lang="es-ES" smtClean="0"/>
              <a:t>3</a:t>
            </a:fld>
            <a:endParaRPr lang="es-ES"/>
          </a:p>
        </p:txBody>
      </p:sp>
      <p:sp>
        <p:nvSpPr>
          <p:cNvPr id="6" name="Título 4">
            <a:extLst>
              <a:ext uri="{FF2B5EF4-FFF2-40B4-BE49-F238E27FC236}">
                <a16:creationId xmlns:a16="http://schemas.microsoft.com/office/drawing/2014/main" id="{AF6692CA-D0D0-2BAF-E673-933E02AE2BB8}"/>
              </a:ext>
            </a:extLst>
          </p:cNvPr>
          <p:cNvSpPr>
            <a:spLocks noGrp="1"/>
          </p:cNvSpPr>
          <p:nvPr>
            <p:ph type="body" idx="1"/>
          </p:nvPr>
        </p:nvSpPr>
        <p:spPr>
          <a:xfrm>
            <a:off x="609600" y="2152650"/>
            <a:ext cx="10972800" cy="430887"/>
          </a:xfrm>
        </p:spPr>
        <p:txBody>
          <a:bodyPr/>
          <a:lstStyle/>
          <a:p>
            <a:pPr algn="ctr"/>
            <a:r>
              <a:rPr lang="en-US" sz="2800" b="1" dirty="0">
                <a:effectLst>
                  <a:outerShdw blurRad="38100" dist="38100" dir="2700000" algn="tl">
                    <a:srgbClr val="000000">
                      <a:alpha val="43137"/>
                    </a:srgbClr>
                  </a:outerShdw>
                </a:effectLst>
              </a:rPr>
              <a:t>Directional coupler</a:t>
            </a:r>
          </a:p>
        </p:txBody>
      </p:sp>
    </p:spTree>
    <p:extLst>
      <p:ext uri="{BB962C8B-B14F-4D97-AF65-F5344CB8AC3E}">
        <p14:creationId xmlns:p14="http://schemas.microsoft.com/office/powerpoint/2010/main" val="164001952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80DA9C-35AF-A1D7-01E5-BFD9DEF1550F}"/>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471E1424-6C4B-2D9A-1352-30AFB987AD41}"/>
              </a:ext>
            </a:extLst>
          </p:cNvPr>
          <p:cNvSpPr txBox="1">
            <a:spLocks noGrp="1"/>
          </p:cNvSpPr>
          <p:nvPr>
            <p:ph type="title"/>
          </p:nvPr>
        </p:nvSpPr>
        <p:spPr>
          <a:xfrm>
            <a:off x="685800" y="408883"/>
            <a:ext cx="10994410" cy="782265"/>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#1 – Directional coupler cross-section in </a:t>
            </a:r>
            <a:r>
              <a:rPr lang="en-US" sz="2500" dirty="0" err="1"/>
              <a:t>GDSFactory</a:t>
            </a:r>
            <a:br>
              <a:rPr lang="es-ES" sz="2500" spc="-5" dirty="0">
                <a:latin typeface="+mj-lt"/>
                <a:cs typeface="Lucida Sans"/>
              </a:rPr>
            </a:br>
            <a:endParaRPr sz="2500" b="0" dirty="0">
              <a:latin typeface="+mj-lt"/>
              <a:cs typeface="Lucida Sans"/>
            </a:endParaRPr>
          </a:p>
        </p:txBody>
      </p:sp>
      <p:pic>
        <p:nvPicPr>
          <p:cNvPr id="83" name="Gráfico 82">
            <a:extLst>
              <a:ext uri="{FF2B5EF4-FFF2-40B4-BE49-F238E27FC236}">
                <a16:creationId xmlns:a16="http://schemas.microsoft.com/office/drawing/2014/main" id="{9DCFD462-4416-65F8-5696-B0135B63276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293F5C1D-AFFF-4EA6-CA59-6503F34EBF5F}"/>
              </a:ext>
            </a:extLst>
          </p:cNvPr>
          <p:cNvSpPr>
            <a:spLocks noGrp="1"/>
          </p:cNvSpPr>
          <p:nvPr>
            <p:ph type="sldNum" sz="quarter" idx="7"/>
          </p:nvPr>
        </p:nvSpPr>
        <p:spPr/>
        <p:txBody>
          <a:bodyPr/>
          <a:lstStyle/>
          <a:p>
            <a:fld id="{B6F15528-21DE-4FAA-801E-634DDDAF4B2B}" type="slidenum">
              <a:rPr lang="es-ES" smtClean="0"/>
              <a:t>4</a:t>
            </a:fld>
            <a:endParaRPr lang="es-ES"/>
          </a:p>
        </p:txBody>
      </p:sp>
      <p:sp>
        <p:nvSpPr>
          <p:cNvPr id="3" name="Marcador de pie de página 2">
            <a:extLst>
              <a:ext uri="{FF2B5EF4-FFF2-40B4-BE49-F238E27FC236}">
                <a16:creationId xmlns:a16="http://schemas.microsoft.com/office/drawing/2014/main" id="{34F13AC1-9668-7266-DF5B-D7CE084AB044}"/>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mc:AlternateContent xmlns:mc="http://schemas.openxmlformats.org/markup-compatibility/2006" xmlns:a14="http://schemas.microsoft.com/office/drawing/2010/main">
        <mc:Choice Requires="a14">
          <p:sp>
            <p:nvSpPr>
              <p:cNvPr id="4" name="Marcador de texto 2">
                <a:extLst>
                  <a:ext uri="{FF2B5EF4-FFF2-40B4-BE49-F238E27FC236}">
                    <a16:creationId xmlns:a16="http://schemas.microsoft.com/office/drawing/2014/main" id="{AA9E72FF-B948-6B7A-8909-97C6BE95D6FB}"/>
                  </a:ext>
                </a:extLst>
              </p:cNvPr>
              <p:cNvSpPr txBox="1">
                <a:spLocks/>
              </p:cNvSpPr>
              <p:nvPr/>
            </p:nvSpPr>
            <p:spPr>
              <a:xfrm>
                <a:off x="608012" y="1295400"/>
                <a:ext cx="11048999" cy="4958137"/>
              </a:xfrm>
              <a:prstGeom prst="rect">
                <a:avLst/>
              </a:prstGeom>
            </p:spPr>
            <p:txBody>
              <a:bodyPr>
                <a:normAutofit/>
              </a:bodyPr>
              <a:lst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a:lstStyle>
              <a:p>
                <a:pPr marL="0" indent="0">
                  <a:buNone/>
                </a:pPr>
                <a:r>
                  <a:rPr lang="en-US" sz="2000" b="1" dirty="0"/>
                  <a:t>INSTRUCTOR:</a:t>
                </a:r>
              </a:p>
              <a:p>
                <a:pPr marL="342900" indent="-342900" algn="just">
                  <a:buFont typeface="Arial" panose="020B0604020202020204" pitchFamily="34" charset="0"/>
                  <a:buChar char="•"/>
                </a:pPr>
                <a:r>
                  <a:rPr lang="en-US" sz="2000" dirty="0"/>
                  <a:t>Present Python and </a:t>
                </a:r>
                <a:r>
                  <a:rPr lang="en-US" sz="2000" dirty="0" err="1"/>
                  <a:t>GDSFactory</a:t>
                </a:r>
                <a:r>
                  <a:rPr lang="en-US" sz="2000" dirty="0"/>
                  <a:t> implementation of DC cross-section</a:t>
                </a:r>
              </a:p>
              <a:p>
                <a:pPr marL="342900" indent="-342900" algn="just">
                  <a:buFont typeface="Arial" panose="020B0604020202020204" pitchFamily="34" charset="0"/>
                  <a:buChar char="•"/>
                </a:pPr>
                <a:r>
                  <a:rPr lang="en-US" sz="2000" dirty="0"/>
                  <a:t>Describe how to obtain the beating length </a:t>
                </a:r>
                <a14:m>
                  <m:oMath xmlns:m="http://schemas.openxmlformats.org/officeDocument/2006/math">
                    <m:sSub>
                      <m:sSubPr>
                        <m:ctrlPr>
                          <a:rPr lang="es-ES" sz="2000" b="0" i="1" smtClean="0">
                            <a:latin typeface="Cambria Math" panose="02040503050406030204" pitchFamily="18" charset="0"/>
                          </a:rPr>
                        </m:ctrlPr>
                      </m:sSubPr>
                      <m:e>
                        <m:r>
                          <a:rPr lang="es-ES" sz="2000" b="0" i="1" smtClean="0">
                            <a:latin typeface="Cambria Math" panose="02040503050406030204" pitchFamily="18" charset="0"/>
                          </a:rPr>
                          <m:t>𝐿</m:t>
                        </m:r>
                      </m:e>
                      <m:sub>
                        <m:r>
                          <a:rPr lang="es-ES" sz="2000" b="0" i="1" smtClean="0">
                            <a:latin typeface="Cambria Math" panose="02040503050406030204" pitchFamily="18" charset="0"/>
                          </a:rPr>
                          <m:t>𝜋</m:t>
                        </m:r>
                      </m:sub>
                    </m:sSub>
                  </m:oMath>
                </a14:m>
                <a:endParaRPr lang="en-US" sz="2000" dirty="0"/>
              </a:p>
              <a:p>
                <a:pPr marL="342900" indent="-342900" algn="just">
                  <a:buFont typeface="Arial" panose="020B0604020202020204" pitchFamily="34" charset="0"/>
                  <a:buChar char="•"/>
                </a:pPr>
                <a:r>
                  <a:rPr lang="en-US" sz="2000" dirty="0"/>
                  <a:t>Describe the outputs.</a:t>
                </a:r>
              </a:p>
              <a:p>
                <a:pPr marL="0" indent="0" algn="just">
                  <a:buNone/>
                </a:pPr>
                <a:r>
                  <a:rPr lang="en-US" sz="2000" b="1" dirty="0"/>
                  <a:t>ALL EXAMPLE #1: </a:t>
                </a:r>
                <a:r>
                  <a:rPr lang="en-US" sz="2000" dirty="0"/>
                  <a:t>waveguide width 1.2 µm, gap between waveguides 0.6 µm, deep </a:t>
                </a:r>
                <a:r>
                  <a:rPr lang="en-US" sz="2000" dirty="0" err="1"/>
                  <a:t>wvg</a:t>
                </a:r>
                <a:r>
                  <a:rPr lang="en-US" sz="2000" dirty="0"/>
                  <a:t>, wavelength start and end same 1.55 µm </a:t>
                </a:r>
                <a:r>
                  <a:rPr lang="en-US" sz="2000" dirty="0">
                    <a:sym typeface="Wingdings" pitchFamily="2" charset="2"/>
                  </a:rPr>
                  <a:t> all ”Run”</a:t>
                </a:r>
                <a:endParaRPr lang="en-US" sz="2000" dirty="0"/>
              </a:p>
              <a:p>
                <a:pPr marL="0" indent="0" algn="just">
                  <a:buNone/>
                </a:pPr>
                <a:r>
                  <a:rPr lang="en-US" sz="2000" b="1" dirty="0"/>
                  <a:t>ALL: </a:t>
                </a:r>
                <a:r>
                  <a:rPr lang="en-US" sz="2000" dirty="0"/>
                  <a:t>Follow</a:t>
                </a:r>
                <a:r>
                  <a:rPr lang="en-US" sz="2000" b="1" dirty="0"/>
                  <a:t> </a:t>
                </a:r>
                <a:r>
                  <a:rPr lang="en-US" sz="2000" dirty="0"/>
                  <a:t>instructor, that will show how to 1) plot mode, 2) explore the results (neff …)</a:t>
                </a:r>
              </a:p>
              <a:p>
                <a:pPr algn="just"/>
                <a:endParaRPr lang="en-US" sz="2000" b="1" i="1" dirty="0"/>
              </a:p>
              <a:p>
                <a:pPr algn="just"/>
                <a:endParaRPr lang="en-US" sz="2000" kern="0" dirty="0">
                  <a:solidFill>
                    <a:sysClr val="windowText" lastClr="000000"/>
                  </a:solidFill>
                </a:endParaRPr>
              </a:p>
            </p:txBody>
          </p:sp>
        </mc:Choice>
        <mc:Fallback xmlns="">
          <p:sp>
            <p:nvSpPr>
              <p:cNvPr id="4" name="Marcador de texto 2">
                <a:extLst>
                  <a:ext uri="{FF2B5EF4-FFF2-40B4-BE49-F238E27FC236}">
                    <a16:creationId xmlns:a16="http://schemas.microsoft.com/office/drawing/2014/main" id="{AA9E72FF-B948-6B7A-8909-97C6BE95D6FB}"/>
                  </a:ext>
                </a:extLst>
              </p:cNvPr>
              <p:cNvSpPr txBox="1">
                <a:spLocks noRot="1" noChangeAspect="1" noMove="1" noResize="1" noEditPoints="1" noAdjustHandles="1" noChangeArrowheads="1" noChangeShapeType="1" noTextEdit="1"/>
              </p:cNvSpPr>
              <p:nvPr/>
            </p:nvSpPr>
            <p:spPr>
              <a:xfrm>
                <a:off x="608012" y="1295400"/>
                <a:ext cx="11048999" cy="4958137"/>
              </a:xfrm>
              <a:prstGeom prst="rect">
                <a:avLst/>
              </a:prstGeom>
              <a:blipFill>
                <a:blip r:embed="rId5"/>
                <a:stretch>
                  <a:fillRect l="-607" t="-738" r="-552"/>
                </a:stretch>
              </a:blipFill>
            </p:spPr>
            <p:txBody>
              <a:bodyPr/>
              <a:lstStyle/>
              <a:p>
                <a:r>
                  <a:rPr lang="es-ES">
                    <a:noFill/>
                  </a:rPr>
                  <a:t> </a:t>
                </a:r>
              </a:p>
            </p:txBody>
          </p:sp>
        </mc:Fallback>
      </mc:AlternateContent>
      <p:sp>
        <p:nvSpPr>
          <p:cNvPr id="2" name="CuadroTexto 1">
            <a:extLst>
              <a:ext uri="{FF2B5EF4-FFF2-40B4-BE49-F238E27FC236}">
                <a16:creationId xmlns:a16="http://schemas.microsoft.com/office/drawing/2014/main" id="{D0F8CF3B-B920-DBFC-F825-0C87B51EADA7}"/>
              </a:ext>
            </a:extLst>
          </p:cNvPr>
          <p:cNvSpPr txBox="1"/>
          <p:nvPr/>
        </p:nvSpPr>
        <p:spPr>
          <a:xfrm>
            <a:off x="583019" y="4343400"/>
            <a:ext cx="11199971" cy="1754326"/>
          </a:xfrm>
          <a:prstGeom prst="rect">
            <a:avLst/>
          </a:prstGeom>
          <a:solidFill>
            <a:schemeClr val="bg1">
              <a:lumMod val="95000"/>
            </a:schemeClr>
          </a:solidFill>
          <a:ln w="28575">
            <a:solidFill>
              <a:srgbClr val="E0700D"/>
            </a:solidFill>
          </a:ln>
        </p:spPr>
        <p:txBody>
          <a:bodyPr wrap="square" rtlCol="0">
            <a:spAutoFit/>
          </a:bodyPr>
          <a:lstStyle/>
          <a:p>
            <a:pPr algn="just"/>
            <a:r>
              <a:rPr lang="en-US" sz="1200" b="1" dirty="0">
                <a:latin typeface="Arial" panose="020B0604020202020204" pitchFamily="34" charset="0"/>
                <a:cs typeface="Arial" panose="020B0604020202020204" pitchFamily="34" charset="0"/>
              </a:rPr>
              <a:t>Document all your results (neff, plot fields of different modes, comparison between different polarizations…)</a:t>
            </a:r>
          </a:p>
          <a:p>
            <a:pPr algn="just"/>
            <a:endParaRPr lang="en-US" sz="1200" dirty="0">
              <a:latin typeface="Arial" panose="020B0604020202020204" pitchFamily="34" charset="0"/>
              <a:cs typeface="Arial" panose="020B0604020202020204" pitchFamily="34" charset="0"/>
            </a:endParaRPr>
          </a:p>
          <a:p>
            <a:pPr algn="just"/>
            <a:r>
              <a:rPr lang="es-ES" sz="1200" noProof="0" dirty="0">
                <a:latin typeface="Arial" panose="020B0604020202020204" pitchFamily="34" charset="0"/>
                <a:cs typeface="Arial" panose="020B0604020202020204" pitchFamily="34" charset="0"/>
              </a:rPr>
              <a:t>Se propagan los 4 primeros modos</a:t>
            </a:r>
            <a:r>
              <a:rPr lang="es-ES" sz="1200" dirty="0">
                <a:latin typeface="Arial" panose="020B0604020202020204" pitchFamily="34" charset="0"/>
                <a:cs typeface="Arial" panose="020B0604020202020204" pitchFamily="34" charset="0"/>
              </a:rPr>
              <a:t>. S</a:t>
            </a:r>
            <a:r>
              <a:rPr lang="es-ES" sz="1200" noProof="0" dirty="0">
                <a:latin typeface="Arial" panose="020B0604020202020204" pitchFamily="34" charset="0"/>
                <a:cs typeface="Arial" panose="020B0604020202020204" pitchFamily="34" charset="0"/>
              </a:rPr>
              <a:t>e transmiten en parejas, es decir, los modos TE0 y TE1 van emparejados</a:t>
            </a:r>
            <a:r>
              <a:rPr lang="es-ES" sz="1200" dirty="0">
                <a:latin typeface="Arial" panose="020B0604020202020204" pitchFamily="34" charset="0"/>
                <a:cs typeface="Arial" panose="020B0604020202020204" pitchFamily="34" charset="0"/>
              </a:rPr>
              <a:t>.</a:t>
            </a:r>
            <a:r>
              <a:rPr lang="es-ES" sz="1200" noProof="0" dirty="0">
                <a:latin typeface="Arial" panose="020B0604020202020204" pitchFamily="34" charset="0"/>
                <a:cs typeface="Arial" panose="020B0604020202020204" pitchFamily="34" charset="0"/>
              </a:rPr>
              <a:t> </a:t>
            </a:r>
            <a:r>
              <a:rPr lang="es-ES" sz="1200" dirty="0">
                <a:latin typeface="Arial" panose="020B0604020202020204" pitchFamily="34" charset="0"/>
                <a:cs typeface="Arial" panose="020B0604020202020204" pitchFamily="34" charset="0"/>
              </a:rPr>
              <a:t>L</a:t>
            </a:r>
            <a:r>
              <a:rPr lang="es-ES" sz="1200" noProof="0" dirty="0">
                <a:latin typeface="Arial" panose="020B0604020202020204" pitchFamily="34" charset="0"/>
                <a:cs typeface="Arial" panose="020B0604020202020204" pitchFamily="34" charset="0"/>
              </a:rPr>
              <a:t>o mismo pasa con los modos TM. Estos modos se parecen mucho a los modos fundamentales de la guía cuando se simula por sí sola.</a:t>
            </a:r>
          </a:p>
          <a:p>
            <a:pPr algn="just"/>
            <a:r>
              <a:rPr lang="es-ES" sz="1200" noProof="0" dirty="0">
                <a:latin typeface="Arial" panose="020B0604020202020204" pitchFamily="34" charset="0"/>
                <a:cs typeface="Arial" panose="020B0604020202020204" pitchFamily="34" charset="0"/>
              </a:rPr>
              <a:t>Modos 1 y 2 son modos fundamentales TE con la particularidad de que el modo 2 es antisimétrico (tiene un lóbulo positivo y uno negativo). Este mismo resultado se repite para los modos T</a:t>
            </a:r>
            <a:r>
              <a:rPr lang="es-ES" sz="1200" dirty="0">
                <a:latin typeface="Arial" panose="020B0604020202020204" pitchFamily="34" charset="0"/>
                <a:cs typeface="Arial" panose="020B0604020202020204" pitchFamily="34" charset="0"/>
              </a:rPr>
              <a:t>M </a:t>
            </a:r>
            <a:r>
              <a:rPr lang="es-ES" sz="1200" noProof="0" dirty="0">
                <a:latin typeface="Arial" panose="020B0604020202020204" pitchFamily="34" charset="0"/>
                <a:cs typeface="Arial" panose="020B0604020202020204" pitchFamily="34" charset="0"/>
              </a:rPr>
              <a:t>correspondientes a los modos 3 y 4.</a:t>
            </a: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73050131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D66088-184A-D69C-F2D6-55F667381D14}"/>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8030DBB6-691F-24B3-9B0D-29B2928ABE20}"/>
              </a:ext>
            </a:extLst>
          </p:cNvPr>
          <p:cNvSpPr txBox="1">
            <a:spLocks noGrp="1"/>
          </p:cNvSpPr>
          <p:nvPr>
            <p:ph type="title"/>
          </p:nvPr>
        </p:nvSpPr>
        <p:spPr>
          <a:xfrm>
            <a:off x="685800" y="408883"/>
            <a:ext cx="10994410" cy="782265"/>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#1 – Directional coupler cross-section in </a:t>
            </a:r>
            <a:r>
              <a:rPr lang="en-US" sz="2500" dirty="0" err="1"/>
              <a:t>GDSFactory</a:t>
            </a:r>
            <a:br>
              <a:rPr lang="es-ES" sz="2500" spc="-5" dirty="0">
                <a:latin typeface="+mj-lt"/>
                <a:cs typeface="Lucida Sans"/>
              </a:rPr>
            </a:br>
            <a:endParaRPr sz="2500" b="0" dirty="0">
              <a:latin typeface="+mj-lt"/>
              <a:cs typeface="Lucida Sans"/>
            </a:endParaRPr>
          </a:p>
        </p:txBody>
      </p:sp>
      <p:pic>
        <p:nvPicPr>
          <p:cNvPr id="83" name="Gráfico 82">
            <a:extLst>
              <a:ext uri="{FF2B5EF4-FFF2-40B4-BE49-F238E27FC236}">
                <a16:creationId xmlns:a16="http://schemas.microsoft.com/office/drawing/2014/main" id="{C31961FE-396D-EDEE-9728-0C54CEC17E9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2AF4B2D2-F6EA-1D67-6F6D-3E85A0661C74}"/>
              </a:ext>
            </a:extLst>
          </p:cNvPr>
          <p:cNvSpPr>
            <a:spLocks noGrp="1"/>
          </p:cNvSpPr>
          <p:nvPr>
            <p:ph type="sldNum" sz="quarter" idx="7"/>
          </p:nvPr>
        </p:nvSpPr>
        <p:spPr/>
        <p:txBody>
          <a:bodyPr/>
          <a:lstStyle/>
          <a:p>
            <a:fld id="{B6F15528-21DE-4FAA-801E-634DDDAF4B2B}" type="slidenum">
              <a:rPr lang="es-ES" smtClean="0"/>
              <a:t>5</a:t>
            </a:fld>
            <a:endParaRPr lang="es-ES"/>
          </a:p>
        </p:txBody>
      </p:sp>
      <p:sp>
        <p:nvSpPr>
          <p:cNvPr id="3" name="Marcador de pie de página 2">
            <a:extLst>
              <a:ext uri="{FF2B5EF4-FFF2-40B4-BE49-F238E27FC236}">
                <a16:creationId xmlns:a16="http://schemas.microsoft.com/office/drawing/2014/main" id="{1E762673-F4BB-D95D-DA8E-8FA8801711E7}"/>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2" name="CuadroTexto 1">
            <a:extLst>
              <a:ext uri="{FF2B5EF4-FFF2-40B4-BE49-F238E27FC236}">
                <a16:creationId xmlns:a16="http://schemas.microsoft.com/office/drawing/2014/main" id="{157273D3-370B-5FB7-7A83-22FAC3F10BE9}"/>
              </a:ext>
            </a:extLst>
          </p:cNvPr>
          <p:cNvSpPr txBox="1"/>
          <p:nvPr/>
        </p:nvSpPr>
        <p:spPr>
          <a:xfrm>
            <a:off x="581722" y="3735510"/>
            <a:ext cx="11199971" cy="2431435"/>
          </a:xfrm>
          <a:prstGeom prst="rect">
            <a:avLst/>
          </a:prstGeom>
          <a:solidFill>
            <a:schemeClr val="bg1">
              <a:lumMod val="95000"/>
            </a:schemeClr>
          </a:solidFill>
          <a:ln w="28575">
            <a:solidFill>
              <a:srgbClr val="E0700D"/>
            </a:solidFill>
          </a:ln>
        </p:spPr>
        <p:txBody>
          <a:bodyPr wrap="square" rtlCol="0">
            <a:spAutoFit/>
          </a:bodyPr>
          <a:lstStyle/>
          <a:p>
            <a:pPr algn="just"/>
            <a:r>
              <a:rPr lang="en-US" sz="1200" b="1" dirty="0">
                <a:latin typeface="Arial" panose="020B0604020202020204" pitchFamily="34" charset="0"/>
                <a:cs typeface="Arial" panose="020B0604020202020204" pitchFamily="34" charset="0"/>
              </a:rPr>
              <a:t>Document all your results (neff, plot fields of different modes, comparison between different polarizations…)</a:t>
            </a:r>
          </a:p>
          <a:p>
            <a:pPr algn="just"/>
            <a:endParaRPr lang="en-US" sz="1200" dirty="0">
              <a:latin typeface="Arial" panose="020B0604020202020204" pitchFamily="34" charset="0"/>
              <a:cs typeface="Arial" panose="020B0604020202020204" pitchFamily="34" charset="0"/>
            </a:endParaRPr>
          </a:p>
          <a:p>
            <a:pPr marL="171450" indent="-171450">
              <a:buFont typeface="Arial" panose="020B0604020202020204" pitchFamily="34" charset="0"/>
              <a:buChar char="•"/>
            </a:pPr>
            <a:r>
              <a:rPr lang="es-ES" sz="1600" dirty="0"/>
              <a:t>Se ha generado la sección transversal del acoplador direccional con dos guías próximas. Al resolver los modos aparecen </a:t>
            </a:r>
            <a:r>
              <a:rPr lang="es-ES" sz="1600" dirty="0" err="1"/>
              <a:t>supermodos</a:t>
            </a:r>
            <a:r>
              <a:rPr lang="es-ES" sz="1600" dirty="0"/>
              <a:t> pares e impares debido al acoplamiento entre ambas guías.</a:t>
            </a:r>
          </a:p>
          <a:p>
            <a:pPr marL="171450" indent="-171450">
              <a:buFont typeface="Arial" panose="020B0604020202020204" pitchFamily="34" charset="0"/>
              <a:buChar char="•"/>
            </a:pPr>
            <a:r>
              <a:rPr lang="es-ES" sz="1600" dirty="0"/>
              <a:t>En las simulaciones se observa un modo TE simétrico y un modo TE antisimétrico. Sus índices efectivos son aprox. neff0 = 1.61794 y neff1 = 1.61018. </a:t>
            </a:r>
          </a:p>
          <a:p>
            <a:pPr marL="171450" indent="-171450">
              <a:buFont typeface="Arial" panose="020B0604020202020204" pitchFamily="34" charset="0"/>
              <a:buChar char="•"/>
            </a:pPr>
            <a:r>
              <a:rPr lang="es-ES" sz="1600" dirty="0"/>
              <a:t>También aparecen modos TM, con </a:t>
            </a:r>
            <a:r>
              <a:rPr lang="es-ES" sz="1600" dirty="0" err="1"/>
              <a:t>neff</a:t>
            </a:r>
            <a:r>
              <a:rPr lang="es-ES" sz="1600" dirty="0"/>
              <a:t> menores, por lo que están menos confinados.</a:t>
            </a:r>
          </a:p>
          <a:p>
            <a:pPr marL="171450" indent="-171450">
              <a:buFont typeface="Arial" panose="020B0604020202020204" pitchFamily="34" charset="0"/>
              <a:buChar char="•"/>
            </a:pPr>
            <a:r>
              <a:rPr lang="es-ES" sz="1600" dirty="0"/>
              <a:t>Esto muestra que el acoplador no se comporta igual para TE y para TM, y que el intercambio de potencia entre las guías está relacionado con la diferencia entre el modo simétrico y el antisimétrico.</a:t>
            </a:r>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pic>
        <p:nvPicPr>
          <p:cNvPr id="6" name="Imagen 5">
            <a:extLst>
              <a:ext uri="{FF2B5EF4-FFF2-40B4-BE49-F238E27FC236}">
                <a16:creationId xmlns:a16="http://schemas.microsoft.com/office/drawing/2014/main" id="{AEA63084-A04B-3C9C-C0EE-1AFC8AC82C51}"/>
              </a:ext>
            </a:extLst>
          </p:cNvPr>
          <p:cNvPicPr>
            <a:picLocks noChangeAspect="1"/>
          </p:cNvPicPr>
          <p:nvPr/>
        </p:nvPicPr>
        <p:blipFill>
          <a:blip r:embed="rId4"/>
          <a:stretch>
            <a:fillRect/>
          </a:stretch>
        </p:blipFill>
        <p:spPr>
          <a:xfrm>
            <a:off x="511790" y="950879"/>
            <a:ext cx="3398075" cy="2386013"/>
          </a:xfrm>
          <a:prstGeom prst="rect">
            <a:avLst/>
          </a:prstGeom>
        </p:spPr>
      </p:pic>
      <p:pic>
        <p:nvPicPr>
          <p:cNvPr id="8" name="Imagen 7">
            <a:extLst>
              <a:ext uri="{FF2B5EF4-FFF2-40B4-BE49-F238E27FC236}">
                <a16:creationId xmlns:a16="http://schemas.microsoft.com/office/drawing/2014/main" id="{88A04F20-47CE-3B49-19EA-D5AEA1893AB0}"/>
              </a:ext>
            </a:extLst>
          </p:cNvPr>
          <p:cNvPicPr>
            <a:picLocks noChangeAspect="1"/>
          </p:cNvPicPr>
          <p:nvPr/>
        </p:nvPicPr>
        <p:blipFill>
          <a:blip r:embed="rId5"/>
          <a:stretch>
            <a:fillRect/>
          </a:stretch>
        </p:blipFill>
        <p:spPr>
          <a:xfrm>
            <a:off x="4534131" y="961644"/>
            <a:ext cx="3490080" cy="2386013"/>
          </a:xfrm>
          <a:prstGeom prst="rect">
            <a:avLst/>
          </a:prstGeom>
        </p:spPr>
      </p:pic>
      <p:pic>
        <p:nvPicPr>
          <p:cNvPr id="10" name="Imagen 9">
            <a:extLst>
              <a:ext uri="{FF2B5EF4-FFF2-40B4-BE49-F238E27FC236}">
                <a16:creationId xmlns:a16="http://schemas.microsoft.com/office/drawing/2014/main" id="{D13B8ABA-0372-F21C-39DB-8D10A853E31E}"/>
              </a:ext>
            </a:extLst>
          </p:cNvPr>
          <p:cNvPicPr>
            <a:picLocks noChangeAspect="1"/>
          </p:cNvPicPr>
          <p:nvPr/>
        </p:nvPicPr>
        <p:blipFill>
          <a:blip r:embed="rId6"/>
          <a:stretch>
            <a:fillRect/>
          </a:stretch>
        </p:blipFill>
        <p:spPr>
          <a:xfrm>
            <a:off x="8190129" y="975519"/>
            <a:ext cx="3490081" cy="2336732"/>
          </a:xfrm>
          <a:prstGeom prst="rect">
            <a:avLst/>
          </a:prstGeom>
        </p:spPr>
      </p:pic>
    </p:spTree>
    <p:extLst>
      <p:ext uri="{BB962C8B-B14F-4D97-AF65-F5344CB8AC3E}">
        <p14:creationId xmlns:p14="http://schemas.microsoft.com/office/powerpoint/2010/main" val="409498655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E103D0-36EE-579B-7DD6-27A817B418C6}"/>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6FC6B005-9231-2505-0C8C-54B3C325A5D4}"/>
              </a:ext>
            </a:extLst>
          </p:cNvPr>
          <p:cNvSpPr txBox="1">
            <a:spLocks noGrp="1"/>
          </p:cNvSpPr>
          <p:nvPr>
            <p:ph type="title"/>
          </p:nvPr>
        </p:nvSpPr>
        <p:spPr>
          <a:xfrm>
            <a:off x="685800" y="408883"/>
            <a:ext cx="10994410" cy="782265"/>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#1 – Directional coupler cross-section in </a:t>
            </a:r>
            <a:r>
              <a:rPr lang="en-US" sz="2500" dirty="0" err="1"/>
              <a:t>GDSFactory</a:t>
            </a:r>
            <a:br>
              <a:rPr lang="es-ES" sz="2500" spc="-5" dirty="0">
                <a:latin typeface="+mj-lt"/>
                <a:cs typeface="Lucida Sans"/>
              </a:rPr>
            </a:br>
            <a:endParaRPr sz="2500" b="0" dirty="0">
              <a:latin typeface="+mj-lt"/>
              <a:cs typeface="Lucida Sans"/>
            </a:endParaRPr>
          </a:p>
        </p:txBody>
      </p:sp>
      <p:pic>
        <p:nvPicPr>
          <p:cNvPr id="83" name="Gráfico 82">
            <a:extLst>
              <a:ext uri="{FF2B5EF4-FFF2-40B4-BE49-F238E27FC236}">
                <a16:creationId xmlns:a16="http://schemas.microsoft.com/office/drawing/2014/main" id="{1F863AB8-D0CD-6746-3D3D-C3EC9CA2285A}"/>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71AB618A-7625-434E-D6EA-37D7731F5455}"/>
              </a:ext>
            </a:extLst>
          </p:cNvPr>
          <p:cNvSpPr>
            <a:spLocks noGrp="1"/>
          </p:cNvSpPr>
          <p:nvPr>
            <p:ph type="sldNum" sz="quarter" idx="7"/>
          </p:nvPr>
        </p:nvSpPr>
        <p:spPr/>
        <p:txBody>
          <a:bodyPr/>
          <a:lstStyle/>
          <a:p>
            <a:fld id="{B6F15528-21DE-4FAA-801E-634DDDAF4B2B}" type="slidenum">
              <a:rPr lang="es-ES" smtClean="0"/>
              <a:t>6</a:t>
            </a:fld>
            <a:endParaRPr lang="es-ES"/>
          </a:p>
        </p:txBody>
      </p:sp>
      <p:sp>
        <p:nvSpPr>
          <p:cNvPr id="3" name="Marcador de pie de página 2">
            <a:extLst>
              <a:ext uri="{FF2B5EF4-FFF2-40B4-BE49-F238E27FC236}">
                <a16:creationId xmlns:a16="http://schemas.microsoft.com/office/drawing/2014/main" id="{E67F1AFF-3BCD-511F-1A25-69FC83A83EA8}"/>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2" name="CuadroTexto 1">
            <a:extLst>
              <a:ext uri="{FF2B5EF4-FFF2-40B4-BE49-F238E27FC236}">
                <a16:creationId xmlns:a16="http://schemas.microsoft.com/office/drawing/2014/main" id="{57735BFB-5787-C44D-E82B-9533E5297595}"/>
              </a:ext>
            </a:extLst>
          </p:cNvPr>
          <p:cNvSpPr txBox="1"/>
          <p:nvPr/>
        </p:nvSpPr>
        <p:spPr>
          <a:xfrm>
            <a:off x="496014" y="4156023"/>
            <a:ext cx="11199971" cy="1631216"/>
          </a:xfrm>
          <a:prstGeom prst="rect">
            <a:avLst/>
          </a:prstGeom>
          <a:solidFill>
            <a:schemeClr val="bg1">
              <a:lumMod val="95000"/>
            </a:schemeClr>
          </a:solidFill>
          <a:ln w="28575">
            <a:solidFill>
              <a:srgbClr val="E0700D"/>
            </a:solidFill>
          </a:ln>
        </p:spPr>
        <p:txBody>
          <a:bodyPr wrap="square" rtlCol="0">
            <a:spAutoFit/>
          </a:bodyPr>
          <a:lstStyle/>
          <a:p>
            <a:pPr algn="just"/>
            <a:r>
              <a:rPr lang="en-US" sz="1200" b="1" dirty="0">
                <a:latin typeface="Arial" panose="020B0604020202020204" pitchFamily="34" charset="0"/>
                <a:cs typeface="Arial" panose="020B0604020202020204" pitchFamily="34" charset="0"/>
              </a:rPr>
              <a:t>Document all your results (neff, plot fields of different modes, comparison between different polarizations…)</a:t>
            </a:r>
          </a:p>
          <a:p>
            <a:pPr algn="just"/>
            <a:endParaRPr lang="en-US" sz="12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s-ES" sz="1600" dirty="0"/>
              <a:t>Estas dos imágenes muestran los modos TM del acoplador, representados mediante el campo </a:t>
            </a:r>
            <a:r>
              <a:rPr lang="es-ES" sz="1600" dirty="0" err="1"/>
              <a:t>Ey</a:t>
            </a:r>
            <a:r>
              <a:rPr lang="es-ES" sz="1600" dirty="0"/>
              <a:t>. Igual que ocurría con los TE, aparecen dos </a:t>
            </a:r>
            <a:r>
              <a:rPr lang="es-ES" sz="1600" dirty="0" err="1"/>
              <a:t>supermodos</a:t>
            </a:r>
            <a:r>
              <a:rPr lang="es-ES" sz="1600" dirty="0"/>
              <a:t> (uno simétrico con los dos lóbulos en fase y otro antisimétrico con un lóbulo positivo y otro negativo).</a:t>
            </a:r>
          </a:p>
          <a:p>
            <a:pPr marL="285750" indent="-285750">
              <a:buFont typeface="Arial" panose="020B0604020202020204" pitchFamily="34" charset="0"/>
              <a:buChar char="•"/>
            </a:pPr>
            <a:r>
              <a:rPr lang="es-ES" sz="1600" dirty="0"/>
              <a:t>Como hemos comentado anteriormente, esto confirma que los modos del acoplador aparecen por parejas para cada polarización. En este caso los modos TM tienen menor </a:t>
            </a:r>
            <a:r>
              <a:rPr lang="es-ES" sz="1600" dirty="0" err="1"/>
              <a:t>neff</a:t>
            </a:r>
            <a:r>
              <a:rPr lang="es-ES" sz="1600" dirty="0"/>
              <a:t> que los TE por lo que están menos confinados.</a:t>
            </a:r>
          </a:p>
          <a:p>
            <a:pPr algn="just"/>
            <a:endParaRPr lang="en-US" sz="1200" dirty="0">
              <a:latin typeface="Arial" panose="020B0604020202020204" pitchFamily="34" charset="0"/>
              <a:cs typeface="Arial" panose="020B0604020202020204" pitchFamily="34" charset="0"/>
            </a:endParaRPr>
          </a:p>
        </p:txBody>
      </p:sp>
      <p:pic>
        <p:nvPicPr>
          <p:cNvPr id="9" name="Imagen 8">
            <a:extLst>
              <a:ext uri="{FF2B5EF4-FFF2-40B4-BE49-F238E27FC236}">
                <a16:creationId xmlns:a16="http://schemas.microsoft.com/office/drawing/2014/main" id="{A231F774-37B9-F39A-9156-C17077C712BE}"/>
              </a:ext>
            </a:extLst>
          </p:cNvPr>
          <p:cNvPicPr>
            <a:picLocks noChangeAspect="1"/>
          </p:cNvPicPr>
          <p:nvPr/>
        </p:nvPicPr>
        <p:blipFill>
          <a:blip r:embed="rId4"/>
          <a:stretch>
            <a:fillRect/>
          </a:stretch>
        </p:blipFill>
        <p:spPr>
          <a:xfrm>
            <a:off x="5638800" y="861992"/>
            <a:ext cx="4185640" cy="2816842"/>
          </a:xfrm>
          <a:prstGeom prst="rect">
            <a:avLst/>
          </a:prstGeom>
        </p:spPr>
      </p:pic>
      <p:pic>
        <p:nvPicPr>
          <p:cNvPr id="5" name="Imagen 4">
            <a:extLst>
              <a:ext uri="{FF2B5EF4-FFF2-40B4-BE49-F238E27FC236}">
                <a16:creationId xmlns:a16="http://schemas.microsoft.com/office/drawing/2014/main" id="{87AE7CAA-03D7-5285-83A2-651439BEA187}"/>
              </a:ext>
            </a:extLst>
          </p:cNvPr>
          <p:cNvPicPr>
            <a:picLocks noChangeAspect="1"/>
          </p:cNvPicPr>
          <p:nvPr/>
        </p:nvPicPr>
        <p:blipFill>
          <a:blip r:embed="rId5"/>
          <a:stretch>
            <a:fillRect/>
          </a:stretch>
        </p:blipFill>
        <p:spPr>
          <a:xfrm>
            <a:off x="685800" y="824540"/>
            <a:ext cx="4185639" cy="2797618"/>
          </a:xfrm>
          <a:prstGeom prst="rect">
            <a:avLst/>
          </a:prstGeom>
        </p:spPr>
      </p:pic>
    </p:spTree>
    <p:extLst>
      <p:ext uri="{BB962C8B-B14F-4D97-AF65-F5344CB8AC3E}">
        <p14:creationId xmlns:p14="http://schemas.microsoft.com/office/powerpoint/2010/main" val="390128693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1656EC-E197-239C-60DD-C11F7BA4B44A}"/>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5431EA70-9578-8BF1-5A05-77CDC26788B4}"/>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#2 – Directional coupler length and coupling coefficient</a:t>
            </a:r>
            <a:br>
              <a:rPr lang="en-US" sz="2500" spc="-5" dirty="0">
                <a:latin typeface="+mj-lt"/>
                <a:cs typeface="Lucida Sans"/>
              </a:rPr>
            </a:br>
            <a:r>
              <a:rPr lang="en-US" b="0" dirty="0"/>
              <a:t>Wavelength 1.5 µm – width 1.2 µm – gap 0.6 µm – thickness 300 nm</a:t>
            </a:r>
            <a:endParaRPr lang="en-US" sz="2500" b="0" dirty="0">
              <a:latin typeface="+mj-lt"/>
              <a:cs typeface="Lucida Sans"/>
            </a:endParaRPr>
          </a:p>
        </p:txBody>
      </p:sp>
      <p:pic>
        <p:nvPicPr>
          <p:cNvPr id="83" name="Gráfico 82">
            <a:extLst>
              <a:ext uri="{FF2B5EF4-FFF2-40B4-BE49-F238E27FC236}">
                <a16:creationId xmlns:a16="http://schemas.microsoft.com/office/drawing/2014/main" id="{B6A02C28-9CC3-6E88-B695-04A48E5FDEA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FB7F118F-AD79-0ED0-CE53-A8EE4409B4F8}"/>
              </a:ext>
            </a:extLst>
          </p:cNvPr>
          <p:cNvSpPr>
            <a:spLocks noGrp="1"/>
          </p:cNvSpPr>
          <p:nvPr>
            <p:ph type="sldNum" sz="quarter" idx="7"/>
          </p:nvPr>
        </p:nvSpPr>
        <p:spPr/>
        <p:txBody>
          <a:bodyPr/>
          <a:lstStyle/>
          <a:p>
            <a:fld id="{B6F15528-21DE-4FAA-801E-634DDDAF4B2B}" type="slidenum">
              <a:rPr lang="es-ES" smtClean="0"/>
              <a:t>7</a:t>
            </a:fld>
            <a:endParaRPr lang="es-ES"/>
          </a:p>
        </p:txBody>
      </p:sp>
      <p:sp>
        <p:nvSpPr>
          <p:cNvPr id="3" name="Marcador de pie de página 2">
            <a:extLst>
              <a:ext uri="{FF2B5EF4-FFF2-40B4-BE49-F238E27FC236}">
                <a16:creationId xmlns:a16="http://schemas.microsoft.com/office/drawing/2014/main" id="{10846C9D-3FE3-8524-3349-96E1AD1712B3}"/>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2" name="CuadroTexto 1">
            <a:extLst>
              <a:ext uri="{FF2B5EF4-FFF2-40B4-BE49-F238E27FC236}">
                <a16:creationId xmlns:a16="http://schemas.microsoft.com/office/drawing/2014/main" id="{CA5F0FDF-2A95-453B-4ECA-AEB637FF2694}"/>
              </a:ext>
            </a:extLst>
          </p:cNvPr>
          <p:cNvSpPr txBox="1"/>
          <p:nvPr/>
        </p:nvSpPr>
        <p:spPr>
          <a:xfrm>
            <a:off x="7848600" y="1410377"/>
            <a:ext cx="4197905" cy="4616648"/>
          </a:xfrm>
          <a:prstGeom prst="rect">
            <a:avLst/>
          </a:prstGeom>
          <a:solidFill>
            <a:schemeClr val="bg1">
              <a:lumMod val="95000"/>
            </a:schemeClr>
          </a:solidFill>
          <a:ln w="28575">
            <a:solidFill>
              <a:srgbClr val="E0700D"/>
            </a:solidFill>
          </a:ln>
        </p:spPr>
        <p:txBody>
          <a:bodyPr wrap="square" rtlCol="0">
            <a:spAutoFit/>
          </a:bodyPr>
          <a:lstStyle/>
          <a:p>
            <a:pPr algn="just"/>
            <a:r>
              <a:rPr lang="en-US" sz="1200" b="1" dirty="0">
                <a:latin typeface="Arial" panose="020B0604020202020204" pitchFamily="34" charset="0"/>
                <a:cs typeface="Arial" panose="020B0604020202020204" pitchFamily="34" charset="0"/>
              </a:rPr>
              <a:t>Comment results (distance needed for a complete energy transfer between waveguides, distance needed for splitting power in half.. )</a:t>
            </a:r>
          </a:p>
          <a:p>
            <a:pPr algn="just"/>
            <a:endParaRPr lang="en-US" sz="12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s-ES" sz="1400" dirty="0"/>
              <a:t>En la gráfica se representa el coeficiente de acoplo K en función de la longitud normalizada L/</a:t>
            </a:r>
            <a:r>
              <a:rPr lang="es-ES" sz="1400" dirty="0" err="1"/>
              <a:t>Lpi</a:t>
            </a:r>
            <a:r>
              <a:rPr lang="es-ES" sz="1400" dirty="0"/>
              <a:t>. Se observa que al aumentar la longitud del acoplador la potencia se va transfiriendo progresivamente de una guía a la otra.</a:t>
            </a:r>
          </a:p>
          <a:p>
            <a:pPr marL="285750" indent="-285750">
              <a:buFont typeface="Arial" panose="020B0604020202020204" pitchFamily="34" charset="0"/>
              <a:buChar char="•"/>
            </a:pPr>
            <a:r>
              <a:rPr lang="es-ES" sz="1400" dirty="0"/>
              <a:t>Para L = </a:t>
            </a:r>
            <a:r>
              <a:rPr lang="es-ES" sz="1400" dirty="0" err="1"/>
              <a:t>Lpi</a:t>
            </a:r>
            <a:r>
              <a:rPr lang="es-ES" sz="1400" dirty="0"/>
              <a:t>/2 = 49.94 </a:t>
            </a:r>
            <a:r>
              <a:rPr lang="es-ES" sz="1400" dirty="0" err="1"/>
              <a:t>um</a:t>
            </a:r>
            <a:r>
              <a:rPr lang="es-ES" sz="1400" dirty="0"/>
              <a:t> se obtiene K = 0.5, por lo que el dispositivo funciona como un </a:t>
            </a:r>
            <a:r>
              <a:rPr lang="es-ES" sz="1400" dirty="0" err="1"/>
              <a:t>splitter</a:t>
            </a:r>
            <a:r>
              <a:rPr lang="es-ES" sz="1400" dirty="0"/>
              <a:t> 50/50 en el que la mitad de la potencia queda en una guía y la otra mitad se acopla a la segunda.</a:t>
            </a:r>
          </a:p>
          <a:p>
            <a:pPr marL="285750" indent="-285750">
              <a:buFont typeface="Arial" panose="020B0604020202020204" pitchFamily="34" charset="0"/>
              <a:buChar char="•"/>
            </a:pPr>
            <a:r>
              <a:rPr lang="es-ES" sz="1400" dirty="0"/>
              <a:t>Para aprox. L = </a:t>
            </a:r>
            <a:r>
              <a:rPr lang="es-ES" sz="1400" dirty="0" err="1"/>
              <a:t>Lpi</a:t>
            </a:r>
            <a:r>
              <a:rPr lang="es-ES" sz="1400" dirty="0"/>
              <a:t> = 99.89 </a:t>
            </a:r>
            <a:r>
              <a:rPr lang="es-ES" sz="1400" dirty="0" err="1"/>
              <a:t>um</a:t>
            </a:r>
            <a:r>
              <a:rPr lang="es-ES" sz="1400" dirty="0"/>
              <a:t> se alcanza K = 1 (el valor de la transferencia completa de potencia entre guías). </a:t>
            </a:r>
          </a:p>
          <a:p>
            <a:pPr marL="285750" indent="-285750">
              <a:buFont typeface="Arial" panose="020B0604020202020204" pitchFamily="34" charset="0"/>
              <a:buChar char="•"/>
            </a:pPr>
            <a:r>
              <a:rPr lang="es-ES" sz="1400" dirty="0"/>
              <a:t>Después, el comportamiento vuelve a repetirse de </a:t>
            </a:r>
            <a:r>
              <a:rPr lang="es-ES" sz="1400" b="1" dirty="0"/>
              <a:t>forma periódica</a:t>
            </a:r>
          </a:p>
          <a:p>
            <a:pPr marL="742950" lvl="1" indent="-285750">
              <a:buFont typeface="Arial" panose="020B0604020202020204" pitchFamily="34" charset="0"/>
              <a:buChar char="•"/>
            </a:pPr>
            <a:r>
              <a:rPr lang="es-ES" sz="1400" dirty="0"/>
              <a:t>para L = 2Lpi el acoplo vuelve a ser K = 0.</a:t>
            </a: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
        <p:nvSpPr>
          <p:cNvPr id="7" name="Rectángulo 6">
            <a:extLst>
              <a:ext uri="{FF2B5EF4-FFF2-40B4-BE49-F238E27FC236}">
                <a16:creationId xmlns:a16="http://schemas.microsoft.com/office/drawing/2014/main" id="{21F754A5-65BC-14A3-5F55-75716FFA9027}"/>
              </a:ext>
            </a:extLst>
          </p:cNvPr>
          <p:cNvSpPr/>
          <p:nvPr/>
        </p:nvSpPr>
        <p:spPr>
          <a:xfrm>
            <a:off x="609441" y="1418372"/>
            <a:ext cx="6858159" cy="4753827"/>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CuadroTexto 7">
            <a:extLst>
              <a:ext uri="{FF2B5EF4-FFF2-40B4-BE49-F238E27FC236}">
                <a16:creationId xmlns:a16="http://schemas.microsoft.com/office/drawing/2014/main" id="{CD9C65D4-5494-F5CE-1094-CB0A32C33876}"/>
              </a:ext>
            </a:extLst>
          </p:cNvPr>
          <p:cNvSpPr txBox="1"/>
          <p:nvPr/>
        </p:nvSpPr>
        <p:spPr>
          <a:xfrm>
            <a:off x="1765203" y="3333620"/>
            <a:ext cx="4546634" cy="923330"/>
          </a:xfrm>
          <a:prstGeom prst="rect">
            <a:avLst/>
          </a:prstGeom>
          <a:noFill/>
        </p:spPr>
        <p:txBody>
          <a:bodyPr wrap="square" rtlCol="0">
            <a:spAutoFit/>
          </a:bodyPr>
          <a:lstStyle/>
          <a:p>
            <a:pPr algn="ctr"/>
            <a:r>
              <a:rPr lang="en-US" b="1" dirty="0"/>
              <a:t>deep</a:t>
            </a:r>
            <a:r>
              <a:rPr lang="en-US" dirty="0"/>
              <a:t> waveguide</a:t>
            </a:r>
          </a:p>
          <a:p>
            <a:pPr algn="ctr"/>
            <a:endParaRPr lang="en-US" dirty="0"/>
          </a:p>
          <a:p>
            <a:pPr algn="ctr"/>
            <a:r>
              <a:rPr lang="en-US" dirty="0"/>
              <a:t>Paste L/</a:t>
            </a:r>
            <a:r>
              <a:rPr lang="en-US" dirty="0" err="1"/>
              <a:t>Lpi</a:t>
            </a:r>
            <a:r>
              <a:rPr lang="en-US" dirty="0"/>
              <a:t> vs K plot here</a:t>
            </a:r>
          </a:p>
        </p:txBody>
      </p:sp>
      <p:pic>
        <p:nvPicPr>
          <p:cNvPr id="5" name="Imagen 4">
            <a:extLst>
              <a:ext uri="{FF2B5EF4-FFF2-40B4-BE49-F238E27FC236}">
                <a16:creationId xmlns:a16="http://schemas.microsoft.com/office/drawing/2014/main" id="{9F252145-E5DD-E884-16CE-6B1C99193CA3}"/>
              </a:ext>
            </a:extLst>
          </p:cNvPr>
          <p:cNvPicPr>
            <a:picLocks noChangeAspect="1"/>
          </p:cNvPicPr>
          <p:nvPr/>
        </p:nvPicPr>
        <p:blipFill>
          <a:blip r:embed="rId4"/>
          <a:stretch>
            <a:fillRect/>
          </a:stretch>
        </p:blipFill>
        <p:spPr>
          <a:xfrm>
            <a:off x="801987" y="2214943"/>
            <a:ext cx="6473066" cy="3861587"/>
          </a:xfrm>
          <a:prstGeom prst="rect">
            <a:avLst/>
          </a:prstGeom>
        </p:spPr>
      </p:pic>
      <p:pic>
        <p:nvPicPr>
          <p:cNvPr id="6" name="Imagen 5" descr="Forma&#10;&#10;Descripción generada automáticamente con confianza media">
            <a:extLst>
              <a:ext uri="{FF2B5EF4-FFF2-40B4-BE49-F238E27FC236}">
                <a16:creationId xmlns:a16="http://schemas.microsoft.com/office/drawing/2014/main" id="{380A8455-6386-C7D5-7BB6-B79D8D91F0EF}"/>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609440" y="1534144"/>
            <a:ext cx="2590800" cy="753262"/>
          </a:xfrm>
          <a:prstGeom prst="rect">
            <a:avLst/>
          </a:prstGeom>
        </p:spPr>
      </p:pic>
    </p:spTree>
    <p:extLst>
      <p:ext uri="{BB962C8B-B14F-4D97-AF65-F5344CB8AC3E}">
        <p14:creationId xmlns:p14="http://schemas.microsoft.com/office/powerpoint/2010/main" val="366362407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90AC3D-36B7-D786-3825-B4DD6EADD689}"/>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6AA2E789-F7AE-F068-274C-E0F13A22DBCA}"/>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#3 – 2x2 Directional Coupler</a:t>
            </a:r>
            <a:br>
              <a:rPr lang="en-US" sz="2500" spc="-5" dirty="0">
                <a:latin typeface="+mj-lt"/>
                <a:cs typeface="Lucida Sans"/>
              </a:rPr>
            </a:br>
            <a:r>
              <a:rPr lang="en-US" b="0" dirty="0"/>
              <a:t>Wavelength 1.55 µm – Sweep gaps between 0.2 and 1.2 µm in steps of 0.2 µm</a:t>
            </a:r>
            <a:endParaRPr lang="en-US" sz="2500" b="0" dirty="0">
              <a:latin typeface="+mj-lt"/>
              <a:cs typeface="Lucida Sans"/>
            </a:endParaRPr>
          </a:p>
        </p:txBody>
      </p:sp>
      <p:pic>
        <p:nvPicPr>
          <p:cNvPr id="83" name="Gráfico 82">
            <a:extLst>
              <a:ext uri="{FF2B5EF4-FFF2-40B4-BE49-F238E27FC236}">
                <a16:creationId xmlns:a16="http://schemas.microsoft.com/office/drawing/2014/main" id="{3AEAD01B-7604-8009-5694-A556497AEF2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696E3846-1BD2-4F23-48AA-C7AF2A1EE6EB}"/>
              </a:ext>
            </a:extLst>
          </p:cNvPr>
          <p:cNvSpPr>
            <a:spLocks noGrp="1"/>
          </p:cNvSpPr>
          <p:nvPr>
            <p:ph type="sldNum" sz="quarter" idx="7"/>
          </p:nvPr>
        </p:nvSpPr>
        <p:spPr/>
        <p:txBody>
          <a:bodyPr/>
          <a:lstStyle/>
          <a:p>
            <a:fld id="{B6F15528-21DE-4FAA-801E-634DDDAF4B2B}" type="slidenum">
              <a:rPr lang="es-ES" smtClean="0"/>
              <a:t>8</a:t>
            </a:fld>
            <a:endParaRPr lang="es-ES"/>
          </a:p>
        </p:txBody>
      </p:sp>
      <p:sp>
        <p:nvSpPr>
          <p:cNvPr id="3" name="Marcador de pie de página 2">
            <a:extLst>
              <a:ext uri="{FF2B5EF4-FFF2-40B4-BE49-F238E27FC236}">
                <a16:creationId xmlns:a16="http://schemas.microsoft.com/office/drawing/2014/main" id="{E32C0E2B-75B6-4768-A4C7-F165A264DA0B}"/>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2" name="CuadroTexto 1">
            <a:extLst>
              <a:ext uri="{FF2B5EF4-FFF2-40B4-BE49-F238E27FC236}">
                <a16:creationId xmlns:a16="http://schemas.microsoft.com/office/drawing/2014/main" id="{82A62DD6-5488-72A1-9926-0CAEE59089A9}"/>
              </a:ext>
            </a:extLst>
          </p:cNvPr>
          <p:cNvSpPr txBox="1"/>
          <p:nvPr/>
        </p:nvSpPr>
        <p:spPr>
          <a:xfrm>
            <a:off x="609441" y="4860334"/>
            <a:ext cx="11199971" cy="1508105"/>
          </a:xfrm>
          <a:prstGeom prst="rect">
            <a:avLst/>
          </a:prstGeom>
          <a:solidFill>
            <a:schemeClr val="bg1">
              <a:lumMod val="95000"/>
            </a:schemeClr>
          </a:solidFill>
          <a:ln w="28575">
            <a:solidFill>
              <a:srgbClr val="E0700D"/>
            </a:solidFill>
          </a:ln>
        </p:spPr>
        <p:txBody>
          <a:bodyPr wrap="square" rtlCol="0">
            <a:spAutoFit/>
          </a:bodyPr>
          <a:lstStyle/>
          <a:p>
            <a:pPr algn="just"/>
            <a:r>
              <a:rPr lang="en-US" sz="1200" b="1" dirty="0">
                <a:latin typeface="Arial" panose="020B0604020202020204" pitchFamily="34" charset="0"/>
                <a:cs typeface="Arial" panose="020B0604020202020204" pitchFamily="34" charset="0"/>
              </a:rPr>
              <a:t>Comment results (Coupling relationship, </a:t>
            </a:r>
            <a:r>
              <a:rPr lang="en-US" sz="1200" b="1" dirty="0" err="1">
                <a:latin typeface="Arial" panose="020B0604020202020204" pitchFamily="34" charset="0"/>
                <a:cs typeface="Arial" panose="020B0604020202020204" pitchFamily="34" charset="0"/>
              </a:rPr>
              <a:t>Lpi</a:t>
            </a:r>
            <a:r>
              <a:rPr lang="en-US" sz="1200" b="1" dirty="0">
                <a:latin typeface="Arial" panose="020B0604020202020204" pitchFamily="34" charset="0"/>
                <a:cs typeface="Arial" panose="020B0604020202020204" pitchFamily="34" charset="0"/>
              </a:rPr>
              <a:t>, losses, … )</a:t>
            </a:r>
          </a:p>
          <a:p>
            <a:pPr marL="285750" indent="-285750">
              <a:buFont typeface="Arial" panose="020B0604020202020204" pitchFamily="34" charset="0"/>
              <a:buChar char="•"/>
            </a:pPr>
            <a:r>
              <a:rPr lang="es-ES" sz="1600" dirty="0"/>
              <a:t>Caso base con gap = 0.6 </a:t>
            </a:r>
            <a:r>
              <a:rPr lang="es-ES" sz="1600" dirty="0" err="1"/>
              <a:t>um</a:t>
            </a:r>
            <a:r>
              <a:rPr lang="es-ES" sz="1600" dirty="0"/>
              <a:t>.</a:t>
            </a:r>
          </a:p>
          <a:p>
            <a:pPr marL="285750" indent="-285750">
              <a:buFont typeface="Arial" panose="020B0604020202020204" pitchFamily="34" charset="0"/>
              <a:buChar char="•"/>
            </a:pPr>
            <a:r>
              <a:rPr lang="es-ES" sz="1600" dirty="0"/>
              <a:t>La longitud usada es L = </a:t>
            </a:r>
            <a:r>
              <a:rPr lang="es-ES" sz="1600" dirty="0" err="1"/>
              <a:t>Lpi</a:t>
            </a:r>
            <a:r>
              <a:rPr lang="es-ES" sz="1600" dirty="0"/>
              <a:t>/2 = 47.01 </a:t>
            </a:r>
            <a:r>
              <a:rPr lang="es-ES" sz="1600" dirty="0" err="1"/>
              <a:t>um</a:t>
            </a:r>
            <a:r>
              <a:rPr lang="es-ES" sz="1600" dirty="0"/>
              <a:t>, por lo que el acoplador funciona como divisor 50:50. Las dos salidas tienen la misma potencia: 0.4791 y 0.4791, con ratio 0.50 / 0.50.</a:t>
            </a:r>
          </a:p>
          <a:p>
            <a:pPr marL="285750" indent="-285750">
              <a:buFont typeface="Arial" panose="020B0604020202020204" pitchFamily="34" charset="0"/>
              <a:buChar char="•"/>
            </a:pPr>
            <a:r>
              <a:rPr lang="es-ES" sz="1600" dirty="0"/>
              <a:t>Las pérdidas son bajas</a:t>
            </a:r>
          </a:p>
          <a:p>
            <a:pPr marL="742950" lvl="1" indent="-285750">
              <a:buFont typeface="Arial" panose="020B0604020202020204" pitchFamily="34" charset="0"/>
              <a:buChar char="•"/>
            </a:pPr>
            <a:r>
              <a:rPr lang="es-ES" sz="1600" dirty="0" err="1"/>
              <a:t>excess</a:t>
            </a:r>
            <a:r>
              <a:rPr lang="es-ES" sz="1600" dirty="0"/>
              <a:t> </a:t>
            </a:r>
            <a:r>
              <a:rPr lang="es-ES" sz="1600" dirty="0" err="1"/>
              <a:t>loss</a:t>
            </a:r>
            <a:r>
              <a:rPr lang="es-ES" sz="1600" dirty="0"/>
              <a:t> = 0.1851 dB.</a:t>
            </a:r>
            <a:endParaRPr lang="en-US" sz="1200" dirty="0">
              <a:latin typeface="Arial" panose="020B0604020202020204" pitchFamily="34" charset="0"/>
              <a:cs typeface="Arial" panose="020B0604020202020204" pitchFamily="34" charset="0"/>
            </a:endParaRPr>
          </a:p>
        </p:txBody>
      </p:sp>
      <p:sp>
        <p:nvSpPr>
          <p:cNvPr id="7" name="Rectángulo 6">
            <a:extLst>
              <a:ext uri="{FF2B5EF4-FFF2-40B4-BE49-F238E27FC236}">
                <a16:creationId xmlns:a16="http://schemas.microsoft.com/office/drawing/2014/main" id="{FBC7D187-267A-ADD4-764C-D3820B8ED302}"/>
              </a:ext>
            </a:extLst>
          </p:cNvPr>
          <p:cNvSpPr/>
          <p:nvPr/>
        </p:nvSpPr>
        <p:spPr>
          <a:xfrm>
            <a:off x="609441" y="1418373"/>
            <a:ext cx="11199971"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CuadroTexto 7">
            <a:extLst>
              <a:ext uri="{FF2B5EF4-FFF2-40B4-BE49-F238E27FC236}">
                <a16:creationId xmlns:a16="http://schemas.microsoft.com/office/drawing/2014/main" id="{1EF5BFDA-8EC1-8C73-A932-F36C4DB93C73}"/>
              </a:ext>
            </a:extLst>
          </p:cNvPr>
          <p:cNvSpPr txBox="1"/>
          <p:nvPr/>
        </p:nvSpPr>
        <p:spPr>
          <a:xfrm>
            <a:off x="2286000" y="2671278"/>
            <a:ext cx="7718580" cy="923330"/>
          </a:xfrm>
          <a:prstGeom prst="rect">
            <a:avLst/>
          </a:prstGeom>
          <a:noFill/>
        </p:spPr>
        <p:txBody>
          <a:bodyPr wrap="square" rtlCol="0">
            <a:spAutoFit/>
          </a:bodyPr>
          <a:lstStyle/>
          <a:p>
            <a:pPr algn="ctr"/>
            <a:r>
              <a:rPr lang="en-US" b="1" dirty="0"/>
              <a:t>deep</a:t>
            </a:r>
            <a:r>
              <a:rPr lang="en-US" dirty="0"/>
              <a:t> waveguide</a:t>
            </a:r>
          </a:p>
          <a:p>
            <a:pPr algn="ctr"/>
            <a:endParaRPr lang="en-US" dirty="0"/>
          </a:p>
          <a:p>
            <a:pPr algn="ctr"/>
            <a:r>
              <a:rPr lang="en-US" dirty="0"/>
              <a:t>Paste propagation plots and output text here</a:t>
            </a:r>
          </a:p>
        </p:txBody>
      </p:sp>
      <p:pic>
        <p:nvPicPr>
          <p:cNvPr id="13" name="Imagen 12">
            <a:extLst>
              <a:ext uri="{FF2B5EF4-FFF2-40B4-BE49-F238E27FC236}">
                <a16:creationId xmlns:a16="http://schemas.microsoft.com/office/drawing/2014/main" id="{A5DC6BF6-C64E-ED1D-2B08-B3C5EAACD1A7}"/>
              </a:ext>
            </a:extLst>
          </p:cNvPr>
          <p:cNvPicPr>
            <a:picLocks noChangeAspect="1"/>
          </p:cNvPicPr>
          <p:nvPr/>
        </p:nvPicPr>
        <p:blipFill>
          <a:blip r:embed="rId4"/>
          <a:stretch>
            <a:fillRect/>
          </a:stretch>
        </p:blipFill>
        <p:spPr>
          <a:xfrm>
            <a:off x="3890185" y="2208262"/>
            <a:ext cx="7790025" cy="1981200"/>
          </a:xfrm>
          <a:prstGeom prst="rect">
            <a:avLst/>
          </a:prstGeom>
        </p:spPr>
      </p:pic>
      <p:pic>
        <p:nvPicPr>
          <p:cNvPr id="15" name="Imagen 14">
            <a:extLst>
              <a:ext uri="{FF2B5EF4-FFF2-40B4-BE49-F238E27FC236}">
                <a16:creationId xmlns:a16="http://schemas.microsoft.com/office/drawing/2014/main" id="{8CE37971-E358-F611-14FA-6F5B3F681D6E}"/>
              </a:ext>
            </a:extLst>
          </p:cNvPr>
          <p:cNvPicPr>
            <a:picLocks noChangeAspect="1"/>
          </p:cNvPicPr>
          <p:nvPr/>
        </p:nvPicPr>
        <p:blipFill>
          <a:blip r:embed="rId5"/>
          <a:stretch>
            <a:fillRect/>
          </a:stretch>
        </p:blipFill>
        <p:spPr>
          <a:xfrm>
            <a:off x="805320" y="2008568"/>
            <a:ext cx="3106636" cy="2088067"/>
          </a:xfrm>
          <a:prstGeom prst="rect">
            <a:avLst/>
          </a:prstGeom>
        </p:spPr>
      </p:pic>
    </p:spTree>
    <p:extLst>
      <p:ext uri="{BB962C8B-B14F-4D97-AF65-F5344CB8AC3E}">
        <p14:creationId xmlns:p14="http://schemas.microsoft.com/office/powerpoint/2010/main" val="155832684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7830CE-244A-029A-5F36-BEBDBEF71F6F}"/>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0F2939A2-FBC7-ED0D-6BB3-2AD3D589A63B}"/>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#3 – 2x2 Directional Coupler</a:t>
            </a:r>
            <a:br>
              <a:rPr lang="en-US" sz="2500" spc="-5" dirty="0">
                <a:latin typeface="+mj-lt"/>
                <a:cs typeface="Lucida Sans"/>
              </a:rPr>
            </a:br>
            <a:r>
              <a:rPr lang="en-US" b="0" dirty="0"/>
              <a:t>Wavelength 1.55 µm – Sweep gaps between 0.2 and 1.2 µm in steps of 0.2 µm</a:t>
            </a:r>
            <a:endParaRPr lang="en-US" sz="2500" b="0" dirty="0">
              <a:latin typeface="+mj-lt"/>
              <a:cs typeface="Lucida Sans"/>
            </a:endParaRPr>
          </a:p>
        </p:txBody>
      </p:sp>
      <p:pic>
        <p:nvPicPr>
          <p:cNvPr id="83" name="Gráfico 82">
            <a:extLst>
              <a:ext uri="{FF2B5EF4-FFF2-40B4-BE49-F238E27FC236}">
                <a16:creationId xmlns:a16="http://schemas.microsoft.com/office/drawing/2014/main" id="{B4C7EAB7-3A9B-9AAF-4381-C002DB65838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374C28DF-D270-C288-3911-73835156DDD7}"/>
              </a:ext>
            </a:extLst>
          </p:cNvPr>
          <p:cNvSpPr>
            <a:spLocks noGrp="1"/>
          </p:cNvSpPr>
          <p:nvPr>
            <p:ph type="sldNum" sz="quarter" idx="7"/>
          </p:nvPr>
        </p:nvSpPr>
        <p:spPr/>
        <p:txBody>
          <a:bodyPr/>
          <a:lstStyle/>
          <a:p>
            <a:fld id="{B6F15528-21DE-4FAA-801E-634DDDAF4B2B}" type="slidenum">
              <a:rPr lang="es-ES" smtClean="0"/>
              <a:t>9</a:t>
            </a:fld>
            <a:endParaRPr lang="es-ES"/>
          </a:p>
        </p:txBody>
      </p:sp>
      <p:sp>
        <p:nvSpPr>
          <p:cNvPr id="3" name="Marcador de pie de página 2">
            <a:extLst>
              <a:ext uri="{FF2B5EF4-FFF2-40B4-BE49-F238E27FC236}">
                <a16:creationId xmlns:a16="http://schemas.microsoft.com/office/drawing/2014/main" id="{D2E7494C-069A-0100-301D-5B5649DD1EDE}"/>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2" name="CuadroTexto 1">
            <a:extLst>
              <a:ext uri="{FF2B5EF4-FFF2-40B4-BE49-F238E27FC236}">
                <a16:creationId xmlns:a16="http://schemas.microsoft.com/office/drawing/2014/main" id="{1FFAB62F-6579-B11F-7633-A2BB12815ED2}"/>
              </a:ext>
            </a:extLst>
          </p:cNvPr>
          <p:cNvSpPr txBox="1"/>
          <p:nvPr/>
        </p:nvSpPr>
        <p:spPr>
          <a:xfrm>
            <a:off x="637496" y="5026481"/>
            <a:ext cx="11199971" cy="1261884"/>
          </a:xfrm>
          <a:prstGeom prst="rect">
            <a:avLst/>
          </a:prstGeom>
          <a:solidFill>
            <a:schemeClr val="bg1">
              <a:lumMod val="95000"/>
            </a:schemeClr>
          </a:solidFill>
          <a:ln w="28575">
            <a:solidFill>
              <a:srgbClr val="E0700D"/>
            </a:solidFill>
          </a:ln>
        </p:spPr>
        <p:txBody>
          <a:bodyPr wrap="square" rtlCol="0">
            <a:spAutoFit/>
          </a:bodyPr>
          <a:lstStyle/>
          <a:p>
            <a:pPr algn="just"/>
            <a:r>
              <a:rPr lang="en-US" sz="1200" b="1" dirty="0">
                <a:latin typeface="Arial" panose="020B0604020202020204" pitchFamily="34" charset="0"/>
                <a:cs typeface="Arial" panose="020B0604020202020204" pitchFamily="34" charset="0"/>
              </a:rPr>
              <a:t>Comment results (Coupling relationship, </a:t>
            </a:r>
            <a:r>
              <a:rPr lang="en-US" sz="1200" b="1" dirty="0" err="1">
                <a:latin typeface="Arial" panose="020B0604020202020204" pitchFamily="34" charset="0"/>
                <a:cs typeface="Arial" panose="020B0604020202020204" pitchFamily="34" charset="0"/>
              </a:rPr>
              <a:t>Lpi</a:t>
            </a:r>
            <a:r>
              <a:rPr lang="en-US" sz="1200" b="1" dirty="0">
                <a:latin typeface="Arial" panose="020B0604020202020204" pitchFamily="34" charset="0"/>
                <a:cs typeface="Arial" panose="020B0604020202020204" pitchFamily="34" charset="0"/>
              </a:rPr>
              <a:t>, losses, … )</a:t>
            </a:r>
          </a:p>
          <a:p>
            <a:pPr marL="285750" indent="-285750">
              <a:buFont typeface="Arial" panose="020B0604020202020204" pitchFamily="34" charset="0"/>
              <a:buChar char="•"/>
            </a:pPr>
            <a:r>
              <a:rPr lang="es-ES" sz="1600" dirty="0"/>
              <a:t>En el barrido se observa que al aumentar el gap entre las guías el acoplamiento se hace más débil. Por eso la longitud necesaria para obtener el reparto 50/50 aumenta mucho.</a:t>
            </a:r>
          </a:p>
          <a:p>
            <a:pPr marL="285750" indent="-285750">
              <a:buFont typeface="Arial" panose="020B0604020202020204" pitchFamily="34" charset="0"/>
              <a:buChar char="•"/>
            </a:pPr>
            <a:r>
              <a:rPr lang="es-ES" sz="1600" dirty="0"/>
              <a:t>Con gap pequeño, la transferencia de potencia ocurre en poca distancia. En cambio, con gap grande, las guías interaccionan menos y se necesita una longitud de acoplador mucho mayor para conseguir el mismo reparto de potencia.</a:t>
            </a:r>
            <a:endParaRPr lang="en-US" sz="1200" dirty="0">
              <a:latin typeface="Arial" panose="020B0604020202020204" pitchFamily="34" charset="0"/>
              <a:cs typeface="Arial" panose="020B0604020202020204" pitchFamily="34" charset="0"/>
            </a:endParaRPr>
          </a:p>
        </p:txBody>
      </p:sp>
      <p:sp>
        <p:nvSpPr>
          <p:cNvPr id="7" name="Rectángulo 6">
            <a:extLst>
              <a:ext uri="{FF2B5EF4-FFF2-40B4-BE49-F238E27FC236}">
                <a16:creationId xmlns:a16="http://schemas.microsoft.com/office/drawing/2014/main" id="{07C40AA6-C7E0-F418-1243-2CDAAB140758}"/>
              </a:ext>
            </a:extLst>
          </p:cNvPr>
          <p:cNvSpPr/>
          <p:nvPr/>
        </p:nvSpPr>
        <p:spPr>
          <a:xfrm>
            <a:off x="609441" y="1418372"/>
            <a:ext cx="11199971" cy="3534627"/>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9" name="Imagen 8">
            <a:extLst>
              <a:ext uri="{FF2B5EF4-FFF2-40B4-BE49-F238E27FC236}">
                <a16:creationId xmlns:a16="http://schemas.microsoft.com/office/drawing/2014/main" id="{C02B8FBC-7186-B923-E2D5-C30995A118D7}"/>
              </a:ext>
            </a:extLst>
          </p:cNvPr>
          <p:cNvPicPr>
            <a:picLocks noChangeAspect="1"/>
          </p:cNvPicPr>
          <p:nvPr/>
        </p:nvPicPr>
        <p:blipFill>
          <a:blip r:embed="rId4"/>
          <a:stretch>
            <a:fillRect/>
          </a:stretch>
        </p:blipFill>
        <p:spPr>
          <a:xfrm>
            <a:off x="762000" y="1557248"/>
            <a:ext cx="4625611" cy="1891179"/>
          </a:xfrm>
          <a:prstGeom prst="rect">
            <a:avLst/>
          </a:prstGeom>
        </p:spPr>
      </p:pic>
      <p:pic>
        <p:nvPicPr>
          <p:cNvPr id="11" name="Imagen 10">
            <a:extLst>
              <a:ext uri="{FF2B5EF4-FFF2-40B4-BE49-F238E27FC236}">
                <a16:creationId xmlns:a16="http://schemas.microsoft.com/office/drawing/2014/main" id="{4DD04BFF-504B-CC62-F315-3794F7FF4E76}"/>
              </a:ext>
            </a:extLst>
          </p:cNvPr>
          <p:cNvPicPr>
            <a:picLocks noChangeAspect="1"/>
          </p:cNvPicPr>
          <p:nvPr/>
        </p:nvPicPr>
        <p:blipFill>
          <a:blip r:embed="rId5"/>
          <a:stretch>
            <a:fillRect/>
          </a:stretch>
        </p:blipFill>
        <p:spPr>
          <a:xfrm>
            <a:off x="1161367" y="3538303"/>
            <a:ext cx="4119882" cy="1304391"/>
          </a:xfrm>
          <a:prstGeom prst="rect">
            <a:avLst/>
          </a:prstGeom>
        </p:spPr>
      </p:pic>
      <p:pic>
        <p:nvPicPr>
          <p:cNvPr id="5" name="Imagen 4">
            <a:extLst>
              <a:ext uri="{FF2B5EF4-FFF2-40B4-BE49-F238E27FC236}">
                <a16:creationId xmlns:a16="http://schemas.microsoft.com/office/drawing/2014/main" id="{BD559017-A33B-8396-6DFC-1D5FEEA23749}"/>
              </a:ext>
            </a:extLst>
          </p:cNvPr>
          <p:cNvPicPr>
            <a:picLocks noChangeAspect="1"/>
          </p:cNvPicPr>
          <p:nvPr/>
        </p:nvPicPr>
        <p:blipFill>
          <a:blip r:embed="rId6"/>
          <a:stretch>
            <a:fillRect/>
          </a:stretch>
        </p:blipFill>
        <p:spPr>
          <a:xfrm>
            <a:off x="6629400" y="1465682"/>
            <a:ext cx="4343400" cy="1104636"/>
          </a:xfrm>
          <a:prstGeom prst="rect">
            <a:avLst/>
          </a:prstGeom>
        </p:spPr>
      </p:pic>
      <p:pic>
        <p:nvPicPr>
          <p:cNvPr id="10" name="Imagen 9">
            <a:extLst>
              <a:ext uri="{FF2B5EF4-FFF2-40B4-BE49-F238E27FC236}">
                <a16:creationId xmlns:a16="http://schemas.microsoft.com/office/drawing/2014/main" id="{3DC867B6-E280-1FBA-B67D-461B748F7002}"/>
              </a:ext>
            </a:extLst>
          </p:cNvPr>
          <p:cNvPicPr>
            <a:picLocks noChangeAspect="1"/>
          </p:cNvPicPr>
          <p:nvPr/>
        </p:nvPicPr>
        <p:blipFill>
          <a:blip r:embed="rId7"/>
          <a:stretch>
            <a:fillRect/>
          </a:stretch>
        </p:blipFill>
        <p:spPr>
          <a:xfrm>
            <a:off x="6556081" y="2487612"/>
            <a:ext cx="4721070" cy="996489"/>
          </a:xfrm>
          <a:prstGeom prst="rect">
            <a:avLst/>
          </a:prstGeom>
        </p:spPr>
      </p:pic>
      <p:pic>
        <p:nvPicPr>
          <p:cNvPr id="13" name="Imagen 12">
            <a:extLst>
              <a:ext uri="{FF2B5EF4-FFF2-40B4-BE49-F238E27FC236}">
                <a16:creationId xmlns:a16="http://schemas.microsoft.com/office/drawing/2014/main" id="{5699377D-C254-A29B-8E64-3023739847D1}"/>
              </a:ext>
            </a:extLst>
          </p:cNvPr>
          <p:cNvPicPr>
            <a:picLocks noChangeAspect="1"/>
          </p:cNvPicPr>
          <p:nvPr/>
        </p:nvPicPr>
        <p:blipFill>
          <a:blip r:embed="rId8"/>
          <a:stretch>
            <a:fillRect/>
          </a:stretch>
        </p:blipFill>
        <p:spPr>
          <a:xfrm>
            <a:off x="6629400" y="3442434"/>
            <a:ext cx="4379462" cy="810731"/>
          </a:xfrm>
          <a:prstGeom prst="rect">
            <a:avLst/>
          </a:prstGeom>
        </p:spPr>
      </p:pic>
      <p:pic>
        <p:nvPicPr>
          <p:cNvPr id="15" name="Imagen 14">
            <a:extLst>
              <a:ext uri="{FF2B5EF4-FFF2-40B4-BE49-F238E27FC236}">
                <a16:creationId xmlns:a16="http://schemas.microsoft.com/office/drawing/2014/main" id="{DEFDE54E-56F8-1139-1B7D-FBF6A999CAE3}"/>
              </a:ext>
            </a:extLst>
          </p:cNvPr>
          <p:cNvPicPr>
            <a:picLocks noChangeAspect="1"/>
          </p:cNvPicPr>
          <p:nvPr/>
        </p:nvPicPr>
        <p:blipFill>
          <a:blip r:embed="rId9"/>
          <a:stretch>
            <a:fillRect/>
          </a:stretch>
        </p:blipFill>
        <p:spPr>
          <a:xfrm>
            <a:off x="7040610" y="4257996"/>
            <a:ext cx="3641794" cy="617467"/>
          </a:xfrm>
          <a:prstGeom prst="rect">
            <a:avLst/>
          </a:prstGeom>
        </p:spPr>
      </p:pic>
    </p:spTree>
    <p:extLst>
      <p:ext uri="{BB962C8B-B14F-4D97-AF65-F5344CB8AC3E}">
        <p14:creationId xmlns:p14="http://schemas.microsoft.com/office/powerpoint/2010/main" val="129954719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30077F-EECD-F912-27F7-FCAEC43FB110}"/>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099ACA3E-2A04-6CB9-752F-2CFE13787D11}"/>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#3 – 2x2 Directional Coupler</a:t>
            </a:r>
            <a:br>
              <a:rPr lang="en-US" sz="2500" spc="-5" dirty="0">
                <a:latin typeface="+mj-lt"/>
                <a:cs typeface="Lucida Sans"/>
              </a:rPr>
            </a:br>
            <a:r>
              <a:rPr lang="en-US" b="0" dirty="0"/>
              <a:t>Wavelength 1.55 µm – Sweep gaps between 0.2 and 1.2 µm in steps of 0.2 µm</a:t>
            </a:r>
            <a:endParaRPr lang="en-US" sz="2500" b="0" dirty="0">
              <a:latin typeface="+mj-lt"/>
              <a:cs typeface="Lucida Sans"/>
            </a:endParaRPr>
          </a:p>
        </p:txBody>
      </p:sp>
      <p:pic>
        <p:nvPicPr>
          <p:cNvPr id="83" name="Gráfico 82">
            <a:extLst>
              <a:ext uri="{FF2B5EF4-FFF2-40B4-BE49-F238E27FC236}">
                <a16:creationId xmlns:a16="http://schemas.microsoft.com/office/drawing/2014/main" id="{6A069830-6FC7-6660-1CC9-5664C17F4317}"/>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5E55EE00-E160-D464-9972-C1DC561E218D}"/>
              </a:ext>
            </a:extLst>
          </p:cNvPr>
          <p:cNvSpPr>
            <a:spLocks noGrp="1"/>
          </p:cNvSpPr>
          <p:nvPr>
            <p:ph type="sldNum" sz="quarter" idx="7"/>
          </p:nvPr>
        </p:nvSpPr>
        <p:spPr/>
        <p:txBody>
          <a:bodyPr/>
          <a:lstStyle/>
          <a:p>
            <a:fld id="{B6F15528-21DE-4FAA-801E-634DDDAF4B2B}" type="slidenum">
              <a:rPr lang="es-ES" smtClean="0"/>
              <a:t>10</a:t>
            </a:fld>
            <a:endParaRPr lang="es-ES"/>
          </a:p>
        </p:txBody>
      </p:sp>
      <p:sp>
        <p:nvSpPr>
          <p:cNvPr id="3" name="Marcador de pie de página 2">
            <a:extLst>
              <a:ext uri="{FF2B5EF4-FFF2-40B4-BE49-F238E27FC236}">
                <a16:creationId xmlns:a16="http://schemas.microsoft.com/office/drawing/2014/main" id="{28DDB1C9-3A12-752B-45AB-8B4A8D6289CF}"/>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2" name="CuadroTexto 1">
            <a:extLst>
              <a:ext uri="{FF2B5EF4-FFF2-40B4-BE49-F238E27FC236}">
                <a16:creationId xmlns:a16="http://schemas.microsoft.com/office/drawing/2014/main" id="{330124CD-2536-F7FE-04D3-AF77B7120789}"/>
              </a:ext>
            </a:extLst>
          </p:cNvPr>
          <p:cNvSpPr txBox="1"/>
          <p:nvPr/>
        </p:nvSpPr>
        <p:spPr>
          <a:xfrm>
            <a:off x="609441" y="4854585"/>
            <a:ext cx="11199971" cy="1354217"/>
          </a:xfrm>
          <a:prstGeom prst="rect">
            <a:avLst/>
          </a:prstGeom>
          <a:solidFill>
            <a:schemeClr val="bg1">
              <a:lumMod val="95000"/>
            </a:schemeClr>
          </a:solidFill>
          <a:ln w="28575">
            <a:solidFill>
              <a:srgbClr val="E0700D"/>
            </a:solidFill>
          </a:ln>
        </p:spPr>
        <p:txBody>
          <a:bodyPr wrap="square" rtlCol="0">
            <a:spAutoFit/>
          </a:bodyPr>
          <a:lstStyle/>
          <a:p>
            <a:pPr algn="just"/>
            <a:r>
              <a:rPr lang="en-US" sz="1200" b="1" dirty="0">
                <a:latin typeface="Arial" panose="020B0604020202020204" pitchFamily="34" charset="0"/>
                <a:cs typeface="Arial" panose="020B0604020202020204" pitchFamily="34" charset="0"/>
              </a:rPr>
              <a:t>Comment results (Coupling relationship, </a:t>
            </a:r>
            <a:r>
              <a:rPr lang="en-US" sz="1200" b="1" dirty="0" err="1">
                <a:latin typeface="Arial" panose="020B0604020202020204" pitchFamily="34" charset="0"/>
                <a:cs typeface="Arial" panose="020B0604020202020204" pitchFamily="34" charset="0"/>
              </a:rPr>
              <a:t>Lpi</a:t>
            </a:r>
            <a:r>
              <a:rPr lang="en-US" sz="1200" b="1" dirty="0">
                <a:latin typeface="Arial" panose="020B0604020202020204" pitchFamily="34" charset="0"/>
                <a:cs typeface="Arial" panose="020B0604020202020204" pitchFamily="34" charset="0"/>
              </a:rPr>
              <a:t>, losses, … )</a:t>
            </a:r>
            <a:endParaRPr lang="en-US" sz="12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s-ES" sz="1400" dirty="0"/>
              <a:t>La gráfica muestra cómo cambia </a:t>
            </a:r>
            <a:r>
              <a:rPr lang="es-ES" sz="1400" dirty="0" err="1"/>
              <a:t>Lpi</a:t>
            </a:r>
            <a:r>
              <a:rPr lang="es-ES" sz="1400" dirty="0"/>
              <a:t> al variar el gap entre las guías. </a:t>
            </a:r>
          </a:p>
          <a:p>
            <a:pPr marL="285750" indent="-285750">
              <a:buFont typeface="Arial" panose="020B0604020202020204" pitchFamily="34" charset="0"/>
              <a:buChar char="•"/>
            </a:pPr>
            <a:r>
              <a:rPr lang="es-ES" sz="1400" dirty="0"/>
              <a:t>Al aumentar el gap, las guías están más separadas y el acoplamiento por campo evanescente es menor. Por eso hace falta más longitud para transferir la potencia.</a:t>
            </a:r>
          </a:p>
          <a:p>
            <a:pPr marL="285750" indent="-285750">
              <a:buFont typeface="Arial" panose="020B0604020202020204" pitchFamily="34" charset="0"/>
              <a:buChar char="•"/>
            </a:pPr>
            <a:r>
              <a:rPr lang="es-ES" sz="1400" dirty="0"/>
              <a:t>Se observa como </a:t>
            </a:r>
            <a:r>
              <a:rPr lang="es-ES" sz="1400" dirty="0" err="1"/>
              <a:t>Lpi</a:t>
            </a:r>
            <a:r>
              <a:rPr lang="es-ES" sz="1400" dirty="0"/>
              <a:t> crece muy rápido. Pasa de unos 25 </a:t>
            </a:r>
            <a:r>
              <a:rPr lang="es-ES" sz="1400" dirty="0" err="1"/>
              <a:t>um</a:t>
            </a:r>
            <a:r>
              <a:rPr lang="es-ES" sz="1400" dirty="0"/>
              <a:t> para gap = 0.2 </a:t>
            </a:r>
            <a:r>
              <a:rPr lang="es-ES" sz="1400" dirty="0" err="1"/>
              <a:t>um</a:t>
            </a:r>
            <a:r>
              <a:rPr lang="es-ES" sz="1400" dirty="0"/>
              <a:t> a unos 580 </a:t>
            </a:r>
            <a:r>
              <a:rPr lang="es-ES" sz="1400" dirty="0" err="1"/>
              <a:t>um</a:t>
            </a:r>
            <a:r>
              <a:rPr lang="es-ES" sz="1400" dirty="0"/>
              <a:t> para gap = 1.2 </a:t>
            </a:r>
            <a:r>
              <a:rPr lang="es-ES" sz="1400" dirty="0" err="1"/>
              <a:t>um</a:t>
            </a:r>
            <a:r>
              <a:rPr lang="es-ES" sz="1400" dirty="0"/>
              <a:t>. </a:t>
            </a:r>
          </a:p>
          <a:p>
            <a:pPr marL="285750" indent="-285750">
              <a:buFont typeface="Arial" panose="020B0604020202020204" pitchFamily="34" charset="0"/>
              <a:buChar char="•"/>
            </a:pPr>
            <a:r>
              <a:rPr lang="es-ES" sz="1400" dirty="0"/>
              <a:t>Esto demuestra que el gap es un parámetro muy relevante en el diseño de acopladores direccionales ópticos.</a:t>
            </a:r>
          </a:p>
        </p:txBody>
      </p:sp>
      <p:sp>
        <p:nvSpPr>
          <p:cNvPr id="7" name="Rectángulo 6">
            <a:extLst>
              <a:ext uri="{FF2B5EF4-FFF2-40B4-BE49-F238E27FC236}">
                <a16:creationId xmlns:a16="http://schemas.microsoft.com/office/drawing/2014/main" id="{469BD2A4-D64C-8C95-0B8B-A3E1345BFC80}"/>
              </a:ext>
            </a:extLst>
          </p:cNvPr>
          <p:cNvSpPr/>
          <p:nvPr/>
        </p:nvSpPr>
        <p:spPr>
          <a:xfrm>
            <a:off x="609441" y="1194585"/>
            <a:ext cx="11199971" cy="3534627"/>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6" name="Imagen 5">
            <a:extLst>
              <a:ext uri="{FF2B5EF4-FFF2-40B4-BE49-F238E27FC236}">
                <a16:creationId xmlns:a16="http://schemas.microsoft.com/office/drawing/2014/main" id="{400A4A93-8BC0-8CA1-42BD-E7C9E8A86A18}"/>
              </a:ext>
            </a:extLst>
          </p:cNvPr>
          <p:cNvPicPr>
            <a:picLocks noChangeAspect="1"/>
          </p:cNvPicPr>
          <p:nvPr/>
        </p:nvPicPr>
        <p:blipFill>
          <a:blip r:embed="rId4"/>
          <a:stretch>
            <a:fillRect/>
          </a:stretch>
        </p:blipFill>
        <p:spPr>
          <a:xfrm>
            <a:off x="3251975" y="1258289"/>
            <a:ext cx="5688050" cy="3393275"/>
          </a:xfrm>
          <a:prstGeom prst="rect">
            <a:avLst/>
          </a:prstGeom>
        </p:spPr>
      </p:pic>
    </p:spTree>
    <p:extLst>
      <p:ext uri="{BB962C8B-B14F-4D97-AF65-F5344CB8AC3E}">
        <p14:creationId xmlns:p14="http://schemas.microsoft.com/office/powerpoint/2010/main" val="89928838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1656EC-E197-239C-60DD-C11F7BA4B44A}"/>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5431EA70-9578-8BF1-5A05-77CDC26788B4}"/>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#4 – Parallel uncoupled waveguides – TE0 mode</a:t>
            </a:r>
            <a:br>
              <a:rPr lang="en-US" sz="2500" spc="-5" dirty="0">
                <a:latin typeface="+mj-lt"/>
                <a:cs typeface="Lucida Sans"/>
              </a:rPr>
            </a:br>
            <a:r>
              <a:rPr lang="en-US" b="0" dirty="0"/>
              <a:t>Wavelength 1.55 µm, width 1.0 µm, gap to be found for uncoupled </a:t>
            </a:r>
            <a:r>
              <a:rPr lang="en-US" b="0" dirty="0" err="1"/>
              <a:t>wvgs</a:t>
            </a:r>
            <a:endParaRPr lang="en-US" sz="2500" b="0" dirty="0">
              <a:latin typeface="+mj-lt"/>
              <a:cs typeface="Lucida Sans"/>
            </a:endParaRPr>
          </a:p>
        </p:txBody>
      </p:sp>
      <p:pic>
        <p:nvPicPr>
          <p:cNvPr id="83" name="Gráfico 82">
            <a:extLst>
              <a:ext uri="{FF2B5EF4-FFF2-40B4-BE49-F238E27FC236}">
                <a16:creationId xmlns:a16="http://schemas.microsoft.com/office/drawing/2014/main" id="{B6A02C28-9CC3-6E88-B695-04A48E5FDEA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FB7F118F-AD79-0ED0-CE53-A8EE4409B4F8}"/>
              </a:ext>
            </a:extLst>
          </p:cNvPr>
          <p:cNvSpPr>
            <a:spLocks noGrp="1"/>
          </p:cNvSpPr>
          <p:nvPr>
            <p:ph type="sldNum" sz="quarter" idx="7"/>
          </p:nvPr>
        </p:nvSpPr>
        <p:spPr/>
        <p:txBody>
          <a:bodyPr/>
          <a:lstStyle/>
          <a:p>
            <a:fld id="{B6F15528-21DE-4FAA-801E-634DDDAF4B2B}" type="slidenum">
              <a:rPr lang="es-ES" smtClean="0"/>
              <a:t>11</a:t>
            </a:fld>
            <a:endParaRPr lang="es-ES"/>
          </a:p>
        </p:txBody>
      </p:sp>
      <p:sp>
        <p:nvSpPr>
          <p:cNvPr id="3" name="Marcador de pie de página 2">
            <a:extLst>
              <a:ext uri="{FF2B5EF4-FFF2-40B4-BE49-F238E27FC236}">
                <a16:creationId xmlns:a16="http://schemas.microsoft.com/office/drawing/2014/main" id="{10846C9D-3FE3-8524-3349-96E1AD1712B3}"/>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2" name="CuadroTexto 1">
            <a:extLst>
              <a:ext uri="{FF2B5EF4-FFF2-40B4-BE49-F238E27FC236}">
                <a16:creationId xmlns:a16="http://schemas.microsoft.com/office/drawing/2014/main" id="{CA5F0FDF-2A95-453B-4ECA-AEB637FF2694}"/>
              </a:ext>
            </a:extLst>
          </p:cNvPr>
          <p:cNvSpPr txBox="1"/>
          <p:nvPr/>
        </p:nvSpPr>
        <p:spPr>
          <a:xfrm>
            <a:off x="609441" y="4627196"/>
            <a:ext cx="11199971" cy="1631216"/>
          </a:xfrm>
          <a:prstGeom prst="rect">
            <a:avLst/>
          </a:prstGeom>
          <a:solidFill>
            <a:schemeClr val="bg1">
              <a:lumMod val="95000"/>
            </a:schemeClr>
          </a:solidFill>
          <a:ln w="28575">
            <a:solidFill>
              <a:srgbClr val="E0700D"/>
            </a:solidFill>
          </a:ln>
        </p:spPr>
        <p:txBody>
          <a:bodyPr wrap="square" rtlCol="0">
            <a:spAutoFit/>
          </a:bodyPr>
          <a:lstStyle/>
          <a:p>
            <a:pPr algn="just"/>
            <a:r>
              <a:rPr lang="en-US" sz="1000" b="1" dirty="0">
                <a:latin typeface="Arial" panose="020B0604020202020204" pitchFamily="34" charset="0"/>
                <a:cs typeface="Arial" panose="020B0604020202020204" pitchFamily="34" charset="0"/>
              </a:rPr>
              <a:t>Hints: All waveguides running in parallel are coupled somehow. Controlling the degree of coupling is key for those waveguides you don’t want coupling over certain level (i.e. uncoupled waveguides). Uncoupled waveguide definition, we will use K&lt;0.01. Parallel waveguide length = 10 mm (typical length of a chip). Find minimum gap shallow / deep w=1.0µm </a:t>
            </a:r>
            <a:r>
              <a:rPr lang="en-US" sz="1000" b="1" dirty="0" err="1">
                <a:latin typeface="Arial" panose="020B0604020202020204" pitchFamily="34" charset="0"/>
                <a:cs typeface="Arial" panose="020B0604020202020204" pitchFamily="34" charset="0"/>
              </a:rPr>
              <a:t>wvl</a:t>
            </a:r>
            <a:r>
              <a:rPr lang="en-US" sz="1000" b="1" dirty="0">
                <a:latin typeface="Arial" panose="020B0604020202020204" pitchFamily="34" charset="0"/>
                <a:cs typeface="Arial" panose="020B0604020202020204" pitchFamily="34" charset="0"/>
              </a:rPr>
              <a:t> 1.55 µm.</a:t>
            </a:r>
            <a:endParaRPr lang="en-US" sz="1000" dirty="0">
              <a:latin typeface="Arial" panose="020B0604020202020204" pitchFamily="34" charset="0"/>
              <a:cs typeface="Arial" panose="020B0604020202020204" pitchFamily="34" charset="0"/>
            </a:endParaRPr>
          </a:p>
          <a:p>
            <a:pPr marL="171450" indent="-171450" algn="just">
              <a:buFont typeface="Arial" panose="020B0604020202020204" pitchFamily="34" charset="0"/>
              <a:buChar char="•"/>
            </a:pPr>
            <a:r>
              <a:rPr lang="es-ES" sz="1400" dirty="0">
                <a:latin typeface="Arial" panose="020B0604020202020204" pitchFamily="34" charset="0"/>
                <a:cs typeface="Arial" panose="020B0604020202020204" pitchFamily="34" charset="0"/>
              </a:rPr>
              <a:t>Para considerar las guías desacopladas se exige K &lt; 0.01 para una longitud paralela de 10 </a:t>
            </a:r>
            <a:r>
              <a:rPr lang="es-ES" sz="1400" dirty="0" err="1">
                <a:latin typeface="Arial" panose="020B0604020202020204" pitchFamily="34" charset="0"/>
                <a:cs typeface="Arial" panose="020B0604020202020204" pitchFamily="34" charset="0"/>
              </a:rPr>
              <a:t>mm.</a:t>
            </a:r>
            <a:r>
              <a:rPr lang="es-ES" sz="1400" dirty="0">
                <a:latin typeface="Arial" panose="020B0604020202020204" pitchFamily="34" charset="0"/>
                <a:cs typeface="Arial" panose="020B0604020202020204" pitchFamily="34" charset="0"/>
              </a:rPr>
              <a:t> Esto equivale a necesitar </a:t>
            </a:r>
            <a:r>
              <a:rPr lang="es-ES" sz="1400" dirty="0" err="1">
                <a:latin typeface="Arial" panose="020B0604020202020204" pitchFamily="34" charset="0"/>
                <a:cs typeface="Arial" panose="020B0604020202020204" pitchFamily="34" charset="0"/>
              </a:rPr>
              <a:t>Lpi</a:t>
            </a:r>
            <a:r>
              <a:rPr lang="es-ES" sz="1400" dirty="0">
                <a:latin typeface="Arial" panose="020B0604020202020204" pitchFamily="34" charset="0"/>
                <a:cs typeface="Arial" panose="020B0604020202020204" pitchFamily="34" charset="0"/>
              </a:rPr>
              <a:t> mayor que 156.82 </a:t>
            </a:r>
            <a:r>
              <a:rPr lang="es-ES" sz="1400" dirty="0" err="1">
                <a:latin typeface="Arial" panose="020B0604020202020204" pitchFamily="34" charset="0"/>
                <a:cs typeface="Arial" panose="020B0604020202020204" pitchFamily="34" charset="0"/>
              </a:rPr>
              <a:t>mm.</a:t>
            </a:r>
            <a:endParaRPr lang="es-ES" sz="1400" dirty="0">
              <a:latin typeface="Arial" panose="020B0604020202020204" pitchFamily="34" charset="0"/>
              <a:cs typeface="Arial" panose="020B0604020202020204" pitchFamily="34" charset="0"/>
            </a:endParaRPr>
          </a:p>
          <a:p>
            <a:pPr marL="171450" indent="-171450" algn="just">
              <a:buFont typeface="Arial" panose="020B0604020202020204" pitchFamily="34" charset="0"/>
              <a:buChar char="•"/>
            </a:pPr>
            <a:r>
              <a:rPr lang="es-ES" sz="1400" dirty="0">
                <a:latin typeface="Arial" panose="020B0604020202020204" pitchFamily="34" charset="0"/>
                <a:cs typeface="Arial" panose="020B0604020202020204" pitchFamily="34" charset="0"/>
              </a:rPr>
              <a:t>Al aumentar el gap el acoplamiento disminuye y por tanto K baja. El gap mínimo estimado es 4.67 </a:t>
            </a:r>
            <a:r>
              <a:rPr lang="es-ES" sz="1400" dirty="0" err="1">
                <a:latin typeface="Arial" panose="020B0604020202020204" pitchFamily="34" charset="0"/>
                <a:cs typeface="Arial" panose="020B0604020202020204" pitchFamily="34" charset="0"/>
              </a:rPr>
              <a:t>um</a:t>
            </a:r>
            <a:r>
              <a:rPr lang="es-ES" sz="1400" dirty="0">
                <a:latin typeface="Arial" panose="020B0604020202020204" pitchFamily="34" charset="0"/>
                <a:cs typeface="Arial" panose="020B0604020202020204" pitchFamily="34" charset="0"/>
              </a:rPr>
              <a:t> para la guía </a:t>
            </a:r>
            <a:r>
              <a:rPr lang="es-ES" sz="1400" dirty="0" err="1">
                <a:latin typeface="Arial" panose="020B0604020202020204" pitchFamily="34" charset="0"/>
                <a:cs typeface="Arial" panose="020B0604020202020204" pitchFamily="34" charset="0"/>
              </a:rPr>
              <a:t>deep</a:t>
            </a:r>
            <a:r>
              <a:rPr lang="es-ES" sz="1400" dirty="0">
                <a:latin typeface="Arial" panose="020B0604020202020204" pitchFamily="34" charset="0"/>
                <a:cs typeface="Arial" panose="020B0604020202020204" pitchFamily="34" charset="0"/>
              </a:rPr>
              <a:t> y 5.05 </a:t>
            </a:r>
            <a:r>
              <a:rPr lang="es-ES" sz="1400" dirty="0" err="1">
                <a:latin typeface="Arial" panose="020B0604020202020204" pitchFamily="34" charset="0"/>
                <a:cs typeface="Arial" panose="020B0604020202020204" pitchFamily="34" charset="0"/>
              </a:rPr>
              <a:t>um</a:t>
            </a:r>
            <a:r>
              <a:rPr lang="es-ES" sz="1400" dirty="0">
                <a:latin typeface="Arial" panose="020B0604020202020204" pitchFamily="34" charset="0"/>
                <a:cs typeface="Arial" panose="020B0604020202020204" pitchFamily="34" charset="0"/>
              </a:rPr>
              <a:t> para la guía </a:t>
            </a:r>
            <a:r>
              <a:rPr lang="es-ES" sz="1400" dirty="0" err="1">
                <a:latin typeface="Arial" panose="020B0604020202020204" pitchFamily="34" charset="0"/>
                <a:cs typeface="Arial" panose="020B0604020202020204" pitchFamily="34" charset="0"/>
              </a:rPr>
              <a:t>shallow</a:t>
            </a:r>
            <a:r>
              <a:rPr lang="es-ES" sz="1400" dirty="0">
                <a:latin typeface="Arial" panose="020B0604020202020204" pitchFamily="34" charset="0"/>
                <a:cs typeface="Arial" panose="020B0604020202020204" pitchFamily="34" charset="0"/>
              </a:rPr>
              <a:t>.</a:t>
            </a:r>
          </a:p>
          <a:p>
            <a:pPr marL="171450" indent="-171450" algn="just">
              <a:buFont typeface="Arial" panose="020B0604020202020204" pitchFamily="34" charset="0"/>
              <a:buChar char="•"/>
            </a:pPr>
            <a:r>
              <a:rPr lang="es-ES" sz="1400" dirty="0">
                <a:latin typeface="Arial" panose="020B0604020202020204" pitchFamily="34" charset="0"/>
                <a:cs typeface="Arial" panose="020B0604020202020204" pitchFamily="34" charset="0"/>
              </a:rPr>
              <a:t>La guía </a:t>
            </a:r>
            <a:r>
              <a:rPr lang="es-ES" sz="1400" dirty="0" err="1">
                <a:latin typeface="Arial" panose="020B0604020202020204" pitchFamily="34" charset="0"/>
                <a:cs typeface="Arial" panose="020B0604020202020204" pitchFamily="34" charset="0"/>
              </a:rPr>
              <a:t>shallow</a:t>
            </a:r>
            <a:r>
              <a:rPr lang="es-ES" sz="1400" dirty="0">
                <a:latin typeface="Arial" panose="020B0604020202020204" pitchFamily="34" charset="0"/>
                <a:cs typeface="Arial" panose="020B0604020202020204" pitchFamily="34" charset="0"/>
              </a:rPr>
              <a:t> necesita más separación porque el campo está menos confinado y se acopla más fácilmente con la guía vecina.</a:t>
            </a:r>
            <a:endParaRPr lang="en-US" sz="1400" dirty="0">
              <a:latin typeface="Arial" panose="020B0604020202020204" pitchFamily="34" charset="0"/>
              <a:cs typeface="Arial" panose="020B0604020202020204" pitchFamily="34" charset="0"/>
            </a:endParaRPr>
          </a:p>
        </p:txBody>
      </p:sp>
      <p:sp>
        <p:nvSpPr>
          <p:cNvPr id="4" name="Rectángulo 3">
            <a:extLst>
              <a:ext uri="{FF2B5EF4-FFF2-40B4-BE49-F238E27FC236}">
                <a16:creationId xmlns:a16="http://schemas.microsoft.com/office/drawing/2014/main" id="{FB4B77A0-B37C-3130-FB52-4E560C66946F}"/>
              </a:ext>
            </a:extLst>
          </p:cNvPr>
          <p:cNvSpPr/>
          <p:nvPr/>
        </p:nvSpPr>
        <p:spPr>
          <a:xfrm>
            <a:off x="609441" y="1219200"/>
            <a:ext cx="5486559"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ángulo 4">
            <a:extLst>
              <a:ext uri="{FF2B5EF4-FFF2-40B4-BE49-F238E27FC236}">
                <a16:creationId xmlns:a16="http://schemas.microsoft.com/office/drawing/2014/main" id="{DA7ECAA3-0876-C0FB-D7E5-448FCC5ED226}"/>
              </a:ext>
            </a:extLst>
          </p:cNvPr>
          <p:cNvSpPr/>
          <p:nvPr/>
        </p:nvSpPr>
        <p:spPr>
          <a:xfrm>
            <a:off x="6321424" y="1219200"/>
            <a:ext cx="5486559"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9" name="CuadroTexto 8">
                <a:extLst>
                  <a:ext uri="{FF2B5EF4-FFF2-40B4-BE49-F238E27FC236}">
                    <a16:creationId xmlns:a16="http://schemas.microsoft.com/office/drawing/2014/main" id="{C1467207-8D05-D4C6-EBD2-209F796AE977}"/>
                  </a:ext>
                </a:extLst>
              </p:cNvPr>
              <p:cNvSpPr txBox="1"/>
              <p:nvPr/>
            </p:nvSpPr>
            <p:spPr>
              <a:xfrm>
                <a:off x="1079403" y="2480496"/>
                <a:ext cx="4546634" cy="1477328"/>
              </a:xfrm>
              <a:prstGeom prst="rect">
                <a:avLst/>
              </a:prstGeom>
              <a:noFill/>
            </p:spPr>
            <p:txBody>
              <a:bodyPr wrap="square" rtlCol="0">
                <a:spAutoFit/>
              </a:bodyPr>
              <a:lstStyle/>
              <a:p>
                <a:pPr algn="ctr"/>
                <a:r>
                  <a:rPr lang="en-US" b="1" dirty="0"/>
                  <a:t>deep</a:t>
                </a:r>
                <a:r>
                  <a:rPr lang="en-US" dirty="0"/>
                  <a:t> waveguide</a:t>
                </a:r>
              </a:p>
              <a:p>
                <a:pPr algn="ctr"/>
                <a:endParaRPr lang="en-US" dirty="0"/>
              </a:p>
              <a:p>
                <a:pPr algn="ctr"/>
                <a:r>
                  <a:rPr lang="en-US" dirty="0"/>
                  <a:t>Paste </a:t>
                </a:r>
                <a14:m>
                  <m:oMath xmlns:m="http://schemas.openxmlformats.org/officeDocument/2006/math">
                    <m:r>
                      <a:rPr lang="es-ES" b="0" i="1" smtClean="0">
                        <a:latin typeface="Cambria Math" panose="02040503050406030204" pitchFamily="18" charset="0"/>
                      </a:rPr>
                      <m:t>𝐾</m:t>
                    </m:r>
                  </m:oMath>
                </a14:m>
                <a:r>
                  <a:rPr lang="en-US" dirty="0"/>
                  <a:t> vs gap for 10 mm </a:t>
                </a:r>
                <a:r>
                  <a:rPr lang="en-US" dirty="0" err="1"/>
                  <a:t>wvgs</a:t>
                </a:r>
                <a:r>
                  <a:rPr lang="en-US" dirty="0"/>
                  <a:t> to be uncoupled</a:t>
                </a:r>
              </a:p>
              <a:p>
                <a:pPr algn="ctr"/>
                <a:endParaRPr lang="en-US" dirty="0"/>
              </a:p>
            </p:txBody>
          </p:sp>
        </mc:Choice>
        <mc:Fallback xmlns="">
          <p:sp>
            <p:nvSpPr>
              <p:cNvPr id="9" name="CuadroTexto 8">
                <a:extLst>
                  <a:ext uri="{FF2B5EF4-FFF2-40B4-BE49-F238E27FC236}">
                    <a16:creationId xmlns:a16="http://schemas.microsoft.com/office/drawing/2014/main" id="{C1467207-8D05-D4C6-EBD2-209F796AE977}"/>
                  </a:ext>
                </a:extLst>
              </p:cNvPr>
              <p:cNvSpPr txBox="1">
                <a:spLocks noRot="1" noChangeAspect="1" noMove="1" noResize="1" noEditPoints="1" noAdjustHandles="1" noChangeArrowheads="1" noChangeShapeType="1" noTextEdit="1"/>
              </p:cNvSpPr>
              <p:nvPr/>
            </p:nvSpPr>
            <p:spPr>
              <a:xfrm>
                <a:off x="1079403" y="2480496"/>
                <a:ext cx="4546634" cy="1477328"/>
              </a:xfrm>
              <a:prstGeom prst="rect">
                <a:avLst/>
              </a:prstGeom>
              <a:blipFill>
                <a:blip r:embed="rId5"/>
                <a:stretch>
                  <a:fillRect t="-2479"/>
                </a:stretch>
              </a:blipFill>
            </p:spPr>
            <p:txBody>
              <a:bodyPr/>
              <a:lstStyle/>
              <a:p>
                <a:r>
                  <a:rPr lang="es-ES">
                    <a:noFill/>
                  </a:rPr>
                  <a:t> </a:t>
                </a:r>
              </a:p>
            </p:txBody>
          </p:sp>
        </mc:Fallback>
      </mc:AlternateContent>
      <mc:AlternateContent xmlns:mc="http://schemas.openxmlformats.org/markup-compatibility/2006" xmlns:a14="http://schemas.microsoft.com/office/drawing/2010/main">
        <mc:Choice Requires="a14">
          <p:sp>
            <p:nvSpPr>
              <p:cNvPr id="10" name="CuadroTexto 9">
                <a:extLst>
                  <a:ext uri="{FF2B5EF4-FFF2-40B4-BE49-F238E27FC236}">
                    <a16:creationId xmlns:a16="http://schemas.microsoft.com/office/drawing/2014/main" id="{32E39C0C-95E1-ED90-891A-5D634D9DB76B}"/>
                  </a:ext>
                </a:extLst>
              </p:cNvPr>
              <p:cNvSpPr txBox="1"/>
              <p:nvPr/>
            </p:nvSpPr>
            <p:spPr>
              <a:xfrm>
                <a:off x="6883366" y="2480496"/>
                <a:ext cx="4546634" cy="1477328"/>
              </a:xfrm>
              <a:prstGeom prst="rect">
                <a:avLst/>
              </a:prstGeom>
              <a:noFill/>
            </p:spPr>
            <p:txBody>
              <a:bodyPr wrap="square" rtlCol="0">
                <a:spAutoFit/>
              </a:bodyPr>
              <a:lstStyle/>
              <a:p>
                <a:pPr algn="ctr"/>
                <a:r>
                  <a:rPr lang="en-US" b="1" dirty="0"/>
                  <a:t>shallow</a:t>
                </a:r>
                <a:r>
                  <a:rPr lang="en-US" dirty="0"/>
                  <a:t> waveguide</a:t>
                </a:r>
              </a:p>
              <a:p>
                <a:pPr algn="ctr"/>
                <a:r>
                  <a:rPr lang="en-US" dirty="0" err="1"/>
                  <a:t>slab_thickness</a:t>
                </a:r>
                <a:r>
                  <a:rPr lang="en-US" dirty="0"/>
                  <a:t> = 150 nm</a:t>
                </a:r>
              </a:p>
              <a:p>
                <a:pPr algn="ctr"/>
                <a:endParaRPr lang="en-US" dirty="0"/>
              </a:p>
              <a:p>
                <a:pPr algn="ctr"/>
                <a:r>
                  <a:rPr lang="en-US" dirty="0"/>
                  <a:t>Paste </a:t>
                </a:r>
                <a14:m>
                  <m:oMath xmlns:m="http://schemas.openxmlformats.org/officeDocument/2006/math">
                    <m:r>
                      <a:rPr lang="es-ES" i="1">
                        <a:latin typeface="Cambria Math" panose="02040503050406030204" pitchFamily="18" charset="0"/>
                      </a:rPr>
                      <m:t>𝐾</m:t>
                    </m:r>
                  </m:oMath>
                </a14:m>
                <a:r>
                  <a:rPr lang="en-US" dirty="0"/>
                  <a:t> vs gap for 10 mm </a:t>
                </a:r>
                <a:r>
                  <a:rPr lang="en-US" dirty="0" err="1"/>
                  <a:t>wvgs</a:t>
                </a:r>
                <a:r>
                  <a:rPr lang="en-US" dirty="0"/>
                  <a:t> to be uncoupled</a:t>
                </a:r>
              </a:p>
            </p:txBody>
          </p:sp>
        </mc:Choice>
        <mc:Fallback xmlns="">
          <p:sp>
            <p:nvSpPr>
              <p:cNvPr id="10" name="CuadroTexto 9">
                <a:extLst>
                  <a:ext uri="{FF2B5EF4-FFF2-40B4-BE49-F238E27FC236}">
                    <a16:creationId xmlns:a16="http://schemas.microsoft.com/office/drawing/2014/main" id="{32E39C0C-95E1-ED90-891A-5D634D9DB76B}"/>
                  </a:ext>
                </a:extLst>
              </p:cNvPr>
              <p:cNvSpPr txBox="1">
                <a:spLocks noRot="1" noChangeAspect="1" noMove="1" noResize="1" noEditPoints="1" noAdjustHandles="1" noChangeArrowheads="1" noChangeShapeType="1" noTextEdit="1"/>
              </p:cNvSpPr>
              <p:nvPr/>
            </p:nvSpPr>
            <p:spPr>
              <a:xfrm>
                <a:off x="6883366" y="2480496"/>
                <a:ext cx="4546634" cy="1477328"/>
              </a:xfrm>
              <a:prstGeom prst="rect">
                <a:avLst/>
              </a:prstGeom>
              <a:blipFill>
                <a:blip r:embed="rId6"/>
                <a:stretch>
                  <a:fillRect t="-2479" b="-5785"/>
                </a:stretch>
              </a:blipFill>
            </p:spPr>
            <p:txBody>
              <a:bodyPr/>
              <a:lstStyle/>
              <a:p>
                <a:r>
                  <a:rPr lang="es-ES">
                    <a:noFill/>
                  </a:rPr>
                  <a:t> </a:t>
                </a:r>
              </a:p>
            </p:txBody>
          </p:sp>
        </mc:Fallback>
      </mc:AlternateContent>
      <p:pic>
        <p:nvPicPr>
          <p:cNvPr id="7" name="Imagen 6">
            <a:extLst>
              <a:ext uri="{FF2B5EF4-FFF2-40B4-BE49-F238E27FC236}">
                <a16:creationId xmlns:a16="http://schemas.microsoft.com/office/drawing/2014/main" id="{D962394B-55A5-010C-8D33-A485B5711D09}"/>
              </a:ext>
            </a:extLst>
          </p:cNvPr>
          <p:cNvPicPr>
            <a:picLocks noChangeAspect="1"/>
          </p:cNvPicPr>
          <p:nvPr/>
        </p:nvPicPr>
        <p:blipFill>
          <a:blip r:embed="rId7"/>
          <a:stretch>
            <a:fillRect/>
          </a:stretch>
        </p:blipFill>
        <p:spPr>
          <a:xfrm>
            <a:off x="647419" y="1359430"/>
            <a:ext cx="5249783" cy="2967269"/>
          </a:xfrm>
          <a:prstGeom prst="rect">
            <a:avLst/>
          </a:prstGeom>
        </p:spPr>
      </p:pic>
      <p:pic>
        <p:nvPicPr>
          <p:cNvPr id="13" name="Imagen 12">
            <a:extLst>
              <a:ext uri="{FF2B5EF4-FFF2-40B4-BE49-F238E27FC236}">
                <a16:creationId xmlns:a16="http://schemas.microsoft.com/office/drawing/2014/main" id="{0DDCAF63-AA88-AD01-125D-81D1DE10759C}"/>
              </a:ext>
            </a:extLst>
          </p:cNvPr>
          <p:cNvPicPr>
            <a:picLocks noChangeAspect="1"/>
          </p:cNvPicPr>
          <p:nvPr/>
        </p:nvPicPr>
        <p:blipFill>
          <a:blip r:embed="rId8"/>
          <a:stretch>
            <a:fillRect/>
          </a:stretch>
        </p:blipFill>
        <p:spPr>
          <a:xfrm>
            <a:off x="6527984" y="1404865"/>
            <a:ext cx="5152226" cy="2912128"/>
          </a:xfrm>
          <a:prstGeom prst="rect">
            <a:avLst/>
          </a:prstGeom>
        </p:spPr>
      </p:pic>
      <p:sp>
        <p:nvSpPr>
          <p:cNvPr id="17" name="CuadroTexto 16">
            <a:extLst>
              <a:ext uri="{FF2B5EF4-FFF2-40B4-BE49-F238E27FC236}">
                <a16:creationId xmlns:a16="http://schemas.microsoft.com/office/drawing/2014/main" id="{4674B00D-317B-224A-8D53-92BF6CFAA942}"/>
              </a:ext>
            </a:extLst>
          </p:cNvPr>
          <p:cNvSpPr txBox="1"/>
          <p:nvPr/>
        </p:nvSpPr>
        <p:spPr>
          <a:xfrm>
            <a:off x="1201874" y="2544363"/>
            <a:ext cx="3305342" cy="276999"/>
          </a:xfrm>
          <a:prstGeom prst="rect">
            <a:avLst/>
          </a:prstGeom>
          <a:noFill/>
        </p:spPr>
        <p:txBody>
          <a:bodyPr wrap="square" rtlCol="0">
            <a:spAutoFit/>
          </a:bodyPr>
          <a:lstStyle/>
          <a:p>
            <a:r>
              <a:rPr lang="pt-BR" sz="1200" dirty="0" err="1"/>
              <a:t>Deep</a:t>
            </a:r>
            <a:r>
              <a:rPr lang="pt-BR" sz="1200" dirty="0"/>
              <a:t> </a:t>
            </a:r>
            <a:r>
              <a:rPr lang="pt-BR" sz="1200" dirty="0" err="1"/>
              <a:t>waveguide</a:t>
            </a:r>
            <a:r>
              <a:rPr lang="pt-BR" sz="1200" dirty="0"/>
              <a:t>: gap mínimo estimado = 4.67 um </a:t>
            </a:r>
          </a:p>
        </p:txBody>
      </p:sp>
      <p:sp>
        <p:nvSpPr>
          <p:cNvPr id="18" name="CuadroTexto 17">
            <a:extLst>
              <a:ext uri="{FF2B5EF4-FFF2-40B4-BE49-F238E27FC236}">
                <a16:creationId xmlns:a16="http://schemas.microsoft.com/office/drawing/2014/main" id="{C185E965-F595-3B50-E3A4-61AAFDC41954}"/>
              </a:ext>
            </a:extLst>
          </p:cNvPr>
          <p:cNvSpPr txBox="1"/>
          <p:nvPr/>
        </p:nvSpPr>
        <p:spPr>
          <a:xfrm>
            <a:off x="7056120" y="2566065"/>
            <a:ext cx="3657600" cy="276999"/>
          </a:xfrm>
          <a:prstGeom prst="rect">
            <a:avLst/>
          </a:prstGeom>
          <a:noFill/>
        </p:spPr>
        <p:txBody>
          <a:bodyPr wrap="square" rtlCol="0">
            <a:spAutoFit/>
          </a:bodyPr>
          <a:lstStyle/>
          <a:p>
            <a:r>
              <a:rPr lang="pt-BR" sz="1200" dirty="0" err="1"/>
              <a:t>Shallow</a:t>
            </a:r>
            <a:r>
              <a:rPr lang="pt-BR" sz="1200" dirty="0"/>
              <a:t> </a:t>
            </a:r>
            <a:r>
              <a:rPr lang="pt-BR" sz="1200" dirty="0" err="1"/>
              <a:t>waveguide</a:t>
            </a:r>
            <a:r>
              <a:rPr lang="pt-BR" sz="1200" dirty="0"/>
              <a:t>: gap mínimo estimado = 5.05 um</a:t>
            </a:r>
            <a:endParaRPr lang="es-ES" sz="1200" dirty="0"/>
          </a:p>
        </p:txBody>
      </p:sp>
    </p:spTree>
    <p:extLst>
      <p:ext uri="{BB962C8B-B14F-4D97-AF65-F5344CB8AC3E}">
        <p14:creationId xmlns:p14="http://schemas.microsoft.com/office/powerpoint/2010/main" val="371235600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3D4982-2E99-3EE0-CEBE-CEF54821C335}"/>
            </a:ext>
          </a:extLst>
        </p:cNvPr>
        <p:cNvGrpSpPr/>
        <p:nvPr/>
      </p:nvGrpSpPr>
      <p:grpSpPr>
        <a:xfrm>
          <a:off x="0" y="0"/>
          <a:ext cx="0" cy="0"/>
          <a:chOff x="0" y="0"/>
          <a:chExt cx="0" cy="0"/>
        </a:xfrm>
      </p:grpSpPr>
      <p:sp>
        <p:nvSpPr>
          <p:cNvPr id="4" name="Marcador de pie de página 3">
            <a:extLst>
              <a:ext uri="{FF2B5EF4-FFF2-40B4-BE49-F238E27FC236}">
                <a16:creationId xmlns:a16="http://schemas.microsoft.com/office/drawing/2014/main" id="{A60D29C4-F13C-8947-EF1D-2CBDDD14AC5C}"/>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5" name="Marcador de número de diapositiva 4">
            <a:extLst>
              <a:ext uri="{FF2B5EF4-FFF2-40B4-BE49-F238E27FC236}">
                <a16:creationId xmlns:a16="http://schemas.microsoft.com/office/drawing/2014/main" id="{28A4EFD1-1AF6-F17D-1B27-5115800F99B0}"/>
              </a:ext>
            </a:extLst>
          </p:cNvPr>
          <p:cNvSpPr>
            <a:spLocks noGrp="1"/>
          </p:cNvSpPr>
          <p:nvPr>
            <p:ph type="sldNum" sz="quarter" idx="7"/>
          </p:nvPr>
        </p:nvSpPr>
        <p:spPr/>
        <p:txBody>
          <a:bodyPr/>
          <a:lstStyle/>
          <a:p>
            <a:fld id="{B6F15528-21DE-4FAA-801E-634DDDAF4B2B}" type="slidenum">
              <a:rPr lang="es-ES" smtClean="0"/>
              <a:t>12</a:t>
            </a:fld>
            <a:endParaRPr lang="es-ES"/>
          </a:p>
        </p:txBody>
      </p:sp>
      <p:sp>
        <p:nvSpPr>
          <p:cNvPr id="6" name="Título 4">
            <a:extLst>
              <a:ext uri="{FF2B5EF4-FFF2-40B4-BE49-F238E27FC236}">
                <a16:creationId xmlns:a16="http://schemas.microsoft.com/office/drawing/2014/main" id="{8111062F-F9A0-241E-6CCB-6E8BE4D8C60A}"/>
              </a:ext>
            </a:extLst>
          </p:cNvPr>
          <p:cNvSpPr>
            <a:spLocks noGrp="1"/>
          </p:cNvSpPr>
          <p:nvPr>
            <p:ph type="body" idx="1"/>
          </p:nvPr>
        </p:nvSpPr>
        <p:spPr>
          <a:xfrm>
            <a:off x="609600" y="2152650"/>
            <a:ext cx="10972800" cy="430887"/>
          </a:xfrm>
        </p:spPr>
        <p:txBody>
          <a:bodyPr/>
          <a:lstStyle/>
          <a:p>
            <a:pPr algn="ctr"/>
            <a:r>
              <a:rPr lang="en-US" sz="2800" b="1" dirty="0">
                <a:effectLst>
                  <a:outerShdw blurRad="38100" dist="38100" dir="2700000" algn="tl">
                    <a:srgbClr val="000000">
                      <a:alpha val="43137"/>
                    </a:srgbClr>
                  </a:outerShdw>
                </a:effectLst>
              </a:rPr>
              <a:t>Multimode Interferometer (MMI) Coupler</a:t>
            </a:r>
          </a:p>
        </p:txBody>
      </p:sp>
    </p:spTree>
    <p:extLst>
      <p:ext uri="{BB962C8B-B14F-4D97-AF65-F5344CB8AC3E}">
        <p14:creationId xmlns:p14="http://schemas.microsoft.com/office/powerpoint/2010/main" val="387331896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434E70-43B1-3881-1771-20FB4358471D}"/>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742C31CE-19F0-B995-0997-9A2D6A879BF7}"/>
              </a:ext>
            </a:extLst>
          </p:cNvPr>
          <p:cNvSpPr txBox="1">
            <a:spLocks noGrp="1"/>
          </p:cNvSpPr>
          <p:nvPr>
            <p:ph type="title"/>
          </p:nvPr>
        </p:nvSpPr>
        <p:spPr>
          <a:xfrm>
            <a:off x="685800" y="408883"/>
            <a:ext cx="10994410" cy="397545"/>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#5 – Multimode Interference (MMI) Coupler cross-section</a:t>
            </a:r>
            <a:endParaRPr lang="en-US" sz="2500" b="0" dirty="0">
              <a:latin typeface="+mj-lt"/>
              <a:cs typeface="Lucida Sans"/>
            </a:endParaRPr>
          </a:p>
        </p:txBody>
      </p:sp>
      <p:pic>
        <p:nvPicPr>
          <p:cNvPr id="83" name="Gráfico 82">
            <a:extLst>
              <a:ext uri="{FF2B5EF4-FFF2-40B4-BE49-F238E27FC236}">
                <a16:creationId xmlns:a16="http://schemas.microsoft.com/office/drawing/2014/main" id="{D688A609-F3DC-EE34-C536-683E70F32EA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B6C672C6-89D4-7E67-2B94-811D081786A7}"/>
              </a:ext>
            </a:extLst>
          </p:cNvPr>
          <p:cNvSpPr>
            <a:spLocks noGrp="1"/>
          </p:cNvSpPr>
          <p:nvPr>
            <p:ph type="sldNum" sz="quarter" idx="7"/>
          </p:nvPr>
        </p:nvSpPr>
        <p:spPr/>
        <p:txBody>
          <a:bodyPr/>
          <a:lstStyle/>
          <a:p>
            <a:fld id="{B6F15528-21DE-4FAA-801E-634DDDAF4B2B}" type="slidenum">
              <a:rPr lang="es-ES" smtClean="0"/>
              <a:t>13</a:t>
            </a:fld>
            <a:endParaRPr lang="es-ES"/>
          </a:p>
        </p:txBody>
      </p:sp>
      <p:sp>
        <p:nvSpPr>
          <p:cNvPr id="3" name="Marcador de pie de página 2">
            <a:extLst>
              <a:ext uri="{FF2B5EF4-FFF2-40B4-BE49-F238E27FC236}">
                <a16:creationId xmlns:a16="http://schemas.microsoft.com/office/drawing/2014/main" id="{AA1F4313-D710-7A3E-7A8F-EB77DEE3C1A7}"/>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mc:AlternateContent xmlns:mc="http://schemas.openxmlformats.org/markup-compatibility/2006" xmlns:a14="http://schemas.microsoft.com/office/drawing/2010/main">
        <mc:Choice Requires="a14">
          <p:sp>
            <p:nvSpPr>
              <p:cNvPr id="4" name="Marcador de texto 2">
                <a:extLst>
                  <a:ext uri="{FF2B5EF4-FFF2-40B4-BE49-F238E27FC236}">
                    <a16:creationId xmlns:a16="http://schemas.microsoft.com/office/drawing/2014/main" id="{D838A93A-BFC8-0124-93CE-FDC193435A0C}"/>
                  </a:ext>
                </a:extLst>
              </p:cNvPr>
              <p:cNvSpPr txBox="1">
                <a:spLocks/>
              </p:cNvSpPr>
              <p:nvPr/>
            </p:nvSpPr>
            <p:spPr>
              <a:xfrm>
                <a:off x="608012" y="1295400"/>
                <a:ext cx="11048999" cy="4958137"/>
              </a:xfrm>
              <a:prstGeom prst="rect">
                <a:avLst/>
              </a:prstGeom>
            </p:spPr>
            <p:txBody>
              <a:bodyPr>
                <a:normAutofit/>
              </a:bodyPr>
              <a:lst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a:lstStyle>
              <a:p>
                <a:pPr marL="0" indent="0">
                  <a:buNone/>
                </a:pPr>
                <a:r>
                  <a:rPr lang="en-US" sz="2000" b="1" dirty="0"/>
                  <a:t>INSTRUCTOR:</a:t>
                </a:r>
              </a:p>
              <a:p>
                <a:pPr marL="342900" indent="-342900" algn="just">
                  <a:buFont typeface="Arial" panose="020B0604020202020204" pitchFamily="34" charset="0"/>
                  <a:buChar char="•"/>
                </a:pPr>
                <a:r>
                  <a:rPr lang="en-US" sz="2000" dirty="0"/>
                  <a:t>Present Python and </a:t>
                </a:r>
                <a:r>
                  <a:rPr lang="en-US" sz="2000" dirty="0" err="1"/>
                  <a:t>GDSFactory</a:t>
                </a:r>
                <a:r>
                  <a:rPr lang="en-US" sz="2000" dirty="0"/>
                  <a:t> implementation of DC cross-section</a:t>
                </a:r>
              </a:p>
              <a:p>
                <a:pPr marL="342900" indent="-342900" algn="just">
                  <a:buFont typeface="Arial" panose="020B0604020202020204" pitchFamily="34" charset="0"/>
                  <a:buChar char="•"/>
                </a:pPr>
                <a:r>
                  <a:rPr lang="en-US" sz="2000" dirty="0"/>
                  <a:t>Describe how to obtain the length </a:t>
                </a:r>
                <a14:m>
                  <m:oMath xmlns:m="http://schemas.openxmlformats.org/officeDocument/2006/math">
                    <m:sSub>
                      <m:sSubPr>
                        <m:ctrlPr>
                          <a:rPr lang="es-ES" sz="2000" b="0" i="1" smtClean="0">
                            <a:latin typeface="Cambria Math" panose="02040503050406030204" pitchFamily="18" charset="0"/>
                          </a:rPr>
                        </m:ctrlPr>
                      </m:sSubPr>
                      <m:e>
                        <m:r>
                          <a:rPr lang="es-ES" sz="2000" b="0" i="1" smtClean="0">
                            <a:latin typeface="Cambria Math" panose="02040503050406030204" pitchFamily="18" charset="0"/>
                          </a:rPr>
                          <m:t>𝐿</m:t>
                        </m:r>
                      </m:e>
                      <m:sub>
                        <m:r>
                          <a:rPr lang="es-ES" sz="2000" b="0" i="1" smtClean="0">
                            <a:latin typeface="Cambria Math" panose="02040503050406030204" pitchFamily="18" charset="0"/>
                          </a:rPr>
                          <m:t>𝜋</m:t>
                        </m:r>
                      </m:sub>
                    </m:sSub>
                  </m:oMath>
                </a14:m>
                <a:endParaRPr lang="en-US" sz="2000" dirty="0"/>
              </a:p>
              <a:p>
                <a:pPr marL="342900" indent="-342900" algn="just">
                  <a:buFont typeface="Arial" panose="020B0604020202020204" pitchFamily="34" charset="0"/>
                  <a:buChar char="•"/>
                </a:pPr>
                <a:r>
                  <a:rPr lang="en-US" sz="2000" dirty="0"/>
                  <a:t>Describe the outputs.</a:t>
                </a:r>
              </a:p>
              <a:p>
                <a:pPr marL="0" indent="0" algn="just">
                  <a:buNone/>
                </a:pPr>
                <a:r>
                  <a:rPr lang="en-US" sz="2000" b="1" dirty="0"/>
                  <a:t>ALL EXAMPLE #2: </a:t>
                </a:r>
                <a:r>
                  <a:rPr lang="en-US" sz="2000" dirty="0"/>
                  <a:t>waveguide width 12 µm, gap between waveguides 0.6 µm, deep </a:t>
                </a:r>
                <a:r>
                  <a:rPr lang="en-US" sz="2000" dirty="0" err="1"/>
                  <a:t>wvg</a:t>
                </a:r>
                <a:r>
                  <a:rPr lang="en-US" sz="2000" dirty="0"/>
                  <a:t>, wavelength start and end same 1.55 µm </a:t>
                </a:r>
                <a:r>
                  <a:rPr lang="en-US" sz="2000" dirty="0">
                    <a:sym typeface="Wingdings" pitchFamily="2" charset="2"/>
                  </a:rPr>
                  <a:t> all ”Run”</a:t>
                </a:r>
                <a:endParaRPr lang="en-US" sz="2000" dirty="0"/>
              </a:p>
              <a:p>
                <a:pPr marL="0" indent="0" algn="just">
                  <a:buNone/>
                </a:pPr>
                <a:r>
                  <a:rPr lang="en-US" sz="2000" b="1" dirty="0"/>
                  <a:t>ALL: </a:t>
                </a:r>
                <a:r>
                  <a:rPr lang="en-US" sz="2000" dirty="0"/>
                  <a:t>Follow</a:t>
                </a:r>
                <a:r>
                  <a:rPr lang="en-US" sz="2000" b="1" dirty="0"/>
                  <a:t> </a:t>
                </a:r>
                <a:r>
                  <a:rPr lang="en-US" sz="2000" dirty="0"/>
                  <a:t>instructor, that will show how to 1) plot mode, 2) explore the results (neff …)</a:t>
                </a:r>
              </a:p>
              <a:p>
                <a:pPr algn="just"/>
                <a:endParaRPr lang="en-US" sz="2000" b="1" i="1" u="sng" dirty="0"/>
              </a:p>
              <a:p>
                <a:pPr algn="just"/>
                <a:endParaRPr lang="en-US" sz="2000" kern="0" dirty="0">
                  <a:solidFill>
                    <a:sysClr val="windowText" lastClr="000000"/>
                  </a:solidFill>
                </a:endParaRPr>
              </a:p>
            </p:txBody>
          </p:sp>
        </mc:Choice>
        <mc:Fallback xmlns="">
          <p:sp>
            <p:nvSpPr>
              <p:cNvPr id="4" name="Marcador de texto 2">
                <a:extLst>
                  <a:ext uri="{FF2B5EF4-FFF2-40B4-BE49-F238E27FC236}">
                    <a16:creationId xmlns:a16="http://schemas.microsoft.com/office/drawing/2014/main" id="{D838A93A-BFC8-0124-93CE-FDC193435A0C}"/>
                  </a:ext>
                </a:extLst>
              </p:cNvPr>
              <p:cNvSpPr txBox="1">
                <a:spLocks noRot="1" noChangeAspect="1" noMove="1" noResize="1" noEditPoints="1" noAdjustHandles="1" noChangeArrowheads="1" noChangeShapeType="1" noTextEdit="1"/>
              </p:cNvSpPr>
              <p:nvPr/>
            </p:nvSpPr>
            <p:spPr>
              <a:xfrm>
                <a:off x="608012" y="1295400"/>
                <a:ext cx="11048999" cy="4958137"/>
              </a:xfrm>
              <a:prstGeom prst="rect">
                <a:avLst/>
              </a:prstGeom>
              <a:blipFill>
                <a:blip r:embed="rId5"/>
                <a:stretch>
                  <a:fillRect l="-607" t="-738" r="-552"/>
                </a:stretch>
              </a:blipFill>
            </p:spPr>
            <p:txBody>
              <a:bodyPr/>
              <a:lstStyle/>
              <a:p>
                <a:r>
                  <a:rPr lang="es-ES">
                    <a:noFill/>
                  </a:rPr>
                  <a:t> </a:t>
                </a:r>
              </a:p>
            </p:txBody>
          </p:sp>
        </mc:Fallback>
      </mc:AlternateContent>
      <p:sp>
        <p:nvSpPr>
          <p:cNvPr id="2" name="CuadroTexto 1">
            <a:extLst>
              <a:ext uri="{FF2B5EF4-FFF2-40B4-BE49-F238E27FC236}">
                <a16:creationId xmlns:a16="http://schemas.microsoft.com/office/drawing/2014/main" id="{FDE3A197-9508-F9F1-1FEB-FF883D78C151}"/>
              </a:ext>
            </a:extLst>
          </p:cNvPr>
          <p:cNvSpPr txBox="1"/>
          <p:nvPr/>
        </p:nvSpPr>
        <p:spPr>
          <a:xfrm>
            <a:off x="609441" y="4860334"/>
            <a:ext cx="11199971" cy="276999"/>
          </a:xfrm>
          <a:prstGeom prst="rect">
            <a:avLst/>
          </a:prstGeom>
          <a:solidFill>
            <a:schemeClr val="bg1">
              <a:lumMod val="95000"/>
            </a:schemeClr>
          </a:solidFill>
          <a:ln w="28575">
            <a:solidFill>
              <a:srgbClr val="E0700D"/>
            </a:solidFill>
          </a:ln>
        </p:spPr>
        <p:txBody>
          <a:bodyPr wrap="square" rtlCol="0">
            <a:spAutoFit/>
          </a:bodyPr>
          <a:lstStyle/>
          <a:p>
            <a:pPr algn="just"/>
            <a:r>
              <a:rPr lang="en-US" sz="1200" b="1" dirty="0">
                <a:latin typeface="Arial" panose="020B0604020202020204" pitchFamily="34" charset="0"/>
                <a:cs typeface="Arial" panose="020B0604020202020204" pitchFamily="34" charset="0"/>
              </a:rPr>
              <a:t>Document all your results (neff, plot fields of different modes, comparison between different polarizations…)</a:t>
            </a:r>
          </a:p>
        </p:txBody>
      </p:sp>
    </p:spTree>
    <p:extLst>
      <p:ext uri="{BB962C8B-B14F-4D97-AF65-F5344CB8AC3E}">
        <p14:creationId xmlns:p14="http://schemas.microsoft.com/office/powerpoint/2010/main" val="180245150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F289AD-908F-7F89-3942-BB5B1DC37D14}"/>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4AEDB268-3E4F-B345-43EA-60F88B53B83C}"/>
              </a:ext>
            </a:extLst>
          </p:cNvPr>
          <p:cNvSpPr txBox="1">
            <a:spLocks noGrp="1"/>
          </p:cNvSpPr>
          <p:nvPr>
            <p:ph type="title"/>
          </p:nvPr>
        </p:nvSpPr>
        <p:spPr>
          <a:xfrm>
            <a:off x="685800" y="408883"/>
            <a:ext cx="10994410" cy="397545"/>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#5 – Multimode Interference (MMI) Coupler cross-section</a:t>
            </a:r>
            <a:endParaRPr lang="en-US" sz="2500" b="0" dirty="0">
              <a:latin typeface="+mj-lt"/>
              <a:cs typeface="Lucida Sans"/>
            </a:endParaRPr>
          </a:p>
        </p:txBody>
      </p:sp>
      <p:pic>
        <p:nvPicPr>
          <p:cNvPr id="83" name="Gráfico 82">
            <a:extLst>
              <a:ext uri="{FF2B5EF4-FFF2-40B4-BE49-F238E27FC236}">
                <a16:creationId xmlns:a16="http://schemas.microsoft.com/office/drawing/2014/main" id="{E4792179-A094-9482-A6BB-506FB7CDA7C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527B6230-7BCA-7786-8839-B843A7D9709D}"/>
              </a:ext>
            </a:extLst>
          </p:cNvPr>
          <p:cNvSpPr>
            <a:spLocks noGrp="1"/>
          </p:cNvSpPr>
          <p:nvPr>
            <p:ph type="sldNum" sz="quarter" idx="7"/>
          </p:nvPr>
        </p:nvSpPr>
        <p:spPr/>
        <p:txBody>
          <a:bodyPr/>
          <a:lstStyle/>
          <a:p>
            <a:fld id="{B6F15528-21DE-4FAA-801E-634DDDAF4B2B}" type="slidenum">
              <a:rPr lang="es-ES" smtClean="0"/>
              <a:t>14</a:t>
            </a:fld>
            <a:endParaRPr lang="es-ES"/>
          </a:p>
        </p:txBody>
      </p:sp>
      <p:sp>
        <p:nvSpPr>
          <p:cNvPr id="3" name="Marcador de pie de página 2">
            <a:extLst>
              <a:ext uri="{FF2B5EF4-FFF2-40B4-BE49-F238E27FC236}">
                <a16:creationId xmlns:a16="http://schemas.microsoft.com/office/drawing/2014/main" id="{53F18D72-2C90-8F5F-EF8A-6E1339E9B9FE}"/>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2" name="CuadroTexto 1">
            <a:extLst>
              <a:ext uri="{FF2B5EF4-FFF2-40B4-BE49-F238E27FC236}">
                <a16:creationId xmlns:a16="http://schemas.microsoft.com/office/drawing/2014/main" id="{5B430834-1D22-C132-FBF9-71CFEC71CBCF}"/>
              </a:ext>
            </a:extLst>
          </p:cNvPr>
          <p:cNvSpPr txBox="1"/>
          <p:nvPr/>
        </p:nvSpPr>
        <p:spPr>
          <a:xfrm>
            <a:off x="583019" y="4009251"/>
            <a:ext cx="11199971" cy="2185214"/>
          </a:xfrm>
          <a:prstGeom prst="rect">
            <a:avLst/>
          </a:prstGeom>
          <a:solidFill>
            <a:schemeClr val="bg1">
              <a:lumMod val="95000"/>
            </a:schemeClr>
          </a:solidFill>
          <a:ln w="28575">
            <a:solidFill>
              <a:srgbClr val="E0700D"/>
            </a:solidFill>
          </a:ln>
        </p:spPr>
        <p:txBody>
          <a:bodyPr wrap="square" rtlCol="0">
            <a:spAutoFit/>
          </a:bodyPr>
          <a:lstStyle/>
          <a:p>
            <a:pPr algn="just"/>
            <a:endParaRPr lang="en-US" sz="1200" dirty="0">
              <a:latin typeface="Arial" panose="020B0604020202020204" pitchFamily="34" charset="0"/>
              <a:cs typeface="Arial" panose="020B0604020202020204" pitchFamily="34" charset="0"/>
            </a:endParaRPr>
          </a:p>
          <a:p>
            <a:pPr marL="171450" indent="-171450">
              <a:buFont typeface="Arial" panose="020B0604020202020204" pitchFamily="34" charset="0"/>
              <a:buChar char="•"/>
            </a:pPr>
            <a:r>
              <a:rPr lang="es-ES" sz="1600" dirty="0"/>
              <a:t>Se ha simulado la sección transversal del MMI con anchura 12 </a:t>
            </a:r>
            <a:r>
              <a:rPr lang="es-ES" sz="1600" dirty="0" err="1"/>
              <a:t>um</a:t>
            </a:r>
            <a:r>
              <a:rPr lang="es-ES" sz="1600" dirty="0"/>
              <a:t>, espesor 300 nm, guía </a:t>
            </a:r>
            <a:r>
              <a:rPr lang="es-ES" sz="1600" dirty="0" err="1"/>
              <a:t>deep-etched</a:t>
            </a:r>
            <a:r>
              <a:rPr lang="es-ES" sz="1600" dirty="0"/>
              <a:t> y lambda = 1.55 </a:t>
            </a:r>
            <a:r>
              <a:rPr lang="es-ES" sz="1600" dirty="0" err="1"/>
              <a:t>um</a:t>
            </a:r>
            <a:r>
              <a:rPr lang="es-ES" sz="1600" dirty="0"/>
              <a:t> (parámetros del enunciado)</a:t>
            </a:r>
          </a:p>
          <a:p>
            <a:pPr marL="171450" indent="-171450">
              <a:buFont typeface="Arial" panose="020B0604020202020204" pitchFamily="34" charset="0"/>
              <a:buChar char="•"/>
            </a:pPr>
            <a:r>
              <a:rPr lang="es-ES" sz="1600" dirty="0"/>
              <a:t>Al ser una guía mucho más ancha que las guías de entrada/salida, aparecen varios modos guiados. </a:t>
            </a:r>
          </a:p>
          <a:p>
            <a:pPr marL="171450" indent="-171450">
              <a:buFont typeface="Arial" panose="020B0604020202020204" pitchFamily="34" charset="0"/>
              <a:buChar char="•"/>
            </a:pPr>
            <a:r>
              <a:rPr lang="es-ES" sz="1600" dirty="0"/>
              <a:t>En las imágenes se observan distintos modos Ex</a:t>
            </a:r>
          </a:p>
          <a:p>
            <a:pPr marL="628650" lvl="1" indent="-171450">
              <a:buFont typeface="Arial" panose="020B0604020202020204" pitchFamily="34" charset="0"/>
              <a:buChar char="•"/>
            </a:pPr>
            <a:r>
              <a:rPr lang="es-ES" sz="1600" dirty="0"/>
              <a:t>el modo 0 es el modo fundamental, el modo 1 ya presenta más variación transversal y el modo 7 muestra claramente un modo de orden superior.</a:t>
            </a:r>
          </a:p>
          <a:p>
            <a:pPr marL="171450" indent="-171450">
              <a:buFont typeface="Arial" panose="020B0604020202020204" pitchFamily="34" charset="0"/>
              <a:buChar char="•"/>
            </a:pPr>
            <a:r>
              <a:rPr lang="es-ES" sz="1600" dirty="0"/>
              <a:t>Esto confirma que la sección MMI es </a:t>
            </a:r>
            <a:r>
              <a:rPr lang="es-ES" sz="1600" b="1" dirty="0"/>
              <a:t>multimodo</a:t>
            </a:r>
            <a:r>
              <a:rPr lang="es-ES" sz="1600" dirty="0"/>
              <a:t>.</a:t>
            </a:r>
            <a:endParaRPr lang="en-US" sz="16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pic>
        <p:nvPicPr>
          <p:cNvPr id="6" name="Imagen 5">
            <a:extLst>
              <a:ext uri="{FF2B5EF4-FFF2-40B4-BE49-F238E27FC236}">
                <a16:creationId xmlns:a16="http://schemas.microsoft.com/office/drawing/2014/main" id="{F784731B-7546-1465-ECF9-4F9F087B7C9D}"/>
              </a:ext>
            </a:extLst>
          </p:cNvPr>
          <p:cNvPicPr>
            <a:picLocks noChangeAspect="1"/>
          </p:cNvPicPr>
          <p:nvPr/>
        </p:nvPicPr>
        <p:blipFill>
          <a:blip r:embed="rId4"/>
          <a:stretch>
            <a:fillRect/>
          </a:stretch>
        </p:blipFill>
        <p:spPr>
          <a:xfrm>
            <a:off x="558073" y="1180599"/>
            <a:ext cx="3429000" cy="2447488"/>
          </a:xfrm>
          <a:prstGeom prst="rect">
            <a:avLst/>
          </a:prstGeom>
        </p:spPr>
      </p:pic>
      <p:pic>
        <p:nvPicPr>
          <p:cNvPr id="8" name="Imagen 7">
            <a:extLst>
              <a:ext uri="{FF2B5EF4-FFF2-40B4-BE49-F238E27FC236}">
                <a16:creationId xmlns:a16="http://schemas.microsoft.com/office/drawing/2014/main" id="{D5EEB0C8-6B01-A610-CF92-A3FC35988ED5}"/>
              </a:ext>
            </a:extLst>
          </p:cNvPr>
          <p:cNvPicPr>
            <a:picLocks noChangeAspect="1"/>
          </p:cNvPicPr>
          <p:nvPr/>
        </p:nvPicPr>
        <p:blipFill>
          <a:blip r:embed="rId5"/>
          <a:stretch>
            <a:fillRect/>
          </a:stretch>
        </p:blipFill>
        <p:spPr>
          <a:xfrm>
            <a:off x="4379519" y="1202370"/>
            <a:ext cx="3429000" cy="2399067"/>
          </a:xfrm>
          <a:prstGeom prst="rect">
            <a:avLst/>
          </a:prstGeom>
        </p:spPr>
      </p:pic>
      <p:pic>
        <p:nvPicPr>
          <p:cNvPr id="10" name="Imagen 9">
            <a:extLst>
              <a:ext uri="{FF2B5EF4-FFF2-40B4-BE49-F238E27FC236}">
                <a16:creationId xmlns:a16="http://schemas.microsoft.com/office/drawing/2014/main" id="{32D967AA-4A1E-C430-0682-556297E2F674}"/>
              </a:ext>
            </a:extLst>
          </p:cNvPr>
          <p:cNvPicPr>
            <a:picLocks noChangeAspect="1"/>
          </p:cNvPicPr>
          <p:nvPr/>
        </p:nvPicPr>
        <p:blipFill>
          <a:blip r:embed="rId6"/>
          <a:stretch>
            <a:fillRect/>
          </a:stretch>
        </p:blipFill>
        <p:spPr>
          <a:xfrm>
            <a:off x="8264371" y="1180599"/>
            <a:ext cx="3369556" cy="2357477"/>
          </a:xfrm>
          <a:prstGeom prst="rect">
            <a:avLst/>
          </a:prstGeom>
        </p:spPr>
      </p:pic>
    </p:spTree>
    <p:extLst>
      <p:ext uri="{BB962C8B-B14F-4D97-AF65-F5344CB8AC3E}">
        <p14:creationId xmlns:p14="http://schemas.microsoft.com/office/powerpoint/2010/main" val="279329704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18D109-B84C-98F0-B0BA-76EB34E7E8B6}"/>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B4A805F0-782C-DF1D-29B7-3D37F239E715}"/>
              </a:ext>
            </a:extLst>
          </p:cNvPr>
          <p:cNvSpPr txBox="1">
            <a:spLocks noGrp="1"/>
          </p:cNvSpPr>
          <p:nvPr>
            <p:ph type="title"/>
          </p:nvPr>
        </p:nvSpPr>
        <p:spPr>
          <a:xfrm>
            <a:off x="685800" y="408883"/>
            <a:ext cx="10994410" cy="397545"/>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#5 – Multimode Interference (MMI) Coupler cross-section</a:t>
            </a:r>
            <a:endParaRPr lang="en-US" sz="2500" b="0" dirty="0">
              <a:latin typeface="+mj-lt"/>
              <a:cs typeface="Lucida Sans"/>
            </a:endParaRPr>
          </a:p>
        </p:txBody>
      </p:sp>
      <p:pic>
        <p:nvPicPr>
          <p:cNvPr id="83" name="Gráfico 82">
            <a:extLst>
              <a:ext uri="{FF2B5EF4-FFF2-40B4-BE49-F238E27FC236}">
                <a16:creationId xmlns:a16="http://schemas.microsoft.com/office/drawing/2014/main" id="{F3569801-8960-F6E1-84AF-ADB48996695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FF801115-046C-3B73-AAEF-88DB00A4261E}"/>
              </a:ext>
            </a:extLst>
          </p:cNvPr>
          <p:cNvSpPr>
            <a:spLocks noGrp="1"/>
          </p:cNvSpPr>
          <p:nvPr>
            <p:ph type="sldNum" sz="quarter" idx="7"/>
          </p:nvPr>
        </p:nvSpPr>
        <p:spPr/>
        <p:txBody>
          <a:bodyPr/>
          <a:lstStyle/>
          <a:p>
            <a:fld id="{B6F15528-21DE-4FAA-801E-634DDDAF4B2B}" type="slidenum">
              <a:rPr lang="es-ES" smtClean="0"/>
              <a:t>15</a:t>
            </a:fld>
            <a:endParaRPr lang="es-ES"/>
          </a:p>
        </p:txBody>
      </p:sp>
      <p:sp>
        <p:nvSpPr>
          <p:cNvPr id="3" name="Marcador de pie de página 2">
            <a:extLst>
              <a:ext uri="{FF2B5EF4-FFF2-40B4-BE49-F238E27FC236}">
                <a16:creationId xmlns:a16="http://schemas.microsoft.com/office/drawing/2014/main" id="{6DFD3C14-AE40-60BA-09F8-EC772972F7BE}"/>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2" name="CuadroTexto 1">
            <a:extLst>
              <a:ext uri="{FF2B5EF4-FFF2-40B4-BE49-F238E27FC236}">
                <a16:creationId xmlns:a16="http://schemas.microsoft.com/office/drawing/2014/main" id="{62904698-82D3-4E54-44E9-2B2CCDBA8BB0}"/>
              </a:ext>
            </a:extLst>
          </p:cNvPr>
          <p:cNvSpPr txBox="1"/>
          <p:nvPr/>
        </p:nvSpPr>
        <p:spPr>
          <a:xfrm>
            <a:off x="583019" y="4009251"/>
            <a:ext cx="11199971" cy="1754326"/>
          </a:xfrm>
          <a:prstGeom prst="rect">
            <a:avLst/>
          </a:prstGeom>
          <a:solidFill>
            <a:schemeClr val="bg1">
              <a:lumMod val="95000"/>
            </a:schemeClr>
          </a:solidFill>
          <a:ln w="28575">
            <a:solidFill>
              <a:srgbClr val="E0700D"/>
            </a:solidFill>
          </a:ln>
        </p:spPr>
        <p:txBody>
          <a:bodyPr wrap="square" rtlCol="0">
            <a:spAutoFit/>
          </a:bodyPr>
          <a:lstStyle/>
          <a:p>
            <a:pPr marL="285750" indent="-285750">
              <a:buFont typeface="Arial" panose="020B0604020202020204" pitchFamily="34" charset="0"/>
              <a:buChar char="•"/>
            </a:pPr>
            <a:r>
              <a:rPr lang="es-ES" sz="1600" dirty="0"/>
              <a:t>Los primeros modos calculados son principalmente TE, con </a:t>
            </a:r>
            <a:r>
              <a:rPr lang="es-ES" sz="1600" dirty="0" err="1"/>
              <a:t>fraction_TE</a:t>
            </a:r>
            <a:r>
              <a:rPr lang="es-ES" sz="1600" dirty="0"/>
              <a:t> muy próxima a 1. </a:t>
            </a:r>
          </a:p>
          <a:p>
            <a:pPr marL="285750" indent="-285750">
              <a:buFont typeface="Arial" panose="020B0604020202020204" pitchFamily="34" charset="0"/>
              <a:buChar char="•"/>
            </a:pPr>
            <a:r>
              <a:rPr lang="es-ES" sz="1600" dirty="0"/>
              <a:t>El primer modo claramente TM aparece más adelante, por ejemplo el modo 9, con </a:t>
            </a:r>
            <a:r>
              <a:rPr lang="es-ES" sz="1600" dirty="0" err="1"/>
              <a:t>fraction_TE</a:t>
            </a:r>
            <a:r>
              <a:rPr lang="es-ES" sz="1600" dirty="0"/>
              <a:t> casi 0.</a:t>
            </a:r>
          </a:p>
          <a:p>
            <a:pPr marL="285750" indent="-285750">
              <a:buFont typeface="Arial" panose="020B0604020202020204" pitchFamily="34" charset="0"/>
              <a:buChar char="•"/>
            </a:pPr>
            <a:r>
              <a:rPr lang="es-ES" sz="1600" dirty="0"/>
              <a:t>Para calcular la longitud </a:t>
            </a:r>
            <a:r>
              <a:rPr lang="es-ES" sz="1600" dirty="0" err="1"/>
              <a:t>Lpi</a:t>
            </a:r>
            <a:r>
              <a:rPr lang="es-ES" sz="1600" dirty="0"/>
              <a:t> se usan los dos primeros modos:</a:t>
            </a:r>
          </a:p>
          <a:p>
            <a:pPr marL="742950" lvl="1" indent="-285750">
              <a:buFont typeface="Arial" panose="020B0604020202020204" pitchFamily="34" charset="0"/>
              <a:buChar char="•"/>
            </a:pPr>
            <a:r>
              <a:rPr lang="es-ES" sz="1600" dirty="0" err="1"/>
              <a:t>Lpi</a:t>
            </a:r>
            <a:r>
              <a:rPr lang="es-ES" sz="1600" dirty="0"/>
              <a:t> = 0.5* lambda/ (nef0 - neff1)</a:t>
            </a:r>
          </a:p>
          <a:p>
            <a:pPr marL="1200150" lvl="2" indent="-285750">
              <a:buFont typeface="Arial" panose="020B0604020202020204" pitchFamily="34" charset="0"/>
              <a:buChar char="•"/>
            </a:pPr>
            <a:r>
              <a:rPr lang="es-ES" sz="1600" dirty="0"/>
              <a:t>Con neff0 = 1.678660 y neff1 = 1.675127 se obtiene:</a:t>
            </a:r>
          </a:p>
          <a:p>
            <a:pPr marL="1657350" lvl="3" indent="-285750">
              <a:buFont typeface="Arial" panose="020B0604020202020204" pitchFamily="34" charset="0"/>
              <a:buChar char="•"/>
            </a:pPr>
            <a:r>
              <a:rPr lang="es-ES" sz="1600" dirty="0" err="1"/>
              <a:t>Lpi</a:t>
            </a:r>
            <a:r>
              <a:rPr lang="es-ES" sz="1600" dirty="0"/>
              <a:t> = 219.41 </a:t>
            </a:r>
            <a:r>
              <a:rPr lang="es-ES" sz="1600" dirty="0" err="1"/>
              <a:t>um</a:t>
            </a:r>
            <a:r>
              <a:rPr lang="es-ES" sz="1600" dirty="0"/>
              <a:t>	</a:t>
            </a:r>
          </a:p>
          <a:p>
            <a:pPr algn="just"/>
            <a:endParaRPr lang="en-US" sz="1200" dirty="0">
              <a:latin typeface="Arial" panose="020B0604020202020204" pitchFamily="34" charset="0"/>
              <a:cs typeface="Arial" panose="020B0604020202020204" pitchFamily="34" charset="0"/>
            </a:endParaRPr>
          </a:p>
        </p:txBody>
      </p:sp>
      <p:pic>
        <p:nvPicPr>
          <p:cNvPr id="5" name="Imagen 4">
            <a:extLst>
              <a:ext uri="{FF2B5EF4-FFF2-40B4-BE49-F238E27FC236}">
                <a16:creationId xmlns:a16="http://schemas.microsoft.com/office/drawing/2014/main" id="{E2CF1C25-708B-BBD1-F805-F1FA4E8D8833}"/>
              </a:ext>
            </a:extLst>
          </p:cNvPr>
          <p:cNvPicPr>
            <a:picLocks noChangeAspect="1"/>
          </p:cNvPicPr>
          <p:nvPr/>
        </p:nvPicPr>
        <p:blipFill>
          <a:blip r:embed="rId4"/>
          <a:srcRect b="27219"/>
          <a:stretch>
            <a:fillRect/>
          </a:stretch>
        </p:blipFill>
        <p:spPr>
          <a:xfrm>
            <a:off x="1534804" y="988201"/>
            <a:ext cx="4648200" cy="2720419"/>
          </a:xfrm>
          <a:prstGeom prst="rect">
            <a:avLst/>
          </a:prstGeom>
        </p:spPr>
      </p:pic>
      <p:pic>
        <p:nvPicPr>
          <p:cNvPr id="9" name="Imagen 8">
            <a:extLst>
              <a:ext uri="{FF2B5EF4-FFF2-40B4-BE49-F238E27FC236}">
                <a16:creationId xmlns:a16="http://schemas.microsoft.com/office/drawing/2014/main" id="{05ECD6B6-25F9-0EA0-0E2D-E1645DD28661}"/>
              </a:ext>
            </a:extLst>
          </p:cNvPr>
          <p:cNvPicPr>
            <a:picLocks noChangeAspect="1"/>
          </p:cNvPicPr>
          <p:nvPr/>
        </p:nvPicPr>
        <p:blipFill>
          <a:blip r:embed="rId4"/>
          <a:srcRect t="70642" r="53186"/>
          <a:stretch>
            <a:fillRect/>
          </a:stretch>
        </p:blipFill>
        <p:spPr>
          <a:xfrm>
            <a:off x="6183004" y="986592"/>
            <a:ext cx="3128636" cy="1577754"/>
          </a:xfrm>
          <a:prstGeom prst="rect">
            <a:avLst/>
          </a:prstGeom>
        </p:spPr>
      </p:pic>
      <p:pic>
        <p:nvPicPr>
          <p:cNvPr id="12" name="Imagen 11">
            <a:extLst>
              <a:ext uri="{FF2B5EF4-FFF2-40B4-BE49-F238E27FC236}">
                <a16:creationId xmlns:a16="http://schemas.microsoft.com/office/drawing/2014/main" id="{EDBF07B3-EBA4-0758-AD29-D0A423835C7C}"/>
              </a:ext>
            </a:extLst>
          </p:cNvPr>
          <p:cNvPicPr>
            <a:picLocks noChangeAspect="1"/>
          </p:cNvPicPr>
          <p:nvPr/>
        </p:nvPicPr>
        <p:blipFill>
          <a:blip r:embed="rId5"/>
          <a:stretch>
            <a:fillRect/>
          </a:stretch>
        </p:blipFill>
        <p:spPr>
          <a:xfrm>
            <a:off x="6335404" y="2708096"/>
            <a:ext cx="4038600" cy="1154527"/>
          </a:xfrm>
          <a:prstGeom prst="rect">
            <a:avLst/>
          </a:prstGeom>
        </p:spPr>
      </p:pic>
    </p:spTree>
    <p:extLst>
      <p:ext uri="{BB962C8B-B14F-4D97-AF65-F5344CB8AC3E}">
        <p14:creationId xmlns:p14="http://schemas.microsoft.com/office/powerpoint/2010/main" val="377258648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BF7C0E-2677-BADF-D636-6F9B71E665FA}"/>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2B8D44BF-A3B5-6BED-C39C-FA8260E83536}"/>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#6 – 6.1 2x2 Multimode Interference Coupler </a:t>
            </a:r>
            <a:br>
              <a:rPr lang="en-US" sz="2500" dirty="0"/>
            </a:br>
            <a:r>
              <a:rPr lang="en-US" b="0" dirty="0"/>
              <a:t>Wavelength 1.55 µm, </a:t>
            </a:r>
            <a:r>
              <a:rPr lang="en-US" b="0" dirty="0" err="1"/>
              <a:t>wMMI</a:t>
            </a:r>
            <a:r>
              <a:rPr lang="en-US" b="0" dirty="0"/>
              <a:t> = 6.6 µm</a:t>
            </a:r>
            <a:endParaRPr lang="en-US" sz="2500" b="0" dirty="0">
              <a:latin typeface="+mj-lt"/>
              <a:cs typeface="Lucida Sans"/>
            </a:endParaRPr>
          </a:p>
        </p:txBody>
      </p:sp>
      <p:pic>
        <p:nvPicPr>
          <p:cNvPr id="83" name="Gráfico 82">
            <a:extLst>
              <a:ext uri="{FF2B5EF4-FFF2-40B4-BE49-F238E27FC236}">
                <a16:creationId xmlns:a16="http://schemas.microsoft.com/office/drawing/2014/main" id="{5DFCF1AD-6B06-F914-AC0B-80F0ED838EF9}"/>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4A656CCE-66E0-EAE0-5C63-DF1315DF6299}"/>
              </a:ext>
            </a:extLst>
          </p:cNvPr>
          <p:cNvSpPr>
            <a:spLocks noGrp="1"/>
          </p:cNvSpPr>
          <p:nvPr>
            <p:ph type="sldNum" sz="quarter" idx="7"/>
          </p:nvPr>
        </p:nvSpPr>
        <p:spPr/>
        <p:txBody>
          <a:bodyPr/>
          <a:lstStyle/>
          <a:p>
            <a:fld id="{B6F15528-21DE-4FAA-801E-634DDDAF4B2B}" type="slidenum">
              <a:rPr lang="es-ES" smtClean="0"/>
              <a:t>16</a:t>
            </a:fld>
            <a:endParaRPr lang="es-ES"/>
          </a:p>
        </p:txBody>
      </p:sp>
      <p:sp>
        <p:nvSpPr>
          <p:cNvPr id="3" name="Marcador de pie de página 2">
            <a:extLst>
              <a:ext uri="{FF2B5EF4-FFF2-40B4-BE49-F238E27FC236}">
                <a16:creationId xmlns:a16="http://schemas.microsoft.com/office/drawing/2014/main" id="{D3AB6581-C493-80EB-A67F-5289454DAA28}"/>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2" name="CuadroTexto 1">
            <a:extLst>
              <a:ext uri="{FF2B5EF4-FFF2-40B4-BE49-F238E27FC236}">
                <a16:creationId xmlns:a16="http://schemas.microsoft.com/office/drawing/2014/main" id="{B5029729-ADF3-3B30-4FF9-83BE1DB82BD7}"/>
              </a:ext>
            </a:extLst>
          </p:cNvPr>
          <p:cNvSpPr txBox="1"/>
          <p:nvPr/>
        </p:nvSpPr>
        <p:spPr>
          <a:xfrm>
            <a:off x="609441" y="4819471"/>
            <a:ext cx="11199971" cy="1354217"/>
          </a:xfrm>
          <a:prstGeom prst="rect">
            <a:avLst/>
          </a:prstGeom>
          <a:solidFill>
            <a:schemeClr val="bg1">
              <a:lumMod val="95000"/>
            </a:schemeClr>
          </a:solidFill>
          <a:ln w="28575">
            <a:solidFill>
              <a:srgbClr val="E0700D"/>
            </a:solidFill>
          </a:ln>
        </p:spPr>
        <p:txBody>
          <a:bodyPr wrap="square" rtlCol="0">
            <a:spAutoFit/>
          </a:bodyPr>
          <a:lstStyle/>
          <a:p>
            <a:pPr algn="just"/>
            <a:r>
              <a:rPr lang="en-US" sz="1200" b="1" dirty="0">
                <a:latin typeface="Arial" panose="020B0604020202020204" pitchFamily="34" charset="0"/>
                <a:cs typeface="Arial" panose="020B0604020202020204" pitchFamily="34" charset="0"/>
              </a:rPr>
              <a:t>Comment results (Coupling relationship, </a:t>
            </a:r>
            <a:r>
              <a:rPr lang="en-US" sz="1200" b="1" dirty="0" err="1">
                <a:latin typeface="Arial" panose="020B0604020202020204" pitchFamily="34" charset="0"/>
                <a:cs typeface="Arial" panose="020B0604020202020204" pitchFamily="34" charset="0"/>
              </a:rPr>
              <a:t>Lpi</a:t>
            </a:r>
            <a:r>
              <a:rPr lang="en-US" sz="1200" b="1" dirty="0">
                <a:latin typeface="Arial" panose="020B0604020202020204" pitchFamily="34" charset="0"/>
                <a:cs typeface="Arial" panose="020B0604020202020204" pitchFamily="34" charset="0"/>
              </a:rPr>
              <a:t>,  losses, comparison with Directional Coupler… )</a:t>
            </a:r>
          </a:p>
          <a:p>
            <a:pPr marL="285750" indent="-285750">
              <a:buFont typeface="Arial" panose="020B0604020202020204" pitchFamily="34" charset="0"/>
              <a:buChar char="•"/>
            </a:pPr>
            <a:r>
              <a:rPr lang="es-ES" sz="1400" dirty="0"/>
              <a:t>MMI 2x2 con </a:t>
            </a:r>
            <a:r>
              <a:rPr lang="es-ES" sz="1400" dirty="0" err="1"/>
              <a:t>wMMI</a:t>
            </a:r>
            <a:r>
              <a:rPr lang="es-ES" sz="1400" dirty="0"/>
              <a:t> = 6.6 </a:t>
            </a:r>
            <a:r>
              <a:rPr lang="es-ES" sz="1400" dirty="0" err="1"/>
              <a:t>um</a:t>
            </a:r>
            <a:r>
              <a:rPr lang="es-ES" sz="1400" dirty="0"/>
              <a:t>. Las entradas y salidas se colocan en -W/6 y +W/6, y la longitud usada es L = </a:t>
            </a:r>
            <a:r>
              <a:rPr lang="es-ES" sz="1400" dirty="0" err="1"/>
              <a:t>Lpi</a:t>
            </a:r>
            <a:r>
              <a:rPr lang="es-ES" sz="1400" dirty="0"/>
              <a:t>/2 = 34.52 </a:t>
            </a:r>
            <a:r>
              <a:rPr lang="es-ES" sz="1400" dirty="0" err="1"/>
              <a:t>um</a:t>
            </a:r>
            <a:r>
              <a:rPr lang="es-ES" sz="1400" dirty="0"/>
              <a:t>.</a:t>
            </a:r>
          </a:p>
          <a:p>
            <a:pPr marL="285750" indent="-285750">
              <a:buFont typeface="Arial" panose="020B0604020202020204" pitchFamily="34" charset="0"/>
              <a:buChar char="•"/>
            </a:pPr>
            <a:r>
              <a:rPr lang="es-ES" sz="1400" dirty="0"/>
              <a:t>La potencia se reparte casi al 50/50 entre las dos salidas. El resultado obtenido es 0.5152 / 0.4848, por lo que el comportamiento es bastante cercano al ideal.</a:t>
            </a:r>
          </a:p>
          <a:p>
            <a:pPr marL="285750" indent="-285750">
              <a:buFont typeface="Arial" panose="020B0604020202020204" pitchFamily="34" charset="0"/>
              <a:buChar char="•"/>
            </a:pPr>
            <a:r>
              <a:rPr lang="es-ES" sz="1400" dirty="0"/>
              <a:t>Hay unas pérdidas de 0.4217 dB y un pequeño desbalance. En este caso el MMI reparte la potencia por interferencia entre varios modos, no por acoplo directo entre dos guías como en los acopladores direccionales anteriores.</a:t>
            </a:r>
          </a:p>
        </p:txBody>
      </p:sp>
      <p:sp>
        <p:nvSpPr>
          <p:cNvPr id="7" name="Rectángulo 6">
            <a:extLst>
              <a:ext uri="{FF2B5EF4-FFF2-40B4-BE49-F238E27FC236}">
                <a16:creationId xmlns:a16="http://schemas.microsoft.com/office/drawing/2014/main" id="{98DE5FDA-4E91-E843-E84A-1467BFAA9986}"/>
              </a:ext>
            </a:extLst>
          </p:cNvPr>
          <p:cNvSpPr/>
          <p:nvPr/>
        </p:nvSpPr>
        <p:spPr>
          <a:xfrm>
            <a:off x="609441" y="1377510"/>
            <a:ext cx="11199971"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Imagen 4">
            <a:extLst>
              <a:ext uri="{FF2B5EF4-FFF2-40B4-BE49-F238E27FC236}">
                <a16:creationId xmlns:a16="http://schemas.microsoft.com/office/drawing/2014/main" id="{D57DCD13-7D30-E29D-8B93-CBA787EFE761}"/>
              </a:ext>
            </a:extLst>
          </p:cNvPr>
          <p:cNvPicPr>
            <a:picLocks noChangeAspect="1"/>
          </p:cNvPicPr>
          <p:nvPr/>
        </p:nvPicPr>
        <p:blipFill>
          <a:blip r:embed="rId4"/>
          <a:stretch>
            <a:fillRect/>
          </a:stretch>
        </p:blipFill>
        <p:spPr>
          <a:xfrm>
            <a:off x="5397979" y="1980682"/>
            <a:ext cx="5703628" cy="2352116"/>
          </a:xfrm>
          <a:prstGeom prst="rect">
            <a:avLst/>
          </a:prstGeom>
        </p:spPr>
      </p:pic>
      <p:pic>
        <p:nvPicPr>
          <p:cNvPr id="9" name="Imagen 8">
            <a:extLst>
              <a:ext uri="{FF2B5EF4-FFF2-40B4-BE49-F238E27FC236}">
                <a16:creationId xmlns:a16="http://schemas.microsoft.com/office/drawing/2014/main" id="{487E2E0F-BB5A-D213-2BC0-B59E279F9A15}"/>
              </a:ext>
            </a:extLst>
          </p:cNvPr>
          <p:cNvPicPr>
            <a:picLocks noChangeAspect="1"/>
          </p:cNvPicPr>
          <p:nvPr/>
        </p:nvPicPr>
        <p:blipFill>
          <a:blip r:embed="rId5"/>
          <a:stretch>
            <a:fillRect/>
          </a:stretch>
        </p:blipFill>
        <p:spPr>
          <a:xfrm>
            <a:off x="1322554" y="1934220"/>
            <a:ext cx="3362312" cy="2376807"/>
          </a:xfrm>
          <a:prstGeom prst="rect">
            <a:avLst/>
          </a:prstGeom>
        </p:spPr>
      </p:pic>
      <p:pic>
        <p:nvPicPr>
          <p:cNvPr id="13" name="Imagen 12">
            <a:extLst>
              <a:ext uri="{FF2B5EF4-FFF2-40B4-BE49-F238E27FC236}">
                <a16:creationId xmlns:a16="http://schemas.microsoft.com/office/drawing/2014/main" id="{441666E8-4932-D74C-C7F3-F4C3EE751739}"/>
              </a:ext>
            </a:extLst>
          </p:cNvPr>
          <p:cNvPicPr>
            <a:picLocks noChangeAspect="1"/>
          </p:cNvPicPr>
          <p:nvPr/>
        </p:nvPicPr>
        <p:blipFill>
          <a:blip r:embed="rId6"/>
          <a:stretch>
            <a:fillRect/>
          </a:stretch>
        </p:blipFill>
        <p:spPr>
          <a:xfrm>
            <a:off x="1322554" y="1751851"/>
            <a:ext cx="2128951" cy="195317"/>
          </a:xfrm>
          <a:prstGeom prst="rect">
            <a:avLst/>
          </a:prstGeom>
        </p:spPr>
      </p:pic>
    </p:spTree>
    <p:extLst>
      <p:ext uri="{BB962C8B-B14F-4D97-AF65-F5344CB8AC3E}">
        <p14:creationId xmlns:p14="http://schemas.microsoft.com/office/powerpoint/2010/main" val="281567942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F11DBE-A482-7036-60B2-70B7E2318F46}"/>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C096193E-AB86-E3CD-BDAC-0F9156C1A3F0}"/>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#6.2 – 2x2 Multimode Interference Coupler - Optimization</a:t>
            </a:r>
            <a:br>
              <a:rPr lang="en-US" sz="2500" dirty="0"/>
            </a:br>
            <a:r>
              <a:rPr lang="en-US" b="0" dirty="0"/>
              <a:t>Wavelength 1.55 µm, </a:t>
            </a:r>
            <a:r>
              <a:rPr lang="en-US" b="0" dirty="0" err="1"/>
              <a:t>wMMI</a:t>
            </a:r>
            <a:r>
              <a:rPr lang="en-US" b="0" dirty="0"/>
              <a:t> = 6.6 µm</a:t>
            </a:r>
            <a:endParaRPr lang="en-US" sz="2500" b="0" dirty="0">
              <a:latin typeface="+mj-lt"/>
              <a:cs typeface="Lucida Sans"/>
            </a:endParaRPr>
          </a:p>
        </p:txBody>
      </p:sp>
      <p:pic>
        <p:nvPicPr>
          <p:cNvPr id="83" name="Gráfico 82">
            <a:extLst>
              <a:ext uri="{FF2B5EF4-FFF2-40B4-BE49-F238E27FC236}">
                <a16:creationId xmlns:a16="http://schemas.microsoft.com/office/drawing/2014/main" id="{2D17DCD6-D851-E62D-D95C-A9F9954602D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4891046F-11DC-B7FC-54F7-9583E688DC0E}"/>
              </a:ext>
            </a:extLst>
          </p:cNvPr>
          <p:cNvSpPr>
            <a:spLocks noGrp="1"/>
          </p:cNvSpPr>
          <p:nvPr>
            <p:ph type="sldNum" sz="quarter" idx="7"/>
          </p:nvPr>
        </p:nvSpPr>
        <p:spPr/>
        <p:txBody>
          <a:bodyPr/>
          <a:lstStyle/>
          <a:p>
            <a:fld id="{B6F15528-21DE-4FAA-801E-634DDDAF4B2B}" type="slidenum">
              <a:rPr lang="es-ES" smtClean="0"/>
              <a:t>17</a:t>
            </a:fld>
            <a:endParaRPr lang="es-ES"/>
          </a:p>
        </p:txBody>
      </p:sp>
      <p:sp>
        <p:nvSpPr>
          <p:cNvPr id="3" name="Marcador de pie de página 2">
            <a:extLst>
              <a:ext uri="{FF2B5EF4-FFF2-40B4-BE49-F238E27FC236}">
                <a16:creationId xmlns:a16="http://schemas.microsoft.com/office/drawing/2014/main" id="{4C9BAA39-017F-D602-6705-A6CF44830139}"/>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2" name="CuadroTexto 1">
            <a:extLst>
              <a:ext uri="{FF2B5EF4-FFF2-40B4-BE49-F238E27FC236}">
                <a16:creationId xmlns:a16="http://schemas.microsoft.com/office/drawing/2014/main" id="{43D7D9E5-DAC3-2BB8-7377-826863CBAD4E}"/>
              </a:ext>
            </a:extLst>
          </p:cNvPr>
          <p:cNvSpPr txBox="1"/>
          <p:nvPr/>
        </p:nvSpPr>
        <p:spPr>
          <a:xfrm>
            <a:off x="609441" y="4548107"/>
            <a:ext cx="11199971" cy="1600438"/>
          </a:xfrm>
          <a:prstGeom prst="rect">
            <a:avLst/>
          </a:prstGeom>
          <a:solidFill>
            <a:schemeClr val="bg1">
              <a:lumMod val="95000"/>
            </a:schemeClr>
          </a:solidFill>
          <a:ln w="28575">
            <a:solidFill>
              <a:srgbClr val="E0700D"/>
            </a:solidFill>
          </a:ln>
        </p:spPr>
        <p:txBody>
          <a:bodyPr wrap="square" rtlCol="0">
            <a:spAutoFit/>
          </a:bodyPr>
          <a:lstStyle/>
          <a:p>
            <a:pPr marL="285750" indent="-285750">
              <a:buFont typeface="Arial" panose="020B0604020202020204" pitchFamily="34" charset="0"/>
              <a:buChar char="•"/>
            </a:pPr>
            <a:r>
              <a:rPr lang="es-ES" sz="1400" dirty="0"/>
              <a:t>Se ha optimizado manualmente el MMI modificando la posición de las guías con </a:t>
            </a:r>
            <a:r>
              <a:rPr lang="es-ES" sz="1400" dirty="0" err="1"/>
              <a:t>dy</a:t>
            </a:r>
            <a:r>
              <a:rPr lang="es-ES" sz="1400" dirty="0"/>
              <a:t> y ajustando la longitud con </a:t>
            </a:r>
            <a:r>
              <a:rPr lang="es-ES" sz="1400" dirty="0" err="1"/>
              <a:t>dL_MMI</a:t>
            </a:r>
            <a:r>
              <a:rPr lang="es-ES" sz="1400" dirty="0"/>
              <a:t>. </a:t>
            </a:r>
          </a:p>
          <a:p>
            <a:pPr marL="285750" indent="-285750">
              <a:buFont typeface="Arial" panose="020B0604020202020204" pitchFamily="34" charset="0"/>
              <a:buChar char="•"/>
            </a:pPr>
            <a:r>
              <a:rPr lang="es-ES" sz="1400" dirty="0"/>
              <a:t>El mejor caso obtenido para este apartado es </a:t>
            </a:r>
          </a:p>
          <a:p>
            <a:pPr marL="742950" lvl="1" indent="-285750">
              <a:buFont typeface="Arial" panose="020B0604020202020204" pitchFamily="34" charset="0"/>
              <a:buChar char="•"/>
            </a:pPr>
            <a:r>
              <a:rPr lang="es-ES" sz="1400" dirty="0" err="1"/>
              <a:t>dy</a:t>
            </a:r>
            <a:r>
              <a:rPr lang="es-ES" sz="1400" dirty="0"/>
              <a:t> = 0.05 </a:t>
            </a:r>
            <a:r>
              <a:rPr lang="es-ES" sz="1400" dirty="0" err="1"/>
              <a:t>um</a:t>
            </a:r>
            <a:endParaRPr lang="es-ES" sz="1400" dirty="0"/>
          </a:p>
          <a:p>
            <a:pPr marL="742950" lvl="1" indent="-285750">
              <a:buFont typeface="Arial" panose="020B0604020202020204" pitchFamily="34" charset="0"/>
              <a:buChar char="•"/>
            </a:pPr>
            <a:r>
              <a:rPr lang="es-ES" sz="1400" dirty="0" err="1"/>
              <a:t>dL_MMI</a:t>
            </a:r>
            <a:r>
              <a:rPr lang="es-ES" sz="1400" dirty="0"/>
              <a:t> = -0.50 </a:t>
            </a:r>
            <a:r>
              <a:rPr lang="es-ES" sz="1400" dirty="0" err="1"/>
              <a:t>um</a:t>
            </a:r>
            <a:r>
              <a:rPr lang="es-ES" sz="1400" dirty="0"/>
              <a:t>.</a:t>
            </a:r>
          </a:p>
          <a:p>
            <a:pPr marL="285750" indent="-285750">
              <a:buFont typeface="Arial" panose="020B0604020202020204" pitchFamily="34" charset="0"/>
              <a:buChar char="•"/>
            </a:pPr>
            <a:r>
              <a:rPr lang="es-ES" sz="1400" dirty="0"/>
              <a:t>Comparado con el caso inicial, el reparto mejora de 0.51 /0.48 a 0.50/ 0.49. </a:t>
            </a:r>
          </a:p>
          <a:p>
            <a:pPr marL="285750" indent="-285750">
              <a:buFont typeface="Arial" panose="020B0604020202020204" pitchFamily="34" charset="0"/>
              <a:buChar char="•"/>
            </a:pPr>
            <a:r>
              <a:rPr lang="es-ES" sz="1400" dirty="0"/>
              <a:t>Además, las pérdidas bajan de 0.42 dB a 0.38 dB.</a:t>
            </a:r>
          </a:p>
          <a:p>
            <a:pPr marL="285750" indent="-285750">
              <a:buFont typeface="Arial" panose="020B0604020202020204" pitchFamily="34" charset="0"/>
              <a:buChar char="•"/>
            </a:pPr>
            <a:r>
              <a:rPr lang="es-ES" sz="1400" dirty="0"/>
              <a:t>Por tanto, este ajuste mejora tanto el </a:t>
            </a:r>
            <a:r>
              <a:rPr lang="es-ES" sz="1400" u="sng" dirty="0"/>
              <a:t>balance entre salidas </a:t>
            </a:r>
            <a:r>
              <a:rPr lang="es-ES" sz="1400" dirty="0"/>
              <a:t>como el </a:t>
            </a:r>
            <a:r>
              <a:rPr lang="es-ES" sz="1400" i="1" u="sng" dirty="0" err="1"/>
              <a:t>excess</a:t>
            </a:r>
            <a:r>
              <a:rPr lang="es-ES" sz="1400" i="1" u="sng" dirty="0"/>
              <a:t> </a:t>
            </a:r>
            <a:r>
              <a:rPr lang="es-ES" sz="1400" i="1" u="sng" dirty="0" err="1"/>
              <a:t>loss</a:t>
            </a:r>
            <a:r>
              <a:rPr lang="es-ES" sz="1400" dirty="0"/>
              <a:t>, sin cambiar la anchura de las guías.</a:t>
            </a:r>
          </a:p>
        </p:txBody>
      </p:sp>
      <p:sp>
        <p:nvSpPr>
          <p:cNvPr id="7" name="Rectángulo 6">
            <a:extLst>
              <a:ext uri="{FF2B5EF4-FFF2-40B4-BE49-F238E27FC236}">
                <a16:creationId xmlns:a16="http://schemas.microsoft.com/office/drawing/2014/main" id="{9772491E-4FFB-FFC3-C855-72A4B15F3E73}"/>
              </a:ext>
            </a:extLst>
          </p:cNvPr>
          <p:cNvSpPr/>
          <p:nvPr/>
        </p:nvSpPr>
        <p:spPr>
          <a:xfrm>
            <a:off x="609441" y="1377510"/>
            <a:ext cx="11199971" cy="3042090"/>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5" name="Imagen 14">
            <a:extLst>
              <a:ext uri="{FF2B5EF4-FFF2-40B4-BE49-F238E27FC236}">
                <a16:creationId xmlns:a16="http://schemas.microsoft.com/office/drawing/2014/main" id="{B90B8A9E-3870-A83E-8731-3CAF4BDE4ACF}"/>
              </a:ext>
            </a:extLst>
          </p:cNvPr>
          <p:cNvPicPr>
            <a:picLocks noChangeAspect="1"/>
          </p:cNvPicPr>
          <p:nvPr/>
        </p:nvPicPr>
        <p:blipFill>
          <a:blip r:embed="rId4"/>
          <a:stretch>
            <a:fillRect/>
          </a:stretch>
        </p:blipFill>
        <p:spPr>
          <a:xfrm>
            <a:off x="1219200" y="1629745"/>
            <a:ext cx="3962400" cy="2609850"/>
          </a:xfrm>
          <a:prstGeom prst="rect">
            <a:avLst/>
          </a:prstGeom>
        </p:spPr>
      </p:pic>
      <p:pic>
        <p:nvPicPr>
          <p:cNvPr id="18" name="Imagen 17">
            <a:extLst>
              <a:ext uri="{FF2B5EF4-FFF2-40B4-BE49-F238E27FC236}">
                <a16:creationId xmlns:a16="http://schemas.microsoft.com/office/drawing/2014/main" id="{3C94481E-00A9-1FC9-86B4-F3528CCBDD1D}"/>
              </a:ext>
            </a:extLst>
          </p:cNvPr>
          <p:cNvPicPr>
            <a:picLocks noChangeAspect="1"/>
          </p:cNvPicPr>
          <p:nvPr/>
        </p:nvPicPr>
        <p:blipFill>
          <a:blip r:embed="rId5"/>
          <a:stretch>
            <a:fillRect/>
          </a:stretch>
        </p:blipFill>
        <p:spPr>
          <a:xfrm>
            <a:off x="5715000" y="1905000"/>
            <a:ext cx="5612962" cy="2334595"/>
          </a:xfrm>
          <a:prstGeom prst="rect">
            <a:avLst/>
          </a:prstGeom>
        </p:spPr>
      </p:pic>
    </p:spTree>
    <p:extLst>
      <p:ext uri="{BB962C8B-B14F-4D97-AF65-F5344CB8AC3E}">
        <p14:creationId xmlns:p14="http://schemas.microsoft.com/office/powerpoint/2010/main" val="268521575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2A9819-E058-DC4F-FB99-88F20442D9F4}"/>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E1662E38-DE72-ADF3-A38E-08ED40DCC2AD}"/>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#6.3 – 2x2 Multimode Interference Coupler – Optimization (II)</a:t>
            </a:r>
            <a:br>
              <a:rPr lang="en-US" sz="2500" dirty="0"/>
            </a:br>
            <a:r>
              <a:rPr lang="en-US" b="0" dirty="0"/>
              <a:t>Wavelength 1.55 µm, </a:t>
            </a:r>
            <a:r>
              <a:rPr lang="en-US" b="0" dirty="0" err="1"/>
              <a:t>wMMI</a:t>
            </a:r>
            <a:r>
              <a:rPr lang="en-US" b="0" dirty="0"/>
              <a:t> = 6.6 µm</a:t>
            </a:r>
            <a:endParaRPr lang="en-US" sz="2500" b="0" dirty="0">
              <a:latin typeface="+mj-lt"/>
              <a:cs typeface="Lucida Sans"/>
            </a:endParaRPr>
          </a:p>
        </p:txBody>
      </p:sp>
      <p:pic>
        <p:nvPicPr>
          <p:cNvPr id="83" name="Gráfico 82">
            <a:extLst>
              <a:ext uri="{FF2B5EF4-FFF2-40B4-BE49-F238E27FC236}">
                <a16:creationId xmlns:a16="http://schemas.microsoft.com/office/drawing/2014/main" id="{1CD4B005-DA76-DF7C-8A51-CA16DFD2CA3A}"/>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0B06F952-20FD-3223-6AB8-83339507AFE8}"/>
              </a:ext>
            </a:extLst>
          </p:cNvPr>
          <p:cNvSpPr>
            <a:spLocks noGrp="1"/>
          </p:cNvSpPr>
          <p:nvPr>
            <p:ph type="sldNum" sz="quarter" idx="7"/>
          </p:nvPr>
        </p:nvSpPr>
        <p:spPr/>
        <p:txBody>
          <a:bodyPr/>
          <a:lstStyle/>
          <a:p>
            <a:fld id="{B6F15528-21DE-4FAA-801E-634DDDAF4B2B}" type="slidenum">
              <a:rPr lang="es-ES" smtClean="0"/>
              <a:t>18</a:t>
            </a:fld>
            <a:endParaRPr lang="es-ES"/>
          </a:p>
        </p:txBody>
      </p:sp>
      <p:sp>
        <p:nvSpPr>
          <p:cNvPr id="3" name="Marcador de pie de página 2">
            <a:extLst>
              <a:ext uri="{FF2B5EF4-FFF2-40B4-BE49-F238E27FC236}">
                <a16:creationId xmlns:a16="http://schemas.microsoft.com/office/drawing/2014/main" id="{8B06152F-2A2C-A19B-581F-494FDFF33752}"/>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2" name="CuadroTexto 1">
            <a:extLst>
              <a:ext uri="{FF2B5EF4-FFF2-40B4-BE49-F238E27FC236}">
                <a16:creationId xmlns:a16="http://schemas.microsoft.com/office/drawing/2014/main" id="{EF5B7948-A25A-9043-7061-DD15A9023924}"/>
              </a:ext>
            </a:extLst>
          </p:cNvPr>
          <p:cNvSpPr txBox="1"/>
          <p:nvPr/>
        </p:nvSpPr>
        <p:spPr>
          <a:xfrm>
            <a:off x="609441" y="4819471"/>
            <a:ext cx="11199971" cy="1384995"/>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Comment results</a:t>
            </a: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
        <p:nvSpPr>
          <p:cNvPr id="7" name="Rectángulo 6">
            <a:extLst>
              <a:ext uri="{FF2B5EF4-FFF2-40B4-BE49-F238E27FC236}">
                <a16:creationId xmlns:a16="http://schemas.microsoft.com/office/drawing/2014/main" id="{C8036B97-F577-1F3C-3CE2-BD45F7D1FFC2}"/>
              </a:ext>
            </a:extLst>
          </p:cNvPr>
          <p:cNvSpPr/>
          <p:nvPr/>
        </p:nvSpPr>
        <p:spPr>
          <a:xfrm>
            <a:off x="609441" y="1377510"/>
            <a:ext cx="11199971"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CuadroTexto 7">
            <a:extLst>
              <a:ext uri="{FF2B5EF4-FFF2-40B4-BE49-F238E27FC236}">
                <a16:creationId xmlns:a16="http://schemas.microsoft.com/office/drawing/2014/main" id="{B0CFB20A-64F3-A296-71E8-F4FA17D35314}"/>
              </a:ext>
            </a:extLst>
          </p:cNvPr>
          <p:cNvSpPr txBox="1"/>
          <p:nvPr/>
        </p:nvSpPr>
        <p:spPr>
          <a:xfrm>
            <a:off x="640245" y="1942909"/>
            <a:ext cx="11199972" cy="2708434"/>
          </a:xfrm>
          <a:prstGeom prst="rect">
            <a:avLst/>
          </a:prstGeom>
          <a:noFill/>
        </p:spPr>
        <p:txBody>
          <a:bodyPr wrap="square" rtlCol="0">
            <a:spAutoFit/>
          </a:bodyPr>
          <a:lstStyle/>
          <a:p>
            <a:pPr algn="ctr"/>
            <a:r>
              <a:rPr lang="en-US" b="1" dirty="0"/>
              <a:t>deep</a:t>
            </a:r>
            <a:r>
              <a:rPr lang="en-US" dirty="0"/>
              <a:t> waveguide</a:t>
            </a:r>
          </a:p>
          <a:p>
            <a:pPr algn="ctr"/>
            <a:endParaRPr lang="en-US" dirty="0"/>
          </a:p>
          <a:p>
            <a:pPr algn="ctr"/>
            <a:r>
              <a:rPr lang="en-US" dirty="0"/>
              <a:t>Paste propagation plot and console results</a:t>
            </a:r>
          </a:p>
          <a:p>
            <a:pPr algn="ctr"/>
            <a:endParaRPr lang="en-US" dirty="0"/>
          </a:p>
          <a:p>
            <a:pPr algn="ctr"/>
            <a:endParaRPr lang="en-US" dirty="0"/>
          </a:p>
          <a:p>
            <a:pPr algn="r"/>
            <a:r>
              <a:rPr lang="en-US" sz="1600" b="1" dirty="0"/>
              <a:t>Target</a:t>
            </a:r>
            <a:r>
              <a:rPr lang="en-US" sz="1600" dirty="0"/>
              <a:t>: make ratio over outputs 0.5 + excess loss &lt; 0.1 dB</a:t>
            </a:r>
          </a:p>
          <a:p>
            <a:pPr algn="r"/>
            <a:r>
              <a:rPr lang="en-US" sz="1600" dirty="0"/>
              <a:t>With same settings of previous LO, now modify the notebook so I/O waveguides have a different width. </a:t>
            </a:r>
          </a:p>
          <a:p>
            <a:pPr algn="r"/>
            <a:r>
              <a:rPr lang="en-US" sz="1600" u="sng" dirty="0"/>
              <a:t>- The nominal I/O waveguide width you have been using is 1.0 µm, increase it.</a:t>
            </a:r>
          </a:p>
          <a:p>
            <a:pPr algn="r"/>
            <a:r>
              <a:rPr lang="en-US" sz="1600" b="1" dirty="0"/>
              <a:t>(Warning</a:t>
            </a:r>
            <a:r>
              <a:rPr lang="en-US" sz="1600" dirty="0"/>
              <a:t>! Every time you change the I/O waveguide width you have to re-run modes calculation)</a:t>
            </a:r>
          </a:p>
          <a:p>
            <a:pPr algn="r"/>
            <a:r>
              <a:rPr lang="en-US" sz="1600" b="1" dirty="0"/>
              <a:t>Hints</a:t>
            </a:r>
            <a:r>
              <a:rPr lang="en-US" sz="1600" dirty="0"/>
              <a:t>: observe the 2D EME propagation results to guide you to the best settings of a) and b).</a:t>
            </a:r>
          </a:p>
        </p:txBody>
      </p:sp>
    </p:spTree>
    <p:extLst>
      <p:ext uri="{BB962C8B-B14F-4D97-AF65-F5344CB8AC3E}">
        <p14:creationId xmlns:p14="http://schemas.microsoft.com/office/powerpoint/2010/main" val="102373122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0A1363-C83E-82B6-7BDE-AD2801F8B66D}"/>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1E256546-3103-104D-A87F-78AEBE5D595E}"/>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#7 – 1x4 Multimode Interference Coupler </a:t>
            </a:r>
            <a:br>
              <a:rPr lang="en-US" sz="2500" dirty="0"/>
            </a:br>
            <a:r>
              <a:rPr lang="en-US" b="0" dirty="0"/>
              <a:t>Wavelength 1.55 µm, </a:t>
            </a:r>
            <a:r>
              <a:rPr lang="en-US" b="0" dirty="0" err="1"/>
              <a:t>wMMI</a:t>
            </a:r>
            <a:r>
              <a:rPr lang="en-US" b="0" dirty="0"/>
              <a:t> = ? µm</a:t>
            </a:r>
            <a:endParaRPr lang="en-US" sz="2500" b="0" dirty="0">
              <a:latin typeface="+mj-lt"/>
              <a:cs typeface="Lucida Sans"/>
            </a:endParaRPr>
          </a:p>
        </p:txBody>
      </p:sp>
      <p:pic>
        <p:nvPicPr>
          <p:cNvPr id="83" name="Gráfico 82">
            <a:extLst>
              <a:ext uri="{FF2B5EF4-FFF2-40B4-BE49-F238E27FC236}">
                <a16:creationId xmlns:a16="http://schemas.microsoft.com/office/drawing/2014/main" id="{4BFCA3D8-29F6-7091-7099-77888A9F863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42E75535-0FBC-4C5F-9AC5-7008914FCF56}"/>
              </a:ext>
            </a:extLst>
          </p:cNvPr>
          <p:cNvSpPr>
            <a:spLocks noGrp="1"/>
          </p:cNvSpPr>
          <p:nvPr>
            <p:ph type="sldNum" sz="quarter" idx="7"/>
          </p:nvPr>
        </p:nvSpPr>
        <p:spPr/>
        <p:txBody>
          <a:bodyPr/>
          <a:lstStyle/>
          <a:p>
            <a:fld id="{B6F15528-21DE-4FAA-801E-634DDDAF4B2B}" type="slidenum">
              <a:rPr lang="es-ES" smtClean="0"/>
              <a:t>19</a:t>
            </a:fld>
            <a:endParaRPr lang="es-ES"/>
          </a:p>
        </p:txBody>
      </p:sp>
      <p:sp>
        <p:nvSpPr>
          <p:cNvPr id="3" name="Marcador de pie de página 2">
            <a:extLst>
              <a:ext uri="{FF2B5EF4-FFF2-40B4-BE49-F238E27FC236}">
                <a16:creationId xmlns:a16="http://schemas.microsoft.com/office/drawing/2014/main" id="{07AC2AFF-A7D9-EBCD-7C5A-6CDF61B69366}"/>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2" name="CuadroTexto 1">
            <a:extLst>
              <a:ext uri="{FF2B5EF4-FFF2-40B4-BE49-F238E27FC236}">
                <a16:creationId xmlns:a16="http://schemas.microsoft.com/office/drawing/2014/main" id="{42D73A2E-0E5A-8A39-6B70-F9E94D6DBB70}"/>
              </a:ext>
            </a:extLst>
          </p:cNvPr>
          <p:cNvSpPr txBox="1"/>
          <p:nvPr/>
        </p:nvSpPr>
        <p:spPr>
          <a:xfrm>
            <a:off x="609441" y="4819471"/>
            <a:ext cx="11199971" cy="1200329"/>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Repeat all the design </a:t>
            </a:r>
            <a:r>
              <a:rPr lang="en-US" sz="1200">
                <a:latin typeface="Arial" panose="020B0604020202020204" pitchFamily="34" charset="0"/>
                <a:cs typeface="Arial" panose="020B0604020202020204" pitchFamily="34" charset="0"/>
              </a:rPr>
              <a:t>process for a </a:t>
            </a:r>
            <a:r>
              <a:rPr lang="en-US" sz="1200" dirty="0">
                <a:latin typeface="Arial" panose="020B0604020202020204" pitchFamily="34" charset="0"/>
                <a:cs typeface="Arial" panose="020B0604020202020204" pitchFamily="34" charset="0"/>
              </a:rPr>
              <a:t>1x4 MMI Coupler.  </a:t>
            </a: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
        <p:nvSpPr>
          <p:cNvPr id="7" name="Rectángulo 6">
            <a:extLst>
              <a:ext uri="{FF2B5EF4-FFF2-40B4-BE49-F238E27FC236}">
                <a16:creationId xmlns:a16="http://schemas.microsoft.com/office/drawing/2014/main" id="{AFB86587-21D4-5A33-7D00-DDF170C919BA}"/>
              </a:ext>
            </a:extLst>
          </p:cNvPr>
          <p:cNvSpPr/>
          <p:nvPr/>
        </p:nvSpPr>
        <p:spPr>
          <a:xfrm>
            <a:off x="609441" y="1377510"/>
            <a:ext cx="11199971"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CuadroTexto 7">
            <a:extLst>
              <a:ext uri="{FF2B5EF4-FFF2-40B4-BE49-F238E27FC236}">
                <a16:creationId xmlns:a16="http://schemas.microsoft.com/office/drawing/2014/main" id="{C3506757-32B7-9151-DA89-AADDB7F7D093}"/>
              </a:ext>
            </a:extLst>
          </p:cNvPr>
          <p:cNvSpPr txBox="1"/>
          <p:nvPr/>
        </p:nvSpPr>
        <p:spPr>
          <a:xfrm>
            <a:off x="2286000" y="2630415"/>
            <a:ext cx="7718580" cy="923330"/>
          </a:xfrm>
          <a:prstGeom prst="rect">
            <a:avLst/>
          </a:prstGeom>
          <a:noFill/>
        </p:spPr>
        <p:txBody>
          <a:bodyPr wrap="square" rtlCol="0">
            <a:spAutoFit/>
          </a:bodyPr>
          <a:lstStyle/>
          <a:p>
            <a:pPr algn="ctr"/>
            <a:r>
              <a:rPr lang="en-US" b="1" dirty="0"/>
              <a:t>deep</a:t>
            </a:r>
            <a:r>
              <a:rPr lang="en-US" dirty="0"/>
              <a:t> waveguide</a:t>
            </a:r>
          </a:p>
          <a:p>
            <a:pPr algn="ctr"/>
            <a:endParaRPr lang="en-US" dirty="0"/>
          </a:p>
          <a:p>
            <a:pPr algn="ctr"/>
            <a:r>
              <a:rPr lang="en-US" dirty="0"/>
              <a:t>Paste propagation plots and console results</a:t>
            </a:r>
          </a:p>
        </p:txBody>
      </p:sp>
    </p:spTree>
    <p:extLst>
      <p:ext uri="{BB962C8B-B14F-4D97-AF65-F5344CB8AC3E}">
        <p14:creationId xmlns:p14="http://schemas.microsoft.com/office/powerpoint/2010/main" val="69986431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80DA9C-35AF-A1D7-01E5-BFD9DEF1550F}"/>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471E1424-6C4B-2D9A-1352-30AFB987AD41}"/>
              </a:ext>
            </a:extLst>
          </p:cNvPr>
          <p:cNvSpPr txBox="1">
            <a:spLocks noGrp="1"/>
          </p:cNvSpPr>
          <p:nvPr>
            <p:ph type="title"/>
          </p:nvPr>
        </p:nvSpPr>
        <p:spPr>
          <a:xfrm>
            <a:off x="685800" y="408883"/>
            <a:ext cx="10994410" cy="1090042"/>
          </a:xfrm>
          <a:prstGeom prst="rect">
            <a:avLst/>
          </a:prstGeom>
        </p:spPr>
        <p:txBody>
          <a:bodyPr vert="horz" wrap="square" lIns="0" tIns="12700" rIns="0" bIns="0" rtlCol="0">
            <a:spAutoFit/>
          </a:bodyPr>
          <a:lstStyle/>
          <a:p>
            <a:pPr marL="12700">
              <a:lnSpc>
                <a:spcPct val="100000"/>
              </a:lnSpc>
              <a:spcBef>
                <a:spcPts val="100"/>
              </a:spcBef>
            </a:pPr>
            <a:r>
              <a:rPr lang="en-US" sz="2500" dirty="0"/>
              <a:t>Extra #1 – Directional coupler gap dependence</a:t>
            </a:r>
            <a:br>
              <a:rPr lang="en-US" sz="2500" dirty="0"/>
            </a:br>
            <a:r>
              <a:rPr lang="en-US" b="0" dirty="0"/>
              <a:t>Wavelength 1.55 µm, width 1.0 µm, </a:t>
            </a:r>
            <a:r>
              <a:rPr lang="en-US" dirty="0"/>
              <a:t>gap 0.2-2.4 µm </a:t>
            </a:r>
            <a:r>
              <a:rPr lang="en-US" b="0" dirty="0"/>
              <a:t>(step 0.2 µm)</a:t>
            </a:r>
            <a:br>
              <a:rPr lang="es-ES" sz="2500" spc="-5" dirty="0">
                <a:latin typeface="+mj-lt"/>
                <a:cs typeface="Lucida Sans"/>
              </a:rPr>
            </a:br>
            <a:endParaRPr sz="2500" b="0" dirty="0">
              <a:latin typeface="+mj-lt"/>
              <a:cs typeface="Lucida Sans"/>
            </a:endParaRPr>
          </a:p>
        </p:txBody>
      </p:sp>
      <p:pic>
        <p:nvPicPr>
          <p:cNvPr id="83" name="Gráfico 82">
            <a:extLst>
              <a:ext uri="{FF2B5EF4-FFF2-40B4-BE49-F238E27FC236}">
                <a16:creationId xmlns:a16="http://schemas.microsoft.com/office/drawing/2014/main" id="{9DCFD462-4416-65F8-5696-B0135B63276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293F5C1D-AFFF-4EA6-CA59-6503F34EBF5F}"/>
              </a:ext>
            </a:extLst>
          </p:cNvPr>
          <p:cNvSpPr>
            <a:spLocks noGrp="1"/>
          </p:cNvSpPr>
          <p:nvPr>
            <p:ph type="sldNum" sz="quarter" idx="7"/>
          </p:nvPr>
        </p:nvSpPr>
        <p:spPr/>
        <p:txBody>
          <a:bodyPr/>
          <a:lstStyle/>
          <a:p>
            <a:fld id="{B6F15528-21DE-4FAA-801E-634DDDAF4B2B}" type="slidenum">
              <a:rPr lang="es-ES" smtClean="0"/>
              <a:t>20</a:t>
            </a:fld>
            <a:endParaRPr lang="es-ES"/>
          </a:p>
        </p:txBody>
      </p:sp>
      <p:sp>
        <p:nvSpPr>
          <p:cNvPr id="3" name="Marcador de pie de página 2">
            <a:extLst>
              <a:ext uri="{FF2B5EF4-FFF2-40B4-BE49-F238E27FC236}">
                <a16:creationId xmlns:a16="http://schemas.microsoft.com/office/drawing/2014/main" id="{34F13AC1-9668-7266-DF5B-D7CE084AB044}"/>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2" name="CuadroTexto 1">
            <a:extLst>
              <a:ext uri="{FF2B5EF4-FFF2-40B4-BE49-F238E27FC236}">
                <a16:creationId xmlns:a16="http://schemas.microsoft.com/office/drawing/2014/main" id="{D0F8CF3B-B920-DBFC-F825-0C87B51EADA7}"/>
              </a:ext>
            </a:extLst>
          </p:cNvPr>
          <p:cNvSpPr txBox="1"/>
          <p:nvPr/>
        </p:nvSpPr>
        <p:spPr>
          <a:xfrm>
            <a:off x="609441" y="4860334"/>
            <a:ext cx="11199971" cy="1015663"/>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Make conclusions and observations from your results</a:t>
            </a: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
        <p:nvSpPr>
          <p:cNvPr id="5" name="Rectángulo 4">
            <a:extLst>
              <a:ext uri="{FF2B5EF4-FFF2-40B4-BE49-F238E27FC236}">
                <a16:creationId xmlns:a16="http://schemas.microsoft.com/office/drawing/2014/main" id="{E7488849-10A1-FB48-F511-E57B062CD7E2}"/>
              </a:ext>
            </a:extLst>
          </p:cNvPr>
          <p:cNvSpPr/>
          <p:nvPr/>
        </p:nvSpPr>
        <p:spPr>
          <a:xfrm>
            <a:off x="609441" y="1447800"/>
            <a:ext cx="5486559"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ángulo 5">
            <a:extLst>
              <a:ext uri="{FF2B5EF4-FFF2-40B4-BE49-F238E27FC236}">
                <a16:creationId xmlns:a16="http://schemas.microsoft.com/office/drawing/2014/main" id="{68726DAB-1B5F-39D1-63A0-BB708EA6E17F}"/>
              </a:ext>
            </a:extLst>
          </p:cNvPr>
          <p:cNvSpPr/>
          <p:nvPr/>
        </p:nvSpPr>
        <p:spPr>
          <a:xfrm>
            <a:off x="6321424" y="1447800"/>
            <a:ext cx="5486559"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CuadroTexto 6">
            <a:extLst>
              <a:ext uri="{FF2B5EF4-FFF2-40B4-BE49-F238E27FC236}">
                <a16:creationId xmlns:a16="http://schemas.microsoft.com/office/drawing/2014/main" id="{6D309BFB-98FD-0CBA-3C6A-346D8859893B}"/>
              </a:ext>
            </a:extLst>
          </p:cNvPr>
          <p:cNvSpPr txBox="1"/>
          <p:nvPr/>
        </p:nvSpPr>
        <p:spPr>
          <a:xfrm>
            <a:off x="6331152" y="4342178"/>
            <a:ext cx="2269787" cy="369332"/>
          </a:xfrm>
          <a:prstGeom prst="rect">
            <a:avLst/>
          </a:prstGeom>
          <a:noFill/>
        </p:spPr>
        <p:txBody>
          <a:bodyPr wrap="square">
            <a:spAutoFit/>
          </a:bodyPr>
          <a:lstStyle/>
          <a:p>
            <a:r>
              <a:rPr lang="en-US" dirty="0"/>
              <a:t>slab = 150nm</a:t>
            </a:r>
            <a:endParaRPr lang="es-ES" dirty="0"/>
          </a:p>
        </p:txBody>
      </p:sp>
      <mc:AlternateContent xmlns:mc="http://schemas.openxmlformats.org/markup-compatibility/2006" xmlns:a14="http://schemas.microsoft.com/office/drawing/2010/main">
        <mc:Choice Requires="a14">
          <p:sp>
            <p:nvSpPr>
              <p:cNvPr id="8" name="CuadroTexto 7">
                <a:extLst>
                  <a:ext uri="{FF2B5EF4-FFF2-40B4-BE49-F238E27FC236}">
                    <a16:creationId xmlns:a16="http://schemas.microsoft.com/office/drawing/2014/main" id="{E9BD6C85-02F1-7B54-41E3-E3D9883786D8}"/>
                  </a:ext>
                </a:extLst>
              </p:cNvPr>
              <p:cNvSpPr txBox="1"/>
              <p:nvPr/>
            </p:nvSpPr>
            <p:spPr>
              <a:xfrm>
                <a:off x="1079403" y="2709096"/>
                <a:ext cx="4546634" cy="923330"/>
              </a:xfrm>
              <a:prstGeom prst="rect">
                <a:avLst/>
              </a:prstGeom>
              <a:noFill/>
            </p:spPr>
            <p:txBody>
              <a:bodyPr wrap="square" rtlCol="0">
                <a:spAutoFit/>
              </a:bodyPr>
              <a:lstStyle/>
              <a:p>
                <a:pPr algn="ctr"/>
                <a:r>
                  <a:rPr lang="en-US" b="1" dirty="0"/>
                  <a:t>deep</a:t>
                </a:r>
                <a:r>
                  <a:rPr lang="en-US" dirty="0"/>
                  <a:t> waveguide</a:t>
                </a:r>
              </a:p>
              <a:p>
                <a:pPr algn="ctr"/>
                <a:endParaRPr lang="en-US" dirty="0"/>
              </a:p>
              <a:p>
                <a:pPr algn="ctr"/>
                <a:r>
                  <a:rPr lang="en-US" dirty="0"/>
                  <a:t>Paste </a:t>
                </a:r>
                <a14:m>
                  <m:oMath xmlns:m="http://schemas.openxmlformats.org/officeDocument/2006/math">
                    <m:sSub>
                      <m:sSubPr>
                        <m:ctrlPr>
                          <a:rPr lang="es-ES" sz="1800" b="0" i="1" smtClean="0">
                            <a:latin typeface="Cambria Math" panose="02040503050406030204" pitchFamily="18" charset="0"/>
                          </a:rPr>
                        </m:ctrlPr>
                      </m:sSubPr>
                      <m:e>
                        <m:r>
                          <a:rPr lang="es-ES" sz="1800" b="0" i="1" smtClean="0">
                            <a:latin typeface="Cambria Math" panose="02040503050406030204" pitchFamily="18" charset="0"/>
                          </a:rPr>
                          <m:t>𝐿</m:t>
                        </m:r>
                      </m:e>
                      <m:sub>
                        <m:r>
                          <a:rPr lang="es-ES" sz="1800" b="0" i="1" smtClean="0">
                            <a:latin typeface="Cambria Math" panose="02040503050406030204" pitchFamily="18" charset="0"/>
                          </a:rPr>
                          <m:t>𝜋</m:t>
                        </m:r>
                      </m:sub>
                    </m:sSub>
                  </m:oMath>
                </a14:m>
                <a:r>
                  <a:rPr lang="en-US" dirty="0"/>
                  <a:t> vs gap for TE and TM plot here</a:t>
                </a:r>
              </a:p>
            </p:txBody>
          </p:sp>
        </mc:Choice>
        <mc:Fallback xmlns="">
          <p:sp>
            <p:nvSpPr>
              <p:cNvPr id="8" name="CuadroTexto 7">
                <a:extLst>
                  <a:ext uri="{FF2B5EF4-FFF2-40B4-BE49-F238E27FC236}">
                    <a16:creationId xmlns:a16="http://schemas.microsoft.com/office/drawing/2014/main" id="{E9BD6C85-02F1-7B54-41E3-E3D9883786D8}"/>
                  </a:ext>
                </a:extLst>
              </p:cNvPr>
              <p:cNvSpPr txBox="1">
                <a:spLocks noRot="1" noChangeAspect="1" noMove="1" noResize="1" noEditPoints="1" noAdjustHandles="1" noChangeArrowheads="1" noChangeShapeType="1" noTextEdit="1"/>
              </p:cNvSpPr>
              <p:nvPr/>
            </p:nvSpPr>
            <p:spPr>
              <a:xfrm>
                <a:off x="1079403" y="2709096"/>
                <a:ext cx="4546634" cy="923330"/>
              </a:xfrm>
              <a:prstGeom prst="rect">
                <a:avLst/>
              </a:prstGeom>
              <a:blipFill>
                <a:blip r:embed="rId5"/>
                <a:stretch>
                  <a:fillRect t="-3289" b="-9211"/>
                </a:stretch>
              </a:blipFill>
            </p:spPr>
            <p:txBody>
              <a:bodyPr/>
              <a:lstStyle/>
              <a:p>
                <a:r>
                  <a:rPr lang="es-ES">
                    <a:noFill/>
                  </a:rPr>
                  <a:t> </a:t>
                </a:r>
              </a:p>
            </p:txBody>
          </p:sp>
        </mc:Fallback>
      </mc:AlternateContent>
      <mc:AlternateContent xmlns:mc="http://schemas.openxmlformats.org/markup-compatibility/2006" xmlns:a14="http://schemas.microsoft.com/office/drawing/2010/main">
        <mc:Choice Requires="a14">
          <p:sp>
            <p:nvSpPr>
              <p:cNvPr id="9" name="CuadroTexto 8">
                <a:extLst>
                  <a:ext uri="{FF2B5EF4-FFF2-40B4-BE49-F238E27FC236}">
                    <a16:creationId xmlns:a16="http://schemas.microsoft.com/office/drawing/2014/main" id="{7431A41C-EEB3-44D0-4622-A915E258C8F0}"/>
                  </a:ext>
                </a:extLst>
              </p:cNvPr>
              <p:cNvSpPr txBox="1"/>
              <p:nvPr/>
            </p:nvSpPr>
            <p:spPr>
              <a:xfrm>
                <a:off x="6883366" y="2709096"/>
                <a:ext cx="4546634" cy="923330"/>
              </a:xfrm>
              <a:prstGeom prst="rect">
                <a:avLst/>
              </a:prstGeom>
              <a:noFill/>
            </p:spPr>
            <p:txBody>
              <a:bodyPr wrap="square" rtlCol="0">
                <a:spAutoFit/>
              </a:bodyPr>
              <a:lstStyle/>
              <a:p>
                <a:pPr algn="ctr"/>
                <a:r>
                  <a:rPr lang="en-US" b="1" dirty="0"/>
                  <a:t>shallow</a:t>
                </a:r>
                <a:r>
                  <a:rPr lang="en-US" dirty="0"/>
                  <a:t> waveguide</a:t>
                </a:r>
              </a:p>
              <a:p>
                <a:pPr algn="ctr"/>
                <a:endParaRPr lang="en-US" dirty="0"/>
              </a:p>
              <a:p>
                <a:pPr algn="ctr"/>
                <a:r>
                  <a:rPr lang="en-US" dirty="0"/>
                  <a:t>Paste </a:t>
                </a:r>
                <a14:m>
                  <m:oMath xmlns:m="http://schemas.openxmlformats.org/officeDocument/2006/math">
                    <m:sSub>
                      <m:sSubPr>
                        <m:ctrlPr>
                          <a:rPr lang="es-ES" sz="1800" b="0" i="1" smtClean="0">
                            <a:latin typeface="Cambria Math" panose="02040503050406030204" pitchFamily="18" charset="0"/>
                          </a:rPr>
                        </m:ctrlPr>
                      </m:sSubPr>
                      <m:e>
                        <m:r>
                          <a:rPr lang="es-ES" sz="1800" b="0" i="1" smtClean="0">
                            <a:latin typeface="Cambria Math" panose="02040503050406030204" pitchFamily="18" charset="0"/>
                          </a:rPr>
                          <m:t>𝐿</m:t>
                        </m:r>
                      </m:e>
                      <m:sub>
                        <m:r>
                          <a:rPr lang="es-ES" sz="1800" b="0" i="1" smtClean="0">
                            <a:latin typeface="Cambria Math" panose="02040503050406030204" pitchFamily="18" charset="0"/>
                          </a:rPr>
                          <m:t>𝜋</m:t>
                        </m:r>
                      </m:sub>
                    </m:sSub>
                  </m:oMath>
                </a14:m>
                <a:r>
                  <a:rPr lang="en-US" dirty="0"/>
                  <a:t> vs gap for TE and TM plot here</a:t>
                </a:r>
              </a:p>
            </p:txBody>
          </p:sp>
        </mc:Choice>
        <mc:Fallback xmlns="">
          <p:sp>
            <p:nvSpPr>
              <p:cNvPr id="9" name="CuadroTexto 8">
                <a:extLst>
                  <a:ext uri="{FF2B5EF4-FFF2-40B4-BE49-F238E27FC236}">
                    <a16:creationId xmlns:a16="http://schemas.microsoft.com/office/drawing/2014/main" id="{7431A41C-EEB3-44D0-4622-A915E258C8F0}"/>
                  </a:ext>
                </a:extLst>
              </p:cNvPr>
              <p:cNvSpPr txBox="1">
                <a:spLocks noRot="1" noChangeAspect="1" noMove="1" noResize="1" noEditPoints="1" noAdjustHandles="1" noChangeArrowheads="1" noChangeShapeType="1" noTextEdit="1"/>
              </p:cNvSpPr>
              <p:nvPr/>
            </p:nvSpPr>
            <p:spPr>
              <a:xfrm>
                <a:off x="6883366" y="2709096"/>
                <a:ext cx="4546634" cy="923330"/>
              </a:xfrm>
              <a:prstGeom prst="rect">
                <a:avLst/>
              </a:prstGeom>
              <a:blipFill>
                <a:blip r:embed="rId6"/>
                <a:stretch>
                  <a:fillRect t="-3289" b="-9211"/>
                </a:stretch>
              </a:blipFill>
            </p:spPr>
            <p:txBody>
              <a:bodyPr/>
              <a:lstStyle/>
              <a:p>
                <a:r>
                  <a:rPr lang="es-ES">
                    <a:noFill/>
                  </a:rPr>
                  <a:t> </a:t>
                </a:r>
              </a:p>
            </p:txBody>
          </p:sp>
        </mc:Fallback>
      </mc:AlternateContent>
    </p:spTree>
    <p:extLst>
      <p:ext uri="{BB962C8B-B14F-4D97-AF65-F5344CB8AC3E}">
        <p14:creationId xmlns:p14="http://schemas.microsoft.com/office/powerpoint/2010/main" val="17979636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C60F79-E2ED-1B1B-6289-A1259E808584}"/>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5AC39480-E3E5-69B1-401F-A50C45531EF2}"/>
              </a:ext>
            </a:extLst>
          </p:cNvPr>
          <p:cNvSpPr txBox="1">
            <a:spLocks noGrp="1"/>
          </p:cNvSpPr>
          <p:nvPr>
            <p:ph type="title"/>
          </p:nvPr>
        </p:nvSpPr>
        <p:spPr>
          <a:xfrm>
            <a:off x="685800" y="408883"/>
            <a:ext cx="10994410" cy="1474763"/>
          </a:xfrm>
          <a:prstGeom prst="rect">
            <a:avLst/>
          </a:prstGeom>
        </p:spPr>
        <p:txBody>
          <a:bodyPr vert="horz" wrap="square" lIns="0" tIns="12700" rIns="0" bIns="0" rtlCol="0">
            <a:spAutoFit/>
          </a:bodyPr>
          <a:lstStyle/>
          <a:p>
            <a:pPr marL="12700">
              <a:lnSpc>
                <a:spcPct val="100000"/>
              </a:lnSpc>
              <a:spcBef>
                <a:spcPts val="100"/>
              </a:spcBef>
            </a:pPr>
            <a:r>
              <a:rPr lang="en-US" sz="2500" dirty="0"/>
              <a:t>Extra #2 – Directional wavelength dependence</a:t>
            </a:r>
            <a:br>
              <a:rPr lang="en-US" sz="2500" dirty="0"/>
            </a:br>
            <a:r>
              <a:rPr lang="en-US" b="0" dirty="0"/>
              <a:t>Wavelengths </a:t>
            </a:r>
            <a:r>
              <a:rPr lang="en-US" dirty="0"/>
              <a:t>from 1.5 to 1.7 µm</a:t>
            </a:r>
            <a:r>
              <a:rPr lang="en-US" b="0" dirty="0"/>
              <a:t>, gap = 0.6 µm, width 1.0 µm</a:t>
            </a:r>
            <a:br>
              <a:rPr lang="en-US" b="0" dirty="0"/>
            </a:br>
            <a:br>
              <a:rPr lang="es-ES" sz="2500" spc="-5" dirty="0">
                <a:latin typeface="+mj-lt"/>
                <a:cs typeface="Lucida Sans"/>
              </a:rPr>
            </a:br>
            <a:endParaRPr sz="2500" b="0" dirty="0">
              <a:latin typeface="+mj-lt"/>
              <a:cs typeface="Lucida Sans"/>
            </a:endParaRPr>
          </a:p>
        </p:txBody>
      </p:sp>
      <p:pic>
        <p:nvPicPr>
          <p:cNvPr id="83" name="Gráfico 82">
            <a:extLst>
              <a:ext uri="{FF2B5EF4-FFF2-40B4-BE49-F238E27FC236}">
                <a16:creationId xmlns:a16="http://schemas.microsoft.com/office/drawing/2014/main" id="{4BEE8680-2E49-EF52-0E73-7736679A4D72}"/>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73F99BBB-5F10-0BE4-E2DE-E78EAA82F552}"/>
              </a:ext>
            </a:extLst>
          </p:cNvPr>
          <p:cNvSpPr>
            <a:spLocks noGrp="1"/>
          </p:cNvSpPr>
          <p:nvPr>
            <p:ph type="sldNum" sz="quarter" idx="7"/>
          </p:nvPr>
        </p:nvSpPr>
        <p:spPr/>
        <p:txBody>
          <a:bodyPr/>
          <a:lstStyle/>
          <a:p>
            <a:fld id="{B6F15528-21DE-4FAA-801E-634DDDAF4B2B}" type="slidenum">
              <a:rPr lang="es-ES" smtClean="0"/>
              <a:t>21</a:t>
            </a:fld>
            <a:endParaRPr lang="es-ES"/>
          </a:p>
        </p:txBody>
      </p:sp>
      <p:sp>
        <p:nvSpPr>
          <p:cNvPr id="3" name="Marcador de pie de página 2">
            <a:extLst>
              <a:ext uri="{FF2B5EF4-FFF2-40B4-BE49-F238E27FC236}">
                <a16:creationId xmlns:a16="http://schemas.microsoft.com/office/drawing/2014/main" id="{52B2FA4B-8D15-84DC-29D1-94F9F8504763}"/>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2" name="CuadroTexto 1">
            <a:extLst>
              <a:ext uri="{FF2B5EF4-FFF2-40B4-BE49-F238E27FC236}">
                <a16:creationId xmlns:a16="http://schemas.microsoft.com/office/drawing/2014/main" id="{181326FD-308E-2C47-D5D2-57B3357241AA}"/>
              </a:ext>
            </a:extLst>
          </p:cNvPr>
          <p:cNvSpPr txBox="1"/>
          <p:nvPr/>
        </p:nvSpPr>
        <p:spPr>
          <a:xfrm>
            <a:off x="609441" y="4860334"/>
            <a:ext cx="11199971" cy="1200329"/>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Comment results</a:t>
            </a: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
        <p:nvSpPr>
          <p:cNvPr id="5" name="Rectángulo 4">
            <a:extLst>
              <a:ext uri="{FF2B5EF4-FFF2-40B4-BE49-F238E27FC236}">
                <a16:creationId xmlns:a16="http://schemas.microsoft.com/office/drawing/2014/main" id="{B42E1AD9-10D4-8ACB-526F-2DA1DD2B9881}"/>
              </a:ext>
            </a:extLst>
          </p:cNvPr>
          <p:cNvSpPr/>
          <p:nvPr/>
        </p:nvSpPr>
        <p:spPr>
          <a:xfrm>
            <a:off x="609441" y="1447800"/>
            <a:ext cx="5486559"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ángulo 5">
            <a:extLst>
              <a:ext uri="{FF2B5EF4-FFF2-40B4-BE49-F238E27FC236}">
                <a16:creationId xmlns:a16="http://schemas.microsoft.com/office/drawing/2014/main" id="{15ED9C7E-0684-E2B9-7FD6-9BCF17CC000A}"/>
              </a:ext>
            </a:extLst>
          </p:cNvPr>
          <p:cNvSpPr/>
          <p:nvPr/>
        </p:nvSpPr>
        <p:spPr>
          <a:xfrm>
            <a:off x="6321424" y="1447800"/>
            <a:ext cx="5486559"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CuadroTexto 6">
            <a:extLst>
              <a:ext uri="{FF2B5EF4-FFF2-40B4-BE49-F238E27FC236}">
                <a16:creationId xmlns:a16="http://schemas.microsoft.com/office/drawing/2014/main" id="{5F16E403-DF61-C9A0-D57F-2E61BEFA8887}"/>
              </a:ext>
            </a:extLst>
          </p:cNvPr>
          <p:cNvSpPr txBox="1"/>
          <p:nvPr/>
        </p:nvSpPr>
        <p:spPr>
          <a:xfrm>
            <a:off x="6331152" y="4342178"/>
            <a:ext cx="2269787" cy="369332"/>
          </a:xfrm>
          <a:prstGeom prst="rect">
            <a:avLst/>
          </a:prstGeom>
          <a:noFill/>
        </p:spPr>
        <p:txBody>
          <a:bodyPr wrap="square">
            <a:spAutoFit/>
          </a:bodyPr>
          <a:lstStyle/>
          <a:p>
            <a:r>
              <a:rPr lang="en-US" dirty="0"/>
              <a:t>slab = 150nm</a:t>
            </a:r>
            <a:endParaRPr lang="es-ES" dirty="0"/>
          </a:p>
        </p:txBody>
      </p:sp>
      <mc:AlternateContent xmlns:mc="http://schemas.openxmlformats.org/markup-compatibility/2006" xmlns:a14="http://schemas.microsoft.com/office/drawing/2010/main">
        <mc:Choice Requires="a14">
          <p:sp>
            <p:nvSpPr>
              <p:cNvPr id="8" name="CuadroTexto 7">
                <a:extLst>
                  <a:ext uri="{FF2B5EF4-FFF2-40B4-BE49-F238E27FC236}">
                    <a16:creationId xmlns:a16="http://schemas.microsoft.com/office/drawing/2014/main" id="{B08C2240-8810-4E0A-7DCF-E62A8271EA2E}"/>
                  </a:ext>
                </a:extLst>
              </p:cNvPr>
              <p:cNvSpPr txBox="1"/>
              <p:nvPr/>
            </p:nvSpPr>
            <p:spPr>
              <a:xfrm>
                <a:off x="1079403" y="2709096"/>
                <a:ext cx="4546634" cy="923330"/>
              </a:xfrm>
              <a:prstGeom prst="rect">
                <a:avLst/>
              </a:prstGeom>
              <a:noFill/>
            </p:spPr>
            <p:txBody>
              <a:bodyPr wrap="square" rtlCol="0">
                <a:spAutoFit/>
              </a:bodyPr>
              <a:lstStyle/>
              <a:p>
                <a:pPr algn="ctr"/>
                <a:r>
                  <a:rPr lang="en-US" b="1" dirty="0"/>
                  <a:t>deep</a:t>
                </a:r>
                <a:r>
                  <a:rPr lang="en-US" dirty="0"/>
                  <a:t> waveguide</a:t>
                </a:r>
              </a:p>
              <a:p>
                <a:pPr algn="ctr"/>
                <a:endParaRPr lang="en-US" dirty="0"/>
              </a:p>
              <a:p>
                <a:pPr algn="ctr"/>
                <a:r>
                  <a:rPr lang="en-US" dirty="0"/>
                  <a:t>Paste </a:t>
                </a:r>
                <a14:m>
                  <m:oMath xmlns:m="http://schemas.openxmlformats.org/officeDocument/2006/math">
                    <m:sSub>
                      <m:sSubPr>
                        <m:ctrlPr>
                          <a:rPr lang="es-ES" sz="1800" b="0" i="1" smtClean="0">
                            <a:latin typeface="Cambria Math" panose="02040503050406030204" pitchFamily="18" charset="0"/>
                          </a:rPr>
                        </m:ctrlPr>
                      </m:sSubPr>
                      <m:e>
                        <m:r>
                          <a:rPr lang="es-ES" sz="1800" b="0" i="1" smtClean="0">
                            <a:latin typeface="Cambria Math" panose="02040503050406030204" pitchFamily="18" charset="0"/>
                          </a:rPr>
                          <m:t>𝐿</m:t>
                        </m:r>
                      </m:e>
                      <m:sub>
                        <m:r>
                          <a:rPr lang="es-ES" sz="1800" b="0" i="1" smtClean="0">
                            <a:latin typeface="Cambria Math" panose="02040503050406030204" pitchFamily="18" charset="0"/>
                          </a:rPr>
                          <m:t>𝜋</m:t>
                        </m:r>
                      </m:sub>
                    </m:sSub>
                  </m:oMath>
                </a14:m>
                <a:r>
                  <a:rPr lang="en-US" dirty="0"/>
                  <a:t> vs </a:t>
                </a:r>
                <a:r>
                  <a:rPr lang="en-US" dirty="0" err="1"/>
                  <a:t>wvl</a:t>
                </a:r>
                <a:r>
                  <a:rPr lang="en-US" dirty="0"/>
                  <a:t> for TE and TM plot here</a:t>
                </a:r>
              </a:p>
            </p:txBody>
          </p:sp>
        </mc:Choice>
        <mc:Fallback xmlns="">
          <p:sp>
            <p:nvSpPr>
              <p:cNvPr id="8" name="CuadroTexto 7">
                <a:extLst>
                  <a:ext uri="{FF2B5EF4-FFF2-40B4-BE49-F238E27FC236}">
                    <a16:creationId xmlns:a16="http://schemas.microsoft.com/office/drawing/2014/main" id="{B08C2240-8810-4E0A-7DCF-E62A8271EA2E}"/>
                  </a:ext>
                </a:extLst>
              </p:cNvPr>
              <p:cNvSpPr txBox="1">
                <a:spLocks noRot="1" noChangeAspect="1" noMove="1" noResize="1" noEditPoints="1" noAdjustHandles="1" noChangeArrowheads="1" noChangeShapeType="1" noTextEdit="1"/>
              </p:cNvSpPr>
              <p:nvPr/>
            </p:nvSpPr>
            <p:spPr>
              <a:xfrm>
                <a:off x="1079403" y="2709096"/>
                <a:ext cx="4546634" cy="923330"/>
              </a:xfrm>
              <a:prstGeom prst="rect">
                <a:avLst/>
              </a:prstGeom>
              <a:blipFill>
                <a:blip r:embed="rId5"/>
                <a:stretch>
                  <a:fillRect t="-3289" b="-9211"/>
                </a:stretch>
              </a:blipFill>
            </p:spPr>
            <p:txBody>
              <a:bodyPr/>
              <a:lstStyle/>
              <a:p>
                <a:r>
                  <a:rPr lang="es-ES">
                    <a:noFill/>
                  </a:rPr>
                  <a:t> </a:t>
                </a:r>
              </a:p>
            </p:txBody>
          </p:sp>
        </mc:Fallback>
      </mc:AlternateContent>
      <mc:AlternateContent xmlns:mc="http://schemas.openxmlformats.org/markup-compatibility/2006" xmlns:a14="http://schemas.microsoft.com/office/drawing/2010/main">
        <mc:Choice Requires="a14">
          <p:sp>
            <p:nvSpPr>
              <p:cNvPr id="9" name="CuadroTexto 8">
                <a:extLst>
                  <a:ext uri="{FF2B5EF4-FFF2-40B4-BE49-F238E27FC236}">
                    <a16:creationId xmlns:a16="http://schemas.microsoft.com/office/drawing/2014/main" id="{BBDDC809-0F06-CBE2-4D1A-3A2FA36C33A8}"/>
                  </a:ext>
                </a:extLst>
              </p:cNvPr>
              <p:cNvSpPr txBox="1"/>
              <p:nvPr/>
            </p:nvSpPr>
            <p:spPr>
              <a:xfrm>
                <a:off x="6883366" y="2709096"/>
                <a:ext cx="4546634" cy="923330"/>
              </a:xfrm>
              <a:prstGeom prst="rect">
                <a:avLst/>
              </a:prstGeom>
              <a:noFill/>
            </p:spPr>
            <p:txBody>
              <a:bodyPr wrap="square" rtlCol="0">
                <a:spAutoFit/>
              </a:bodyPr>
              <a:lstStyle/>
              <a:p>
                <a:pPr algn="ctr"/>
                <a:r>
                  <a:rPr lang="en-US" b="1" dirty="0"/>
                  <a:t>shallow</a:t>
                </a:r>
                <a:r>
                  <a:rPr lang="en-US" dirty="0"/>
                  <a:t> waveguide</a:t>
                </a:r>
              </a:p>
              <a:p>
                <a:pPr algn="ctr"/>
                <a:endParaRPr lang="en-US" dirty="0"/>
              </a:p>
              <a:p>
                <a:pPr algn="ctr"/>
                <a:r>
                  <a:rPr lang="en-US" dirty="0"/>
                  <a:t>Paste </a:t>
                </a:r>
                <a14:m>
                  <m:oMath xmlns:m="http://schemas.openxmlformats.org/officeDocument/2006/math">
                    <m:sSub>
                      <m:sSubPr>
                        <m:ctrlPr>
                          <a:rPr lang="es-ES" sz="1800" b="0" i="1" smtClean="0">
                            <a:latin typeface="Cambria Math" panose="02040503050406030204" pitchFamily="18" charset="0"/>
                          </a:rPr>
                        </m:ctrlPr>
                      </m:sSubPr>
                      <m:e>
                        <m:r>
                          <a:rPr lang="es-ES" sz="1800" b="0" i="1" smtClean="0">
                            <a:latin typeface="Cambria Math" panose="02040503050406030204" pitchFamily="18" charset="0"/>
                          </a:rPr>
                          <m:t>𝐿</m:t>
                        </m:r>
                      </m:e>
                      <m:sub>
                        <m:r>
                          <a:rPr lang="es-ES" sz="1800" b="0" i="1" smtClean="0">
                            <a:latin typeface="Cambria Math" panose="02040503050406030204" pitchFamily="18" charset="0"/>
                          </a:rPr>
                          <m:t>𝜋</m:t>
                        </m:r>
                      </m:sub>
                    </m:sSub>
                  </m:oMath>
                </a14:m>
                <a:r>
                  <a:rPr lang="en-US" dirty="0"/>
                  <a:t> vs </a:t>
                </a:r>
                <a:r>
                  <a:rPr lang="en-US" dirty="0" err="1"/>
                  <a:t>wvl</a:t>
                </a:r>
                <a:r>
                  <a:rPr lang="en-US" dirty="0"/>
                  <a:t> for TE and TM plot here</a:t>
                </a:r>
              </a:p>
            </p:txBody>
          </p:sp>
        </mc:Choice>
        <mc:Fallback xmlns="">
          <p:sp>
            <p:nvSpPr>
              <p:cNvPr id="9" name="CuadroTexto 8">
                <a:extLst>
                  <a:ext uri="{FF2B5EF4-FFF2-40B4-BE49-F238E27FC236}">
                    <a16:creationId xmlns:a16="http://schemas.microsoft.com/office/drawing/2014/main" id="{BBDDC809-0F06-CBE2-4D1A-3A2FA36C33A8}"/>
                  </a:ext>
                </a:extLst>
              </p:cNvPr>
              <p:cNvSpPr txBox="1">
                <a:spLocks noRot="1" noChangeAspect="1" noMove="1" noResize="1" noEditPoints="1" noAdjustHandles="1" noChangeArrowheads="1" noChangeShapeType="1" noTextEdit="1"/>
              </p:cNvSpPr>
              <p:nvPr/>
            </p:nvSpPr>
            <p:spPr>
              <a:xfrm>
                <a:off x="6883366" y="2709096"/>
                <a:ext cx="4546634" cy="923330"/>
              </a:xfrm>
              <a:prstGeom prst="rect">
                <a:avLst/>
              </a:prstGeom>
              <a:blipFill>
                <a:blip r:embed="rId6"/>
                <a:stretch>
                  <a:fillRect t="-3289" b="-9211"/>
                </a:stretch>
              </a:blipFill>
            </p:spPr>
            <p:txBody>
              <a:bodyPr/>
              <a:lstStyle/>
              <a:p>
                <a:r>
                  <a:rPr lang="es-ES">
                    <a:noFill/>
                  </a:rPr>
                  <a:t> </a:t>
                </a:r>
              </a:p>
            </p:txBody>
          </p:sp>
        </mc:Fallback>
      </mc:AlternateContent>
    </p:spTree>
    <p:extLst>
      <p:ext uri="{BB962C8B-B14F-4D97-AF65-F5344CB8AC3E}">
        <p14:creationId xmlns:p14="http://schemas.microsoft.com/office/powerpoint/2010/main" val="81355806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90AC3D-36B7-D786-3825-B4DD6EADD689}"/>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6AA2E789-F7AE-F068-274C-E0F13A22DBCA}"/>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Extra #3 – MMI coupler wavelength dependence</a:t>
            </a:r>
            <a:br>
              <a:rPr lang="en-US" sz="2500" spc="-5" dirty="0">
                <a:latin typeface="+mj-lt"/>
                <a:cs typeface="Lucida Sans"/>
              </a:rPr>
            </a:br>
            <a:r>
              <a:rPr lang="en-US" b="0" dirty="0"/>
              <a:t>Wavelengths from 1.5 to 1.7 µm, </a:t>
            </a:r>
            <a:r>
              <a:rPr lang="en-US" b="0" dirty="0" err="1"/>
              <a:t>wMMI</a:t>
            </a:r>
            <a:r>
              <a:rPr lang="en-US" b="0" dirty="0"/>
              <a:t> = 6.6 µm</a:t>
            </a:r>
            <a:endParaRPr lang="en-US" sz="2500" b="0" dirty="0">
              <a:latin typeface="+mj-lt"/>
              <a:cs typeface="Lucida Sans"/>
            </a:endParaRPr>
          </a:p>
        </p:txBody>
      </p:sp>
      <p:pic>
        <p:nvPicPr>
          <p:cNvPr id="83" name="Gráfico 82">
            <a:extLst>
              <a:ext uri="{FF2B5EF4-FFF2-40B4-BE49-F238E27FC236}">
                <a16:creationId xmlns:a16="http://schemas.microsoft.com/office/drawing/2014/main" id="{3AEAD01B-7604-8009-5694-A556497AEF2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696E3846-1BD2-4F23-48AA-C7AF2A1EE6EB}"/>
              </a:ext>
            </a:extLst>
          </p:cNvPr>
          <p:cNvSpPr>
            <a:spLocks noGrp="1"/>
          </p:cNvSpPr>
          <p:nvPr>
            <p:ph type="sldNum" sz="quarter" idx="7"/>
          </p:nvPr>
        </p:nvSpPr>
        <p:spPr/>
        <p:txBody>
          <a:bodyPr/>
          <a:lstStyle/>
          <a:p>
            <a:fld id="{B6F15528-21DE-4FAA-801E-634DDDAF4B2B}" type="slidenum">
              <a:rPr lang="es-ES" smtClean="0"/>
              <a:t>22</a:t>
            </a:fld>
            <a:endParaRPr lang="es-ES"/>
          </a:p>
        </p:txBody>
      </p:sp>
      <p:sp>
        <p:nvSpPr>
          <p:cNvPr id="3" name="Marcador de pie de página 2">
            <a:extLst>
              <a:ext uri="{FF2B5EF4-FFF2-40B4-BE49-F238E27FC236}">
                <a16:creationId xmlns:a16="http://schemas.microsoft.com/office/drawing/2014/main" id="{E32C0E2B-75B6-4768-A4C7-F165A264DA0B}"/>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2" name="CuadroTexto 1">
            <a:extLst>
              <a:ext uri="{FF2B5EF4-FFF2-40B4-BE49-F238E27FC236}">
                <a16:creationId xmlns:a16="http://schemas.microsoft.com/office/drawing/2014/main" id="{82A62DD6-5488-72A1-9926-0CAEE59089A9}"/>
              </a:ext>
            </a:extLst>
          </p:cNvPr>
          <p:cNvSpPr txBox="1"/>
          <p:nvPr/>
        </p:nvSpPr>
        <p:spPr>
          <a:xfrm>
            <a:off x="609441" y="4860334"/>
            <a:ext cx="11199971" cy="1200329"/>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Comment results (Important. Compare with Directional Coupler)</a:t>
            </a: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
        <p:nvSpPr>
          <p:cNvPr id="4" name="Rectángulo 3">
            <a:extLst>
              <a:ext uri="{FF2B5EF4-FFF2-40B4-BE49-F238E27FC236}">
                <a16:creationId xmlns:a16="http://schemas.microsoft.com/office/drawing/2014/main" id="{796EDE51-D41E-C23B-F402-2F7357DE8714}"/>
              </a:ext>
            </a:extLst>
          </p:cNvPr>
          <p:cNvSpPr/>
          <p:nvPr/>
        </p:nvSpPr>
        <p:spPr>
          <a:xfrm>
            <a:off x="609441" y="1447800"/>
            <a:ext cx="5486559"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ángulo 4">
            <a:extLst>
              <a:ext uri="{FF2B5EF4-FFF2-40B4-BE49-F238E27FC236}">
                <a16:creationId xmlns:a16="http://schemas.microsoft.com/office/drawing/2014/main" id="{5A3233C9-FE6F-52D8-4D87-224222BDA8E1}"/>
              </a:ext>
            </a:extLst>
          </p:cNvPr>
          <p:cNvSpPr/>
          <p:nvPr/>
        </p:nvSpPr>
        <p:spPr>
          <a:xfrm>
            <a:off x="6321424" y="1447800"/>
            <a:ext cx="5486559"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CuadroTexto 5">
            <a:extLst>
              <a:ext uri="{FF2B5EF4-FFF2-40B4-BE49-F238E27FC236}">
                <a16:creationId xmlns:a16="http://schemas.microsoft.com/office/drawing/2014/main" id="{0C016548-01A2-6E58-B80D-148384B98EB3}"/>
              </a:ext>
            </a:extLst>
          </p:cNvPr>
          <p:cNvSpPr txBox="1"/>
          <p:nvPr/>
        </p:nvSpPr>
        <p:spPr>
          <a:xfrm>
            <a:off x="6331152" y="4342178"/>
            <a:ext cx="2269787" cy="369332"/>
          </a:xfrm>
          <a:prstGeom prst="rect">
            <a:avLst/>
          </a:prstGeom>
          <a:noFill/>
        </p:spPr>
        <p:txBody>
          <a:bodyPr wrap="square">
            <a:spAutoFit/>
          </a:bodyPr>
          <a:lstStyle/>
          <a:p>
            <a:r>
              <a:rPr lang="en-US" dirty="0"/>
              <a:t>slab = 150nm</a:t>
            </a:r>
            <a:endParaRPr lang="es-ES" dirty="0"/>
          </a:p>
        </p:txBody>
      </p:sp>
      <mc:AlternateContent xmlns:mc="http://schemas.openxmlformats.org/markup-compatibility/2006" xmlns:a14="http://schemas.microsoft.com/office/drawing/2010/main">
        <mc:Choice Requires="a14">
          <p:sp>
            <p:nvSpPr>
              <p:cNvPr id="9" name="CuadroTexto 8">
                <a:extLst>
                  <a:ext uri="{FF2B5EF4-FFF2-40B4-BE49-F238E27FC236}">
                    <a16:creationId xmlns:a16="http://schemas.microsoft.com/office/drawing/2014/main" id="{075D03BE-0D6A-89E5-3C68-D7BD97B4676E}"/>
                  </a:ext>
                </a:extLst>
              </p:cNvPr>
              <p:cNvSpPr txBox="1"/>
              <p:nvPr/>
            </p:nvSpPr>
            <p:spPr>
              <a:xfrm>
                <a:off x="1079403" y="2709096"/>
                <a:ext cx="4546634" cy="923330"/>
              </a:xfrm>
              <a:prstGeom prst="rect">
                <a:avLst/>
              </a:prstGeom>
              <a:noFill/>
            </p:spPr>
            <p:txBody>
              <a:bodyPr wrap="square" rtlCol="0">
                <a:spAutoFit/>
              </a:bodyPr>
              <a:lstStyle/>
              <a:p>
                <a:pPr algn="ctr"/>
                <a:r>
                  <a:rPr lang="en-US" b="1" dirty="0"/>
                  <a:t>deep</a:t>
                </a:r>
                <a:r>
                  <a:rPr lang="en-US" dirty="0"/>
                  <a:t> waveguide</a:t>
                </a:r>
              </a:p>
              <a:p>
                <a:pPr algn="ctr"/>
                <a:endParaRPr lang="en-US" dirty="0"/>
              </a:p>
              <a:p>
                <a:pPr algn="ctr"/>
                <a:r>
                  <a:rPr lang="en-US" dirty="0"/>
                  <a:t>Paste </a:t>
                </a:r>
                <a14:m>
                  <m:oMath xmlns:m="http://schemas.openxmlformats.org/officeDocument/2006/math">
                    <m:sSub>
                      <m:sSubPr>
                        <m:ctrlPr>
                          <a:rPr lang="es-ES" sz="1800" b="0" i="1" smtClean="0">
                            <a:latin typeface="Cambria Math" panose="02040503050406030204" pitchFamily="18" charset="0"/>
                          </a:rPr>
                        </m:ctrlPr>
                      </m:sSubPr>
                      <m:e>
                        <m:r>
                          <a:rPr lang="es-ES" sz="1800" b="0" i="1" smtClean="0">
                            <a:latin typeface="Cambria Math" panose="02040503050406030204" pitchFamily="18" charset="0"/>
                          </a:rPr>
                          <m:t>𝐿</m:t>
                        </m:r>
                      </m:e>
                      <m:sub>
                        <m:r>
                          <a:rPr lang="es-ES" sz="1800" b="0" i="1" smtClean="0">
                            <a:latin typeface="Cambria Math" panose="02040503050406030204" pitchFamily="18" charset="0"/>
                          </a:rPr>
                          <m:t>𝜋</m:t>
                        </m:r>
                      </m:sub>
                    </m:sSub>
                  </m:oMath>
                </a14:m>
                <a:r>
                  <a:rPr lang="en-US" dirty="0"/>
                  <a:t> vs </a:t>
                </a:r>
                <a:r>
                  <a:rPr lang="en-US" dirty="0" err="1"/>
                  <a:t>wvl</a:t>
                </a:r>
                <a:r>
                  <a:rPr lang="en-US" dirty="0"/>
                  <a:t> for TE and TM plot here</a:t>
                </a:r>
              </a:p>
            </p:txBody>
          </p:sp>
        </mc:Choice>
        <mc:Fallback xmlns="">
          <p:sp>
            <p:nvSpPr>
              <p:cNvPr id="9" name="CuadroTexto 8">
                <a:extLst>
                  <a:ext uri="{FF2B5EF4-FFF2-40B4-BE49-F238E27FC236}">
                    <a16:creationId xmlns:a16="http://schemas.microsoft.com/office/drawing/2014/main" id="{075D03BE-0D6A-89E5-3C68-D7BD97B4676E}"/>
                  </a:ext>
                </a:extLst>
              </p:cNvPr>
              <p:cNvSpPr txBox="1">
                <a:spLocks noRot="1" noChangeAspect="1" noMove="1" noResize="1" noEditPoints="1" noAdjustHandles="1" noChangeArrowheads="1" noChangeShapeType="1" noTextEdit="1"/>
              </p:cNvSpPr>
              <p:nvPr/>
            </p:nvSpPr>
            <p:spPr>
              <a:xfrm>
                <a:off x="1079403" y="2709096"/>
                <a:ext cx="4546634" cy="923330"/>
              </a:xfrm>
              <a:prstGeom prst="rect">
                <a:avLst/>
              </a:prstGeom>
              <a:blipFill>
                <a:blip r:embed="rId5"/>
                <a:stretch>
                  <a:fillRect t="-3289" b="-9211"/>
                </a:stretch>
              </a:blipFill>
            </p:spPr>
            <p:txBody>
              <a:bodyPr/>
              <a:lstStyle/>
              <a:p>
                <a:r>
                  <a:rPr lang="es-ES">
                    <a:noFill/>
                  </a:rPr>
                  <a:t> </a:t>
                </a:r>
              </a:p>
            </p:txBody>
          </p:sp>
        </mc:Fallback>
      </mc:AlternateContent>
      <mc:AlternateContent xmlns:mc="http://schemas.openxmlformats.org/markup-compatibility/2006" xmlns:a14="http://schemas.microsoft.com/office/drawing/2010/main">
        <mc:Choice Requires="a14">
          <p:sp>
            <p:nvSpPr>
              <p:cNvPr id="10" name="CuadroTexto 9">
                <a:extLst>
                  <a:ext uri="{FF2B5EF4-FFF2-40B4-BE49-F238E27FC236}">
                    <a16:creationId xmlns:a16="http://schemas.microsoft.com/office/drawing/2014/main" id="{AC01EDEE-71CC-C570-700B-076F03FCF7E1}"/>
                  </a:ext>
                </a:extLst>
              </p:cNvPr>
              <p:cNvSpPr txBox="1"/>
              <p:nvPr/>
            </p:nvSpPr>
            <p:spPr>
              <a:xfrm>
                <a:off x="6883366" y="2709096"/>
                <a:ext cx="4546634" cy="923330"/>
              </a:xfrm>
              <a:prstGeom prst="rect">
                <a:avLst/>
              </a:prstGeom>
              <a:noFill/>
            </p:spPr>
            <p:txBody>
              <a:bodyPr wrap="square" rtlCol="0">
                <a:spAutoFit/>
              </a:bodyPr>
              <a:lstStyle/>
              <a:p>
                <a:pPr algn="ctr"/>
                <a:r>
                  <a:rPr lang="en-US" b="1" dirty="0"/>
                  <a:t>shallow</a:t>
                </a:r>
                <a:r>
                  <a:rPr lang="en-US" dirty="0"/>
                  <a:t> waveguide</a:t>
                </a:r>
              </a:p>
              <a:p>
                <a:pPr algn="ctr"/>
                <a:endParaRPr lang="en-US" dirty="0"/>
              </a:p>
              <a:p>
                <a:pPr algn="ctr"/>
                <a:r>
                  <a:rPr lang="en-US" dirty="0"/>
                  <a:t>Paste </a:t>
                </a:r>
                <a14:m>
                  <m:oMath xmlns:m="http://schemas.openxmlformats.org/officeDocument/2006/math">
                    <m:sSub>
                      <m:sSubPr>
                        <m:ctrlPr>
                          <a:rPr lang="es-ES" sz="1800" b="0" i="1" smtClean="0">
                            <a:latin typeface="Cambria Math" panose="02040503050406030204" pitchFamily="18" charset="0"/>
                          </a:rPr>
                        </m:ctrlPr>
                      </m:sSubPr>
                      <m:e>
                        <m:r>
                          <a:rPr lang="es-ES" sz="1800" b="0" i="1" smtClean="0">
                            <a:latin typeface="Cambria Math" panose="02040503050406030204" pitchFamily="18" charset="0"/>
                          </a:rPr>
                          <m:t>𝐿</m:t>
                        </m:r>
                      </m:e>
                      <m:sub>
                        <m:r>
                          <a:rPr lang="es-ES" sz="1800" b="0" i="1" smtClean="0">
                            <a:latin typeface="Cambria Math" panose="02040503050406030204" pitchFamily="18" charset="0"/>
                          </a:rPr>
                          <m:t>𝜋</m:t>
                        </m:r>
                      </m:sub>
                    </m:sSub>
                  </m:oMath>
                </a14:m>
                <a:r>
                  <a:rPr lang="en-US" dirty="0"/>
                  <a:t> vs </a:t>
                </a:r>
                <a:r>
                  <a:rPr lang="en-US" dirty="0" err="1"/>
                  <a:t>wvl</a:t>
                </a:r>
                <a:r>
                  <a:rPr lang="en-US" dirty="0"/>
                  <a:t> for TE and TM plot here</a:t>
                </a:r>
              </a:p>
            </p:txBody>
          </p:sp>
        </mc:Choice>
        <mc:Fallback xmlns="">
          <p:sp>
            <p:nvSpPr>
              <p:cNvPr id="10" name="CuadroTexto 9">
                <a:extLst>
                  <a:ext uri="{FF2B5EF4-FFF2-40B4-BE49-F238E27FC236}">
                    <a16:creationId xmlns:a16="http://schemas.microsoft.com/office/drawing/2014/main" id="{AC01EDEE-71CC-C570-700B-076F03FCF7E1}"/>
                  </a:ext>
                </a:extLst>
              </p:cNvPr>
              <p:cNvSpPr txBox="1">
                <a:spLocks noRot="1" noChangeAspect="1" noMove="1" noResize="1" noEditPoints="1" noAdjustHandles="1" noChangeArrowheads="1" noChangeShapeType="1" noTextEdit="1"/>
              </p:cNvSpPr>
              <p:nvPr/>
            </p:nvSpPr>
            <p:spPr>
              <a:xfrm>
                <a:off x="6883366" y="2709096"/>
                <a:ext cx="4546634" cy="923330"/>
              </a:xfrm>
              <a:prstGeom prst="rect">
                <a:avLst/>
              </a:prstGeom>
              <a:blipFill>
                <a:blip r:embed="rId6"/>
                <a:stretch>
                  <a:fillRect t="-3289" b="-9211"/>
                </a:stretch>
              </a:blipFill>
            </p:spPr>
            <p:txBody>
              <a:bodyPr/>
              <a:lstStyle/>
              <a:p>
                <a:r>
                  <a:rPr lang="es-ES">
                    <a:noFill/>
                  </a:rPr>
                  <a:t> </a:t>
                </a:r>
              </a:p>
            </p:txBody>
          </p:sp>
        </mc:Fallback>
      </mc:AlternateContent>
    </p:spTree>
    <p:extLst>
      <p:ext uri="{BB962C8B-B14F-4D97-AF65-F5344CB8AC3E}">
        <p14:creationId xmlns:p14="http://schemas.microsoft.com/office/powerpoint/2010/main" val="95514564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55C897-D580-E5C1-161C-F8E072695C0C}"/>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53FFBD12-4EFF-41C1-4765-2AD268B2BD94}"/>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Extra #4 – MMI coupler body width dependence</a:t>
            </a:r>
            <a:br>
              <a:rPr lang="en-US" sz="2500" spc="-5" dirty="0">
                <a:latin typeface="+mj-lt"/>
                <a:cs typeface="Lucida Sans"/>
              </a:rPr>
            </a:br>
            <a:r>
              <a:rPr lang="en-US" b="0" dirty="0"/>
              <a:t>Wavelength 1.55 µm, </a:t>
            </a:r>
            <a:r>
              <a:rPr lang="en-US" b="0" dirty="0" err="1"/>
              <a:t>wMMI</a:t>
            </a:r>
            <a:r>
              <a:rPr lang="en-US" b="0" dirty="0"/>
              <a:t> = 5-10 µm (steps 0.5 µm)</a:t>
            </a:r>
            <a:endParaRPr lang="en-US" sz="2500" b="0" dirty="0">
              <a:latin typeface="+mj-lt"/>
              <a:cs typeface="Lucida Sans"/>
            </a:endParaRPr>
          </a:p>
        </p:txBody>
      </p:sp>
      <p:pic>
        <p:nvPicPr>
          <p:cNvPr id="83" name="Gráfico 82">
            <a:extLst>
              <a:ext uri="{FF2B5EF4-FFF2-40B4-BE49-F238E27FC236}">
                <a16:creationId xmlns:a16="http://schemas.microsoft.com/office/drawing/2014/main" id="{C14AF521-052E-A1FA-D63D-CB0826C48D28}"/>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6C87B233-8A68-967F-55BC-3A828B5F39BA}"/>
              </a:ext>
            </a:extLst>
          </p:cNvPr>
          <p:cNvSpPr>
            <a:spLocks noGrp="1"/>
          </p:cNvSpPr>
          <p:nvPr>
            <p:ph type="sldNum" sz="quarter" idx="7"/>
          </p:nvPr>
        </p:nvSpPr>
        <p:spPr/>
        <p:txBody>
          <a:bodyPr/>
          <a:lstStyle/>
          <a:p>
            <a:fld id="{B6F15528-21DE-4FAA-801E-634DDDAF4B2B}" type="slidenum">
              <a:rPr lang="es-ES" smtClean="0"/>
              <a:t>23</a:t>
            </a:fld>
            <a:endParaRPr lang="es-ES"/>
          </a:p>
        </p:txBody>
      </p:sp>
      <p:sp>
        <p:nvSpPr>
          <p:cNvPr id="3" name="Marcador de pie de página 2">
            <a:extLst>
              <a:ext uri="{FF2B5EF4-FFF2-40B4-BE49-F238E27FC236}">
                <a16:creationId xmlns:a16="http://schemas.microsoft.com/office/drawing/2014/main" id="{DB1B524E-0E15-1C98-31B0-C98BD07BFBE8}"/>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2" name="CuadroTexto 1">
            <a:extLst>
              <a:ext uri="{FF2B5EF4-FFF2-40B4-BE49-F238E27FC236}">
                <a16:creationId xmlns:a16="http://schemas.microsoft.com/office/drawing/2014/main" id="{8D88CB07-C5F5-9BB7-9F41-E171F0F0E2B9}"/>
              </a:ext>
            </a:extLst>
          </p:cNvPr>
          <p:cNvSpPr txBox="1"/>
          <p:nvPr/>
        </p:nvSpPr>
        <p:spPr>
          <a:xfrm>
            <a:off x="609441" y="4860334"/>
            <a:ext cx="11199971" cy="1384995"/>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Polarization independent coupler: is there any point for which the MMI coupler can work identically for TE and TM? Answer yes / no and explain why?</a:t>
            </a: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
        <p:nvSpPr>
          <p:cNvPr id="4" name="Rectángulo 3">
            <a:extLst>
              <a:ext uri="{FF2B5EF4-FFF2-40B4-BE49-F238E27FC236}">
                <a16:creationId xmlns:a16="http://schemas.microsoft.com/office/drawing/2014/main" id="{B58B1BB0-E248-0BA3-D1B3-93649227103E}"/>
              </a:ext>
            </a:extLst>
          </p:cNvPr>
          <p:cNvSpPr/>
          <p:nvPr/>
        </p:nvSpPr>
        <p:spPr>
          <a:xfrm>
            <a:off x="609441" y="1447800"/>
            <a:ext cx="5486559"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ángulo 4">
            <a:extLst>
              <a:ext uri="{FF2B5EF4-FFF2-40B4-BE49-F238E27FC236}">
                <a16:creationId xmlns:a16="http://schemas.microsoft.com/office/drawing/2014/main" id="{8E0E2533-B1CA-72C4-3859-1CBDD5887887}"/>
              </a:ext>
            </a:extLst>
          </p:cNvPr>
          <p:cNvSpPr/>
          <p:nvPr/>
        </p:nvSpPr>
        <p:spPr>
          <a:xfrm>
            <a:off x="6321424" y="1447800"/>
            <a:ext cx="5486559"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CuadroTexto 5">
            <a:extLst>
              <a:ext uri="{FF2B5EF4-FFF2-40B4-BE49-F238E27FC236}">
                <a16:creationId xmlns:a16="http://schemas.microsoft.com/office/drawing/2014/main" id="{154B5534-E510-6404-1E30-B73FDF73AD42}"/>
              </a:ext>
            </a:extLst>
          </p:cNvPr>
          <p:cNvSpPr txBox="1"/>
          <p:nvPr/>
        </p:nvSpPr>
        <p:spPr>
          <a:xfrm>
            <a:off x="6331152" y="4342178"/>
            <a:ext cx="2269787" cy="369332"/>
          </a:xfrm>
          <a:prstGeom prst="rect">
            <a:avLst/>
          </a:prstGeom>
          <a:noFill/>
        </p:spPr>
        <p:txBody>
          <a:bodyPr wrap="square">
            <a:spAutoFit/>
          </a:bodyPr>
          <a:lstStyle/>
          <a:p>
            <a:r>
              <a:rPr lang="en-US" dirty="0"/>
              <a:t>slab = 150nm</a:t>
            </a:r>
            <a:endParaRPr lang="es-ES" dirty="0"/>
          </a:p>
        </p:txBody>
      </p:sp>
      <mc:AlternateContent xmlns:mc="http://schemas.openxmlformats.org/markup-compatibility/2006" xmlns:a14="http://schemas.microsoft.com/office/drawing/2010/main">
        <mc:Choice Requires="a14">
          <p:sp>
            <p:nvSpPr>
              <p:cNvPr id="9" name="CuadroTexto 8">
                <a:extLst>
                  <a:ext uri="{FF2B5EF4-FFF2-40B4-BE49-F238E27FC236}">
                    <a16:creationId xmlns:a16="http://schemas.microsoft.com/office/drawing/2014/main" id="{2BDFECD2-156D-6697-CFBF-8CD783F9B986}"/>
                  </a:ext>
                </a:extLst>
              </p:cNvPr>
              <p:cNvSpPr txBox="1"/>
              <p:nvPr/>
            </p:nvSpPr>
            <p:spPr>
              <a:xfrm>
                <a:off x="1079403" y="2709096"/>
                <a:ext cx="4546634" cy="923330"/>
              </a:xfrm>
              <a:prstGeom prst="rect">
                <a:avLst/>
              </a:prstGeom>
              <a:noFill/>
            </p:spPr>
            <p:txBody>
              <a:bodyPr wrap="square" rtlCol="0">
                <a:spAutoFit/>
              </a:bodyPr>
              <a:lstStyle/>
              <a:p>
                <a:pPr algn="ctr"/>
                <a:r>
                  <a:rPr lang="en-US" b="1" dirty="0"/>
                  <a:t>deep</a:t>
                </a:r>
                <a:r>
                  <a:rPr lang="en-US" dirty="0"/>
                  <a:t> waveguide</a:t>
                </a:r>
              </a:p>
              <a:p>
                <a:pPr algn="ctr"/>
                <a:endParaRPr lang="en-US" dirty="0"/>
              </a:p>
              <a:p>
                <a:pPr algn="ctr"/>
                <a:r>
                  <a:rPr lang="en-US" dirty="0"/>
                  <a:t>Paste </a:t>
                </a:r>
                <a14:m>
                  <m:oMath xmlns:m="http://schemas.openxmlformats.org/officeDocument/2006/math">
                    <m:sSub>
                      <m:sSubPr>
                        <m:ctrlPr>
                          <a:rPr lang="es-ES" sz="1800" b="0" i="1" smtClean="0">
                            <a:latin typeface="Cambria Math" panose="02040503050406030204" pitchFamily="18" charset="0"/>
                          </a:rPr>
                        </m:ctrlPr>
                      </m:sSubPr>
                      <m:e>
                        <m:r>
                          <a:rPr lang="es-ES" sz="1800" b="0" i="1" smtClean="0">
                            <a:latin typeface="Cambria Math" panose="02040503050406030204" pitchFamily="18" charset="0"/>
                          </a:rPr>
                          <m:t>𝐿</m:t>
                        </m:r>
                      </m:e>
                      <m:sub>
                        <m:r>
                          <a:rPr lang="es-ES" sz="1800" b="0" i="1" smtClean="0">
                            <a:latin typeface="Cambria Math" panose="02040503050406030204" pitchFamily="18" charset="0"/>
                          </a:rPr>
                          <m:t>𝜋</m:t>
                        </m:r>
                      </m:sub>
                    </m:sSub>
                  </m:oMath>
                </a14:m>
                <a:r>
                  <a:rPr lang="en-US" dirty="0"/>
                  <a:t> vs width for TE and TM plot here</a:t>
                </a:r>
              </a:p>
            </p:txBody>
          </p:sp>
        </mc:Choice>
        <mc:Fallback xmlns="">
          <p:sp>
            <p:nvSpPr>
              <p:cNvPr id="9" name="CuadroTexto 8">
                <a:extLst>
                  <a:ext uri="{FF2B5EF4-FFF2-40B4-BE49-F238E27FC236}">
                    <a16:creationId xmlns:a16="http://schemas.microsoft.com/office/drawing/2014/main" id="{2BDFECD2-156D-6697-CFBF-8CD783F9B986}"/>
                  </a:ext>
                </a:extLst>
              </p:cNvPr>
              <p:cNvSpPr txBox="1">
                <a:spLocks noRot="1" noChangeAspect="1" noMove="1" noResize="1" noEditPoints="1" noAdjustHandles="1" noChangeArrowheads="1" noChangeShapeType="1" noTextEdit="1"/>
              </p:cNvSpPr>
              <p:nvPr/>
            </p:nvSpPr>
            <p:spPr>
              <a:xfrm>
                <a:off x="1079403" y="2709096"/>
                <a:ext cx="4546634" cy="923330"/>
              </a:xfrm>
              <a:prstGeom prst="rect">
                <a:avLst/>
              </a:prstGeom>
              <a:blipFill>
                <a:blip r:embed="rId5"/>
                <a:stretch>
                  <a:fillRect t="-3289" b="-9211"/>
                </a:stretch>
              </a:blipFill>
            </p:spPr>
            <p:txBody>
              <a:bodyPr/>
              <a:lstStyle/>
              <a:p>
                <a:r>
                  <a:rPr lang="es-ES">
                    <a:noFill/>
                  </a:rPr>
                  <a:t> </a:t>
                </a:r>
              </a:p>
            </p:txBody>
          </p:sp>
        </mc:Fallback>
      </mc:AlternateContent>
      <mc:AlternateContent xmlns:mc="http://schemas.openxmlformats.org/markup-compatibility/2006" xmlns:a14="http://schemas.microsoft.com/office/drawing/2010/main">
        <mc:Choice Requires="a14">
          <p:sp>
            <p:nvSpPr>
              <p:cNvPr id="10" name="CuadroTexto 9">
                <a:extLst>
                  <a:ext uri="{FF2B5EF4-FFF2-40B4-BE49-F238E27FC236}">
                    <a16:creationId xmlns:a16="http://schemas.microsoft.com/office/drawing/2014/main" id="{3BFC64CA-DE35-A528-CF09-36A26DB3DEE4}"/>
                  </a:ext>
                </a:extLst>
              </p:cNvPr>
              <p:cNvSpPr txBox="1"/>
              <p:nvPr/>
            </p:nvSpPr>
            <p:spPr>
              <a:xfrm>
                <a:off x="6883366" y="2709096"/>
                <a:ext cx="4546634" cy="923330"/>
              </a:xfrm>
              <a:prstGeom prst="rect">
                <a:avLst/>
              </a:prstGeom>
              <a:noFill/>
            </p:spPr>
            <p:txBody>
              <a:bodyPr wrap="square" rtlCol="0">
                <a:spAutoFit/>
              </a:bodyPr>
              <a:lstStyle/>
              <a:p>
                <a:pPr algn="ctr"/>
                <a:r>
                  <a:rPr lang="en-US" b="1" dirty="0"/>
                  <a:t>shallow</a:t>
                </a:r>
                <a:r>
                  <a:rPr lang="en-US" dirty="0"/>
                  <a:t> waveguide</a:t>
                </a:r>
              </a:p>
              <a:p>
                <a:pPr algn="ctr"/>
                <a:endParaRPr lang="en-US" dirty="0"/>
              </a:p>
              <a:p>
                <a:pPr algn="ctr"/>
                <a:r>
                  <a:rPr lang="en-US" dirty="0"/>
                  <a:t>Paste </a:t>
                </a:r>
                <a14:m>
                  <m:oMath xmlns:m="http://schemas.openxmlformats.org/officeDocument/2006/math">
                    <m:sSub>
                      <m:sSubPr>
                        <m:ctrlPr>
                          <a:rPr lang="es-ES" sz="1800" b="0" i="1" smtClean="0">
                            <a:latin typeface="Cambria Math" panose="02040503050406030204" pitchFamily="18" charset="0"/>
                          </a:rPr>
                        </m:ctrlPr>
                      </m:sSubPr>
                      <m:e>
                        <m:r>
                          <a:rPr lang="es-ES" sz="1800" b="0" i="1" smtClean="0">
                            <a:latin typeface="Cambria Math" panose="02040503050406030204" pitchFamily="18" charset="0"/>
                          </a:rPr>
                          <m:t>𝐿</m:t>
                        </m:r>
                      </m:e>
                      <m:sub>
                        <m:r>
                          <a:rPr lang="es-ES" sz="1800" b="0" i="1" smtClean="0">
                            <a:latin typeface="Cambria Math" panose="02040503050406030204" pitchFamily="18" charset="0"/>
                          </a:rPr>
                          <m:t>𝜋</m:t>
                        </m:r>
                      </m:sub>
                    </m:sSub>
                  </m:oMath>
                </a14:m>
                <a:r>
                  <a:rPr lang="en-US" dirty="0"/>
                  <a:t> vs width for TE and TM plot here</a:t>
                </a:r>
              </a:p>
            </p:txBody>
          </p:sp>
        </mc:Choice>
        <mc:Fallback xmlns="">
          <p:sp>
            <p:nvSpPr>
              <p:cNvPr id="10" name="CuadroTexto 9">
                <a:extLst>
                  <a:ext uri="{FF2B5EF4-FFF2-40B4-BE49-F238E27FC236}">
                    <a16:creationId xmlns:a16="http://schemas.microsoft.com/office/drawing/2014/main" id="{3BFC64CA-DE35-A528-CF09-36A26DB3DEE4}"/>
                  </a:ext>
                </a:extLst>
              </p:cNvPr>
              <p:cNvSpPr txBox="1">
                <a:spLocks noRot="1" noChangeAspect="1" noMove="1" noResize="1" noEditPoints="1" noAdjustHandles="1" noChangeArrowheads="1" noChangeShapeType="1" noTextEdit="1"/>
              </p:cNvSpPr>
              <p:nvPr/>
            </p:nvSpPr>
            <p:spPr>
              <a:xfrm>
                <a:off x="6883366" y="2709096"/>
                <a:ext cx="4546634" cy="923330"/>
              </a:xfrm>
              <a:prstGeom prst="rect">
                <a:avLst/>
              </a:prstGeom>
              <a:blipFill>
                <a:blip r:embed="rId6"/>
                <a:stretch>
                  <a:fillRect t="-3289" b="-9211"/>
                </a:stretch>
              </a:blipFill>
            </p:spPr>
            <p:txBody>
              <a:bodyPr/>
              <a:lstStyle/>
              <a:p>
                <a:r>
                  <a:rPr lang="es-ES">
                    <a:noFill/>
                  </a:rPr>
                  <a:t> </a:t>
                </a:r>
              </a:p>
            </p:txBody>
          </p:sp>
        </mc:Fallback>
      </mc:AlternateContent>
    </p:spTree>
    <p:extLst>
      <p:ext uri="{BB962C8B-B14F-4D97-AF65-F5344CB8AC3E}">
        <p14:creationId xmlns:p14="http://schemas.microsoft.com/office/powerpoint/2010/main" val="535939439"/>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bject 3"/>
          <p:cNvSpPr/>
          <p:nvPr/>
        </p:nvSpPr>
        <p:spPr>
          <a:xfrm>
            <a:off x="3945635" y="2636520"/>
            <a:ext cx="8246363" cy="1584959"/>
          </a:xfrm>
          <a:prstGeom prst="rect">
            <a:avLst/>
          </a:prstGeom>
          <a:blipFill>
            <a:blip r:embed="rId2" cstate="print"/>
            <a:stretch>
              <a:fillRect/>
            </a:stretch>
          </a:blipFill>
        </p:spPr>
        <p:txBody>
          <a:bodyPr wrap="square" lIns="0" tIns="0" rIns="0" bIns="0" rtlCol="0"/>
          <a:lstStyle/>
          <a:p>
            <a:endParaRPr/>
          </a:p>
        </p:txBody>
      </p:sp>
      <p:sp>
        <p:nvSpPr>
          <p:cNvPr id="4" name="object 4"/>
          <p:cNvSpPr txBox="1">
            <a:spLocks noGrp="1"/>
          </p:cNvSpPr>
          <p:nvPr>
            <p:ph type="title"/>
          </p:nvPr>
        </p:nvSpPr>
        <p:spPr>
          <a:xfrm>
            <a:off x="4513326" y="3165729"/>
            <a:ext cx="2233295" cy="513715"/>
          </a:xfrm>
          <a:prstGeom prst="rect">
            <a:avLst/>
          </a:prstGeom>
        </p:spPr>
        <p:txBody>
          <a:bodyPr vert="horz" wrap="square" lIns="0" tIns="13335" rIns="0" bIns="0" rtlCol="0">
            <a:spAutoFit/>
          </a:bodyPr>
          <a:lstStyle/>
          <a:p>
            <a:pPr marL="12700">
              <a:lnSpc>
                <a:spcPct val="100000"/>
              </a:lnSpc>
              <a:spcBef>
                <a:spcPts val="105"/>
              </a:spcBef>
            </a:pPr>
            <a:r>
              <a:rPr sz="3200" b="1" spc="-5" dirty="0">
                <a:solidFill>
                  <a:srgbClr val="FFFFFF"/>
                </a:solidFill>
                <a:latin typeface="Lucida Sans"/>
                <a:cs typeface="Lucida Sans"/>
              </a:rPr>
              <a:t>Thank</a:t>
            </a:r>
            <a:r>
              <a:rPr sz="3200" b="1" spc="-55" dirty="0">
                <a:solidFill>
                  <a:srgbClr val="FFFFFF"/>
                </a:solidFill>
                <a:latin typeface="Lucida Sans"/>
                <a:cs typeface="Lucida Sans"/>
              </a:rPr>
              <a:t> </a:t>
            </a:r>
            <a:r>
              <a:rPr sz="3200" b="1" dirty="0">
                <a:solidFill>
                  <a:srgbClr val="FFFFFF"/>
                </a:solidFill>
                <a:latin typeface="Lucida Sans"/>
                <a:cs typeface="Lucida Sans"/>
              </a:rPr>
              <a:t>you</a:t>
            </a:r>
            <a:endParaRPr sz="3200">
              <a:latin typeface="Lucida Sans"/>
              <a:cs typeface="Lucida Sans"/>
            </a:endParaRPr>
          </a:p>
        </p:txBody>
      </p:sp>
      <p:sp>
        <p:nvSpPr>
          <p:cNvPr id="5" name="Marcador de número de diapositiva 4">
            <a:extLst>
              <a:ext uri="{FF2B5EF4-FFF2-40B4-BE49-F238E27FC236}">
                <a16:creationId xmlns:a16="http://schemas.microsoft.com/office/drawing/2014/main" id="{B052DA19-AD24-7D24-2AE9-51F8F5A7F5E0}"/>
              </a:ext>
            </a:extLst>
          </p:cNvPr>
          <p:cNvSpPr>
            <a:spLocks noGrp="1"/>
          </p:cNvSpPr>
          <p:nvPr>
            <p:ph type="sldNum" sz="quarter" idx="7"/>
          </p:nvPr>
        </p:nvSpPr>
        <p:spPr/>
        <p:txBody>
          <a:bodyPr/>
          <a:lstStyle/>
          <a:p>
            <a:fld id="{B6F15528-21DE-4FAA-801E-634DDDAF4B2B}" type="slidenum">
              <a:rPr lang="es-ES" smtClean="0"/>
              <a:t>24</a:t>
            </a:fld>
            <a:endParaRPr lang="es-E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00"/>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
  <TotalTime>1080</TotalTime>
  <Words>2441</Words>
  <Application>Microsoft Office PowerPoint</Application>
  <PresentationFormat>Panorámica</PresentationFormat>
  <Paragraphs>274</Paragraphs>
  <Slides>24</Slides>
  <Notes>19</Notes>
  <HiddenSlides>0</HiddenSlides>
  <MMClips>0</MMClips>
  <ScaleCrop>false</ScaleCrop>
  <HeadingPairs>
    <vt:vector size="6" baseType="variant">
      <vt:variant>
        <vt:lpstr>Fuentes usadas</vt:lpstr>
      </vt:variant>
      <vt:variant>
        <vt:i4>7</vt:i4>
      </vt:variant>
      <vt:variant>
        <vt:lpstr>Tema</vt:lpstr>
      </vt:variant>
      <vt:variant>
        <vt:i4>1</vt:i4>
      </vt:variant>
      <vt:variant>
        <vt:lpstr>Títulos de diapositiva</vt:lpstr>
      </vt:variant>
      <vt:variant>
        <vt:i4>24</vt:i4>
      </vt:variant>
    </vt:vector>
  </HeadingPairs>
  <TitlesOfParts>
    <vt:vector size="32" baseType="lpstr">
      <vt:lpstr>Aptos</vt:lpstr>
      <vt:lpstr>Arial</vt:lpstr>
      <vt:lpstr>Calibri</vt:lpstr>
      <vt:lpstr>Cambria Math</vt:lpstr>
      <vt:lpstr>Lucida Sans</vt:lpstr>
      <vt:lpstr>Times New Roman</vt:lpstr>
      <vt:lpstr>Wingdings</vt:lpstr>
      <vt:lpstr>Office Theme</vt:lpstr>
      <vt:lpstr>Presentación de PowerPoint</vt:lpstr>
      <vt:lpstr>Instructions General</vt:lpstr>
      <vt:lpstr>Presentación de PowerPoint</vt:lpstr>
      <vt:lpstr>Learning outcome #1 – Directional coupler cross-section in GDSFactory </vt:lpstr>
      <vt:lpstr>Learning outcome #1 – Directional coupler cross-section in GDSFactory </vt:lpstr>
      <vt:lpstr>Learning outcome #1 – Directional coupler cross-section in GDSFactory </vt:lpstr>
      <vt:lpstr>Learning outcome #2 – Directional coupler length and coupling coefficient Wavelength 1.5 µm – width 1.2 µm – gap 0.6 µm – thickness 300 nm</vt:lpstr>
      <vt:lpstr>Learning outcome #3 – 2x2 Directional Coupler Wavelength 1.55 µm – Sweep gaps between 0.2 and 1.2 µm in steps of 0.2 µm</vt:lpstr>
      <vt:lpstr>Learning outcome #3 – 2x2 Directional Coupler Wavelength 1.55 µm – Sweep gaps between 0.2 and 1.2 µm in steps of 0.2 µm</vt:lpstr>
      <vt:lpstr>Learning outcome #3 – 2x2 Directional Coupler Wavelength 1.55 µm – Sweep gaps between 0.2 and 1.2 µm in steps of 0.2 µm</vt:lpstr>
      <vt:lpstr>Learning outcome #4 – Parallel uncoupled waveguides – TE0 mode Wavelength 1.55 µm, width 1.0 µm, gap to be found for uncoupled wvgs</vt:lpstr>
      <vt:lpstr>Presentación de PowerPoint</vt:lpstr>
      <vt:lpstr>Learning outcome #5 – Multimode Interference (MMI) Coupler cross-section</vt:lpstr>
      <vt:lpstr>Learning outcome #5 – Multimode Interference (MMI) Coupler cross-section</vt:lpstr>
      <vt:lpstr>Learning outcome #5 – Multimode Interference (MMI) Coupler cross-section</vt:lpstr>
      <vt:lpstr>Learning outcome #6 – 6.1 2x2 Multimode Interference Coupler  Wavelength 1.55 µm, wMMI = 6.6 µm</vt:lpstr>
      <vt:lpstr>Learning outcome #6.2 – 2x2 Multimode Interference Coupler - Optimization Wavelength 1.55 µm, wMMI = 6.6 µm</vt:lpstr>
      <vt:lpstr>Learning outcome #6.3 – 2x2 Multimode Interference Coupler – Optimization (II) Wavelength 1.55 µm, wMMI = 6.6 µm</vt:lpstr>
      <vt:lpstr>Learning outcome #7 – 1x4 Multimode Interference Coupler  Wavelength 1.55 µm, wMMI = ? µm</vt:lpstr>
      <vt:lpstr>Extra #1 – Directional coupler gap dependence Wavelength 1.55 µm, width 1.0 µm, gap 0.2-2.4 µm (step 0.2 µm) </vt:lpstr>
      <vt:lpstr>Extra #2 – Directional wavelength dependence Wavelengths from 1.5 to 1.7 µm, gap = 0.6 µm, width 1.0 µm  </vt:lpstr>
      <vt:lpstr>Extra #3 – MMI coupler wavelength dependence Wavelengths from 1.5 to 1.7 µm, wMMI = 6.6 µm</vt:lpstr>
      <vt:lpstr>Extra #4 – MMI coupler body width dependence Wavelength 1.55 µm, wMMI = 5-10 µm (steps 0.5 µm)</vt:lpstr>
      <vt:lpstr>Thank you</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Presentación de PowerPoint</dc:title>
  <dc:creator>Mª Ester Calataytud</dc:creator>
  <cp:lastModifiedBy>Pablo de Manuel Y Vicente</cp:lastModifiedBy>
  <cp:revision>27</cp:revision>
  <dcterms:created xsi:type="dcterms:W3CDTF">2025-01-27T02:46:57Z</dcterms:created>
  <dcterms:modified xsi:type="dcterms:W3CDTF">2026-04-28T15:40:24Z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reated">
    <vt:filetime>2024-09-16T00:00:00Z</vt:filetime>
  </property>
  <property fmtid="{D5CDD505-2E9C-101B-9397-08002B2CF9AE}" pid="3" name="Creator">
    <vt:lpwstr>Microsoft® PowerPoint® 2016</vt:lpwstr>
  </property>
  <property fmtid="{D5CDD505-2E9C-101B-9397-08002B2CF9AE}" pid="4" name="LastSaved">
    <vt:filetime>2025-01-27T00:00:00Z</vt:filetime>
  </property>
</Properties>
</file>